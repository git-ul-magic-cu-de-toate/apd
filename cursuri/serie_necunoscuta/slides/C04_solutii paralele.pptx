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98"/>
  </p:notesMasterIdLst>
  <p:handoutMasterIdLst>
    <p:handoutMasterId r:id="rId99"/>
  </p:handoutMasterIdLst>
  <p:sldIdLst>
    <p:sldId id="485" r:id="rId2"/>
    <p:sldId id="595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502" r:id="rId19"/>
    <p:sldId id="503" r:id="rId20"/>
    <p:sldId id="486" r:id="rId21"/>
    <p:sldId id="505" r:id="rId22"/>
    <p:sldId id="506" r:id="rId23"/>
    <p:sldId id="507" r:id="rId24"/>
    <p:sldId id="508" r:id="rId25"/>
    <p:sldId id="509" r:id="rId26"/>
    <p:sldId id="510" r:id="rId27"/>
    <p:sldId id="511" r:id="rId28"/>
    <p:sldId id="512" r:id="rId29"/>
    <p:sldId id="513" r:id="rId30"/>
    <p:sldId id="514" r:id="rId31"/>
    <p:sldId id="515" r:id="rId32"/>
    <p:sldId id="516" r:id="rId33"/>
    <p:sldId id="517" r:id="rId34"/>
    <p:sldId id="518" r:id="rId35"/>
    <p:sldId id="519" r:id="rId36"/>
    <p:sldId id="520" r:id="rId37"/>
    <p:sldId id="298" r:id="rId38"/>
    <p:sldId id="299" r:id="rId39"/>
    <p:sldId id="314" r:id="rId40"/>
    <p:sldId id="315" r:id="rId41"/>
    <p:sldId id="342" r:id="rId42"/>
    <p:sldId id="521" r:id="rId43"/>
    <p:sldId id="522" r:id="rId44"/>
    <p:sldId id="523" r:id="rId45"/>
    <p:sldId id="524" r:id="rId46"/>
    <p:sldId id="525" r:id="rId47"/>
    <p:sldId id="526" r:id="rId48"/>
    <p:sldId id="527" r:id="rId49"/>
    <p:sldId id="528" r:id="rId50"/>
    <p:sldId id="529" r:id="rId51"/>
    <p:sldId id="530" r:id="rId52"/>
    <p:sldId id="531" r:id="rId53"/>
    <p:sldId id="532" r:id="rId54"/>
    <p:sldId id="533" r:id="rId55"/>
    <p:sldId id="534" r:id="rId56"/>
    <p:sldId id="535" r:id="rId57"/>
    <p:sldId id="536" r:id="rId58"/>
    <p:sldId id="589" r:id="rId59"/>
    <p:sldId id="581" r:id="rId60"/>
    <p:sldId id="582" r:id="rId61"/>
    <p:sldId id="583" r:id="rId62"/>
    <p:sldId id="584" r:id="rId63"/>
    <p:sldId id="585" r:id="rId64"/>
    <p:sldId id="586" r:id="rId65"/>
    <p:sldId id="587" r:id="rId66"/>
    <p:sldId id="588" r:id="rId67"/>
    <p:sldId id="590" r:id="rId68"/>
    <p:sldId id="591" r:id="rId69"/>
    <p:sldId id="592" r:id="rId70"/>
    <p:sldId id="594" r:id="rId71"/>
    <p:sldId id="557" r:id="rId72"/>
    <p:sldId id="558" r:id="rId73"/>
    <p:sldId id="559" r:id="rId74"/>
    <p:sldId id="560" r:id="rId75"/>
    <p:sldId id="561" r:id="rId76"/>
    <p:sldId id="281" r:id="rId77"/>
    <p:sldId id="562" r:id="rId78"/>
    <p:sldId id="563" r:id="rId79"/>
    <p:sldId id="564" r:id="rId80"/>
    <p:sldId id="280" r:id="rId81"/>
    <p:sldId id="565" r:id="rId82"/>
    <p:sldId id="566" r:id="rId83"/>
    <p:sldId id="567" r:id="rId84"/>
    <p:sldId id="568" r:id="rId85"/>
    <p:sldId id="569" r:id="rId86"/>
    <p:sldId id="329" r:id="rId87"/>
    <p:sldId id="319" r:id="rId88"/>
    <p:sldId id="320" r:id="rId89"/>
    <p:sldId id="327" r:id="rId90"/>
    <p:sldId id="330" r:id="rId91"/>
    <p:sldId id="331" r:id="rId92"/>
    <p:sldId id="332" r:id="rId93"/>
    <p:sldId id="333" r:id="rId94"/>
    <p:sldId id="324" r:id="rId95"/>
    <p:sldId id="334" r:id="rId96"/>
    <p:sldId id="328" r:id="rId97"/>
  </p:sldIdLst>
  <p:sldSz cx="9144000" cy="6858000" type="screen4x3"/>
  <p:notesSz cx="6699250" cy="9836150"/>
  <p:custDataLst>
    <p:tags r:id="rId100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0066FF"/>
    <a:srgbClr val="8A9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6546C4-6A9A-46CF-8746-ECF3F08840BB}" v="9" dt="2019-10-14T16:52:20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9"/>
    <p:restoredTop sz="88414" autoAdjust="0"/>
  </p:normalViewPr>
  <p:slideViewPr>
    <p:cSldViewPr snapToGrid="0">
      <p:cViewPr varScale="1">
        <p:scale>
          <a:sx n="124" d="100"/>
          <a:sy n="124" d="100"/>
        </p:scale>
        <p:origin x="1872" y="176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handoutMaster" Target="handoutMasters/handoutMaster1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gs" Target="tags/tag1.xml"/><Relationship Id="rId105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Chilipirea" userId="34ab170da5908fc4" providerId="LiveId" clId="{DC6EB0A1-7554-4866-B230-C8F548EBE16D}"/>
    <pc:docChg chg="custSel addSld delSld modSld modMainMaster">
      <pc:chgData name="Cristian Chilipirea" userId="34ab170da5908fc4" providerId="LiveId" clId="{DC6EB0A1-7554-4866-B230-C8F548EBE16D}" dt="2018-10-24T20:13:45.731" v="251" actId="2696"/>
      <pc:docMkLst>
        <pc:docMk/>
      </pc:docMkLst>
      <pc:sldChg chg="modSp add del">
        <pc:chgData name="Cristian Chilipirea" userId="34ab170da5908fc4" providerId="LiveId" clId="{DC6EB0A1-7554-4866-B230-C8F548EBE16D}" dt="2018-10-11T21:48:24.609" v="159" actId="20577"/>
        <pc:sldMkLst>
          <pc:docMk/>
          <pc:sldMk cId="3711501159" sldId="265"/>
        </pc:sldMkLst>
        <pc:spChg chg="mod">
          <ac:chgData name="Cristian Chilipirea" userId="34ab170da5908fc4" providerId="LiveId" clId="{DC6EB0A1-7554-4866-B230-C8F548EBE16D}" dt="2018-10-11T21:48:24.609" v="159" actId="20577"/>
          <ac:spMkLst>
            <pc:docMk/>
            <pc:sldMk cId="3711501159" sldId="265"/>
            <ac:spMk id="58" creationId="{00000000-0000-0000-0000-000000000000}"/>
          </ac:spMkLst>
        </pc:spChg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4062328680" sldId="266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351821817" sldId="267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2248134362" sldId="268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3387272412" sldId="269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3476779498" sldId="270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329166761" sldId="271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3298842685" sldId="272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2745044538" sldId="273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3039800372" sldId="274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1339136899" sldId="275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2924285946" sldId="276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325723654" sldId="277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218445565" sldId="278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3664496817" sldId="279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162284533" sldId="280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2534225808" sldId="281"/>
        </pc:sldMkLst>
      </pc:sldChg>
      <pc:sldChg chg="add del">
        <pc:chgData name="Cristian Chilipirea" userId="34ab170da5908fc4" providerId="LiveId" clId="{DC6EB0A1-7554-4866-B230-C8F548EBE16D}" dt="2018-10-24T20:13:45.505" v="238" actId="2696"/>
        <pc:sldMkLst>
          <pc:docMk/>
          <pc:sldMk cId="345241012" sldId="282"/>
        </pc:sldMkLst>
      </pc:sldChg>
      <pc:sldChg chg="add del">
        <pc:chgData name="Cristian Chilipirea" userId="34ab170da5908fc4" providerId="LiveId" clId="{DC6EB0A1-7554-4866-B230-C8F548EBE16D}" dt="2018-10-24T20:13:45.517" v="239" actId="2696"/>
        <pc:sldMkLst>
          <pc:docMk/>
          <pc:sldMk cId="180954688" sldId="283"/>
        </pc:sldMkLst>
      </pc:sldChg>
      <pc:sldChg chg="add del">
        <pc:chgData name="Cristian Chilipirea" userId="34ab170da5908fc4" providerId="LiveId" clId="{DC6EB0A1-7554-4866-B230-C8F548EBE16D}" dt="2018-10-24T20:13:45.731" v="251" actId="2696"/>
        <pc:sldMkLst>
          <pc:docMk/>
          <pc:sldMk cId="2608287443" sldId="284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732434250" sldId="298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2176589264" sldId="299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2767160606" sldId="300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3657203518" sldId="301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1236400898" sldId="302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2866173780" sldId="303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1556281518" sldId="304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1347136458" sldId="305"/>
        </pc:sldMkLst>
      </pc:sldChg>
      <pc:sldChg chg="modSp">
        <pc:chgData name="Cristian Chilipirea" userId="34ab170da5908fc4" providerId="LiveId" clId="{DC6EB0A1-7554-4866-B230-C8F548EBE16D}" dt="2018-10-11T21:51:18.637" v="172" actId="20577"/>
        <pc:sldMkLst>
          <pc:docMk/>
          <pc:sldMk cId="0" sldId="485"/>
        </pc:sldMkLst>
        <pc:spChg chg="mod">
          <ac:chgData name="Cristian Chilipirea" userId="34ab170da5908fc4" providerId="LiveId" clId="{DC6EB0A1-7554-4866-B230-C8F548EBE16D}" dt="2018-10-11T21:51:18.637" v="172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">
        <pc:chgData name="Cristian Chilipirea" userId="34ab170da5908fc4" providerId="LiveId" clId="{DC6EB0A1-7554-4866-B230-C8F548EBE16D}" dt="2018-10-11T15:14:23.458" v="17"/>
        <pc:sldMkLst>
          <pc:docMk/>
          <pc:sldMk cId="3484881158" sldId="486"/>
        </pc:sldMkLst>
      </pc:sldChg>
      <pc:sldChg chg="add">
        <pc:chgData name="Cristian Chilipirea" userId="34ab170da5908fc4" providerId="LiveId" clId="{DC6EB0A1-7554-4866-B230-C8F548EBE16D}" dt="2018-10-11T15:15:13.179" v="19"/>
        <pc:sldMkLst>
          <pc:docMk/>
          <pc:sldMk cId="3984884559" sldId="501"/>
        </pc:sldMkLst>
      </pc:sldChg>
      <pc:sldChg chg="add del">
        <pc:chgData name="Cristian Chilipirea" userId="34ab170da5908fc4" providerId="LiveId" clId="{DC6EB0A1-7554-4866-B230-C8F548EBE16D}" dt="2018-10-11T21:46:19.165" v="72"/>
        <pc:sldMkLst>
          <pc:docMk/>
          <pc:sldMk cId="455574039" sldId="502"/>
        </pc:sldMkLst>
      </pc:sldChg>
      <pc:sldChg chg="modSp add del">
        <pc:chgData name="Cristian Chilipirea" userId="34ab170da5908fc4" providerId="LiveId" clId="{DC6EB0A1-7554-4866-B230-C8F548EBE16D}" dt="2018-10-11T21:47:16.293" v="113" actId="20577"/>
        <pc:sldMkLst>
          <pc:docMk/>
          <pc:sldMk cId="2115323488" sldId="503"/>
        </pc:sldMkLst>
        <pc:spChg chg="mod">
          <ac:chgData name="Cristian Chilipirea" userId="34ab170da5908fc4" providerId="LiveId" clId="{DC6EB0A1-7554-4866-B230-C8F548EBE16D}" dt="2018-10-11T21:47:16.293" v="113" actId="20577"/>
          <ac:spMkLst>
            <pc:docMk/>
            <pc:sldMk cId="2115323488" sldId="503"/>
            <ac:spMk id="3" creationId="{00000000-0000-0000-0000-000000000000}"/>
          </ac:spMkLst>
        </pc:spChg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829401943" sldId="505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4049031000" sldId="506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1583423415" sldId="507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655380904" sldId="508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256625898" sldId="509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2328713445" sldId="510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2606503679" sldId="511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4029882827" sldId="512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3702357084" sldId="513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3662711585" sldId="514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2084312243" sldId="515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4152373541" sldId="516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4109736907" sldId="517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1662036694" sldId="518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3539739399" sldId="519"/>
        </pc:sldMkLst>
      </pc:sldChg>
      <pc:sldChg chg="add">
        <pc:chgData name="Cristian Chilipirea" userId="34ab170da5908fc4" providerId="LiveId" clId="{DC6EB0A1-7554-4866-B230-C8F548EBE16D}" dt="2018-10-11T21:49:17.609" v="160"/>
        <pc:sldMkLst>
          <pc:docMk/>
          <pc:sldMk cId="677263675" sldId="520"/>
        </pc:sldMkLst>
      </pc:sldChg>
      <pc:sldChg chg="add">
        <pc:chgData name="Cristian Chilipirea" userId="34ab170da5908fc4" providerId="LiveId" clId="{DC6EB0A1-7554-4866-B230-C8F548EBE16D}" dt="2018-10-11T21:49:25.758" v="161"/>
        <pc:sldMkLst>
          <pc:docMk/>
          <pc:sldMk cId="2003721719" sldId="521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3399754023" sldId="522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1623260496" sldId="523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366298391" sldId="524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1473667578" sldId="525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849499167" sldId="526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3681368535" sldId="527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323775697" sldId="528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3803102865" sldId="529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3836947007" sldId="530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1004580589" sldId="531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1226790709" sldId="532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210165939" sldId="533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1723748054" sldId="534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3861928912" sldId="535"/>
        </pc:sldMkLst>
      </pc:sldChg>
      <pc:sldChg chg="add">
        <pc:chgData name="Cristian Chilipirea" userId="34ab170da5908fc4" providerId="LiveId" clId="{DC6EB0A1-7554-4866-B230-C8F548EBE16D}" dt="2018-10-11T21:50:31.382" v="162"/>
        <pc:sldMkLst>
          <pc:docMk/>
          <pc:sldMk cId="279887189" sldId="536"/>
        </pc:sldMkLst>
      </pc:sldChg>
      <pc:sldChg chg="add">
        <pc:chgData name="Cristian Chilipirea" userId="34ab170da5908fc4" providerId="LiveId" clId="{DC6EB0A1-7554-4866-B230-C8F548EBE16D}" dt="2018-10-11T21:50:38.147" v="163"/>
        <pc:sldMkLst>
          <pc:docMk/>
          <pc:sldMk cId="115158635" sldId="537"/>
        </pc:sldMkLst>
      </pc:sldChg>
      <pc:sldChg chg="add">
        <pc:chgData name="Cristian Chilipirea" userId="34ab170da5908fc4" providerId="LiveId" clId="{DC6EB0A1-7554-4866-B230-C8F548EBE16D}" dt="2018-10-11T21:54:37.178" v="173"/>
        <pc:sldMkLst>
          <pc:docMk/>
          <pc:sldMk cId="1401384152" sldId="538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1474753672" sldId="539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2382776210" sldId="540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3055059397" sldId="541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3772970979" sldId="542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126525187" sldId="543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2871384233" sldId="544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3672547213" sldId="545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768105071" sldId="546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3071989838" sldId="547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814351154" sldId="548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382575787" sldId="549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2353374741" sldId="550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1285537071" sldId="551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274436833" sldId="552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3426350562" sldId="553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766848005" sldId="554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87554675" sldId="555"/>
        </pc:sldMkLst>
      </pc:sldChg>
      <pc:sldChg chg="add">
        <pc:chgData name="Cristian Chilipirea" userId="34ab170da5908fc4" providerId="LiveId" clId="{DC6EB0A1-7554-4866-B230-C8F548EBE16D}" dt="2018-10-11T21:54:38.743" v="174"/>
        <pc:sldMkLst>
          <pc:docMk/>
          <pc:sldMk cId="2103566945" sldId="556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2297877105" sldId="557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172980680" sldId="558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372548878" sldId="559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3423900012" sldId="560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2586525712" sldId="561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2585608009" sldId="562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4143486954" sldId="563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3258207210" sldId="564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1141900503" sldId="565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3243181152" sldId="566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1517375597" sldId="567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1795931750" sldId="568"/>
        </pc:sldMkLst>
      </pc:sldChg>
      <pc:sldChg chg="add">
        <pc:chgData name="Cristian Chilipirea" userId="34ab170da5908fc4" providerId="LiveId" clId="{DC6EB0A1-7554-4866-B230-C8F548EBE16D}" dt="2018-10-11T22:00:07.768" v="207"/>
        <pc:sldMkLst>
          <pc:docMk/>
          <pc:sldMk cId="1115156947" sldId="569"/>
        </pc:sldMkLst>
      </pc:sldChg>
      <pc:sldChg chg="add del">
        <pc:chgData name="Cristian Chilipirea" userId="34ab170da5908fc4" providerId="LiveId" clId="{DC6EB0A1-7554-4866-B230-C8F548EBE16D}" dt="2018-10-24T20:13:45.393" v="230" actId="2696"/>
        <pc:sldMkLst>
          <pc:docMk/>
          <pc:sldMk cId="3139972474" sldId="570"/>
        </pc:sldMkLst>
      </pc:sldChg>
      <pc:sldChg chg="add del">
        <pc:chgData name="Cristian Chilipirea" userId="34ab170da5908fc4" providerId="LiveId" clId="{DC6EB0A1-7554-4866-B230-C8F548EBE16D}" dt="2018-10-24T20:13:45.409" v="231" actId="2696"/>
        <pc:sldMkLst>
          <pc:docMk/>
          <pc:sldMk cId="75564258" sldId="571"/>
        </pc:sldMkLst>
      </pc:sldChg>
      <pc:sldChg chg="add del">
        <pc:chgData name="Cristian Chilipirea" userId="34ab170da5908fc4" providerId="LiveId" clId="{DC6EB0A1-7554-4866-B230-C8F548EBE16D}" dt="2018-10-24T20:13:45.421" v="232" actId="2696"/>
        <pc:sldMkLst>
          <pc:docMk/>
          <pc:sldMk cId="886449400" sldId="572"/>
        </pc:sldMkLst>
      </pc:sldChg>
      <pc:sldChg chg="add del">
        <pc:chgData name="Cristian Chilipirea" userId="34ab170da5908fc4" providerId="LiveId" clId="{DC6EB0A1-7554-4866-B230-C8F548EBE16D}" dt="2018-10-24T20:13:45.436" v="233" actId="2696"/>
        <pc:sldMkLst>
          <pc:docMk/>
          <pc:sldMk cId="1734126001" sldId="573"/>
        </pc:sldMkLst>
      </pc:sldChg>
      <pc:sldChg chg="add del">
        <pc:chgData name="Cristian Chilipirea" userId="34ab170da5908fc4" providerId="LiveId" clId="{DC6EB0A1-7554-4866-B230-C8F548EBE16D}" dt="2018-10-24T20:13:45.449" v="234" actId="2696"/>
        <pc:sldMkLst>
          <pc:docMk/>
          <pc:sldMk cId="117767413" sldId="574"/>
        </pc:sldMkLst>
      </pc:sldChg>
      <pc:sldChg chg="add del">
        <pc:chgData name="Cristian Chilipirea" userId="34ab170da5908fc4" providerId="LiveId" clId="{DC6EB0A1-7554-4866-B230-C8F548EBE16D}" dt="2018-10-24T20:13:45.463" v="235" actId="2696"/>
        <pc:sldMkLst>
          <pc:docMk/>
          <pc:sldMk cId="1667491805" sldId="575"/>
        </pc:sldMkLst>
      </pc:sldChg>
      <pc:sldChg chg="add del">
        <pc:chgData name="Cristian Chilipirea" userId="34ab170da5908fc4" providerId="LiveId" clId="{DC6EB0A1-7554-4866-B230-C8F548EBE16D}" dt="2018-10-24T20:13:45.476" v="236" actId="2696"/>
        <pc:sldMkLst>
          <pc:docMk/>
          <pc:sldMk cId="1700892984" sldId="576"/>
        </pc:sldMkLst>
      </pc:sldChg>
      <pc:sldChg chg="add del">
        <pc:chgData name="Cristian Chilipirea" userId="34ab170da5908fc4" providerId="LiveId" clId="{DC6EB0A1-7554-4866-B230-C8F548EBE16D}" dt="2018-10-24T20:13:45.489" v="237" actId="2696"/>
        <pc:sldMkLst>
          <pc:docMk/>
          <pc:sldMk cId="4199159730" sldId="577"/>
        </pc:sldMkLst>
      </pc:sldChg>
      <pc:sldChg chg="add del">
        <pc:chgData name="Cristian Chilipirea" userId="34ab170da5908fc4" providerId="LiveId" clId="{DC6EB0A1-7554-4866-B230-C8F548EBE16D}" dt="2018-10-24T20:13:45.528" v="240" actId="2696"/>
        <pc:sldMkLst>
          <pc:docMk/>
          <pc:sldMk cId="982557817" sldId="578"/>
        </pc:sldMkLst>
      </pc:sldChg>
      <pc:sldChg chg="add del">
        <pc:chgData name="Cristian Chilipirea" userId="34ab170da5908fc4" providerId="LiveId" clId="{DC6EB0A1-7554-4866-B230-C8F548EBE16D}" dt="2018-10-24T20:13:45.541" v="241" actId="2696"/>
        <pc:sldMkLst>
          <pc:docMk/>
          <pc:sldMk cId="2393610380" sldId="579"/>
        </pc:sldMkLst>
      </pc:sldChg>
      <pc:sldChg chg="add del">
        <pc:chgData name="Cristian Chilipirea" userId="34ab170da5908fc4" providerId="LiveId" clId="{DC6EB0A1-7554-4866-B230-C8F548EBE16D}" dt="2018-10-24T20:13:45.554" v="242" actId="2696"/>
        <pc:sldMkLst>
          <pc:docMk/>
          <pc:sldMk cId="2280091625" sldId="580"/>
        </pc:sldMkLst>
      </pc:sldChg>
      <pc:sldChg chg="add del">
        <pc:chgData name="Cristian Chilipirea" userId="34ab170da5908fc4" providerId="LiveId" clId="{DC6EB0A1-7554-4866-B230-C8F548EBE16D}" dt="2018-10-24T20:13:45.567" v="243" actId="2696"/>
        <pc:sldMkLst>
          <pc:docMk/>
          <pc:sldMk cId="3627995927" sldId="581"/>
        </pc:sldMkLst>
      </pc:sldChg>
      <pc:sldChg chg="add del">
        <pc:chgData name="Cristian Chilipirea" userId="34ab170da5908fc4" providerId="LiveId" clId="{DC6EB0A1-7554-4866-B230-C8F548EBE16D}" dt="2018-10-24T20:13:45.586" v="244" actId="2696"/>
        <pc:sldMkLst>
          <pc:docMk/>
          <pc:sldMk cId="3895925264" sldId="582"/>
        </pc:sldMkLst>
      </pc:sldChg>
      <pc:sldChg chg="add del">
        <pc:chgData name="Cristian Chilipirea" userId="34ab170da5908fc4" providerId="LiveId" clId="{DC6EB0A1-7554-4866-B230-C8F548EBE16D}" dt="2018-10-24T20:13:45.604" v="245" actId="2696"/>
        <pc:sldMkLst>
          <pc:docMk/>
          <pc:sldMk cId="237323792" sldId="583"/>
        </pc:sldMkLst>
      </pc:sldChg>
      <pc:sldChg chg="add del">
        <pc:chgData name="Cristian Chilipirea" userId="34ab170da5908fc4" providerId="LiveId" clId="{DC6EB0A1-7554-4866-B230-C8F548EBE16D}" dt="2018-10-24T20:13:45.622" v="246" actId="2696"/>
        <pc:sldMkLst>
          <pc:docMk/>
          <pc:sldMk cId="1681674200" sldId="584"/>
        </pc:sldMkLst>
      </pc:sldChg>
      <pc:sldChg chg="add del">
        <pc:chgData name="Cristian Chilipirea" userId="34ab170da5908fc4" providerId="LiveId" clId="{DC6EB0A1-7554-4866-B230-C8F548EBE16D}" dt="2018-10-24T20:13:45.640" v="247" actId="2696"/>
        <pc:sldMkLst>
          <pc:docMk/>
          <pc:sldMk cId="762765230" sldId="585"/>
        </pc:sldMkLst>
      </pc:sldChg>
      <pc:sldChg chg="add del">
        <pc:chgData name="Cristian Chilipirea" userId="34ab170da5908fc4" providerId="LiveId" clId="{DC6EB0A1-7554-4866-B230-C8F548EBE16D}" dt="2018-10-24T20:13:45.664" v="248" actId="2696"/>
        <pc:sldMkLst>
          <pc:docMk/>
          <pc:sldMk cId="3857262134" sldId="586"/>
        </pc:sldMkLst>
      </pc:sldChg>
      <pc:sldChg chg="add del">
        <pc:chgData name="Cristian Chilipirea" userId="34ab170da5908fc4" providerId="LiveId" clId="{DC6EB0A1-7554-4866-B230-C8F548EBE16D}" dt="2018-10-24T20:13:45.679" v="249" actId="2696"/>
        <pc:sldMkLst>
          <pc:docMk/>
          <pc:sldMk cId="2414102212" sldId="587"/>
        </pc:sldMkLst>
      </pc:sldChg>
      <pc:sldChg chg="add del">
        <pc:chgData name="Cristian Chilipirea" userId="34ab170da5908fc4" providerId="LiveId" clId="{DC6EB0A1-7554-4866-B230-C8F548EBE16D}" dt="2018-10-24T20:13:45.717" v="250" actId="2696"/>
        <pc:sldMkLst>
          <pc:docMk/>
          <pc:sldMk cId="3173846532" sldId="588"/>
        </pc:sldMkLst>
      </pc:sldChg>
      <pc:sldChg chg="add">
        <pc:chgData name="Cristian Chilipirea" userId="34ab170da5908fc4" providerId="LiveId" clId="{DC6EB0A1-7554-4866-B230-C8F548EBE16D}" dt="2018-10-24T20:13:18.999" v="229"/>
        <pc:sldMkLst>
          <pc:docMk/>
          <pc:sldMk cId="4003190427" sldId="589"/>
        </pc:sldMkLst>
      </pc:sldChg>
      <pc:sldMasterChg chg="modSldLayout">
        <pc:chgData name="Cristian Chilipirea" userId="34ab170da5908fc4" providerId="LiveId" clId="{DC6EB0A1-7554-4866-B230-C8F548EBE16D}" dt="2018-10-11T21:45:01.063" v="71" actId="2711"/>
        <pc:sldMasterMkLst>
          <pc:docMk/>
          <pc:sldMasterMk cId="0" sldId="2147483661"/>
        </pc:sldMasterMkLst>
        <pc:sldLayoutChg chg="modSp">
          <pc:chgData name="Cristian Chilipirea" userId="34ab170da5908fc4" providerId="LiveId" clId="{DC6EB0A1-7554-4866-B230-C8F548EBE16D}" dt="2018-10-11T21:45:01.063" v="71" actId="2711"/>
          <pc:sldLayoutMkLst>
            <pc:docMk/>
            <pc:sldMasterMk cId="0" sldId="2147483661"/>
            <pc:sldLayoutMk cId="1079532080" sldId="2147483985"/>
          </pc:sldLayoutMkLst>
          <pc:spChg chg="mod">
            <ac:chgData name="Cristian Chilipirea" userId="34ab170da5908fc4" providerId="LiveId" clId="{DC6EB0A1-7554-4866-B230-C8F548EBE16D}" dt="2018-10-11T21:45:01.063" v="71" actId="2711"/>
            <ac:spMkLst>
              <pc:docMk/>
              <pc:sldMasterMk cId="0" sldId="2147483661"/>
              <pc:sldLayoutMk cId="1079532080" sldId="2147483985"/>
              <ac:spMk id="3" creationId="{00000000-0000-0000-0000-000000000000}"/>
            </ac:spMkLst>
          </pc:spChg>
        </pc:sldLayoutChg>
      </pc:sldMasterChg>
    </pc:docChg>
  </pc:docChgLst>
  <pc:docChgLst>
    <pc:chgData name="Cristian Chilipirea" userId="34ab170da5908fc4" providerId="LiveId" clId="{AE971FE4-E601-4FDC-9BC3-5629A4F3D5CD}"/>
    <pc:docChg chg="custSel addSld delSld modSld sldOrd">
      <pc:chgData name="Cristian Chilipirea" userId="34ab170da5908fc4" providerId="LiveId" clId="{AE971FE4-E601-4FDC-9BC3-5629A4F3D5CD}" dt="2018-10-05T08:55:49.061" v="1876" actId="1076"/>
      <pc:docMkLst>
        <pc:docMk/>
      </pc:docMkLst>
      <pc:sldChg chg="modSp">
        <pc:chgData name="Cristian Chilipirea" userId="34ab170da5908fc4" providerId="LiveId" clId="{AE971FE4-E601-4FDC-9BC3-5629A4F3D5CD}" dt="2018-10-03T19:22:33.107" v="50" actId="6549"/>
        <pc:sldMkLst>
          <pc:docMk/>
          <pc:sldMk cId="0" sldId="485"/>
        </pc:sldMkLst>
        <pc:spChg chg="mod">
          <ac:chgData name="Cristian Chilipirea" userId="34ab170da5908fc4" providerId="LiveId" clId="{AE971FE4-E601-4FDC-9BC3-5629A4F3D5CD}" dt="2018-10-03T19:22:33.107" v="50" actId="6549"/>
          <ac:spMkLst>
            <pc:docMk/>
            <pc:sldMk cId="0" sldId="485"/>
            <ac:spMk id="15361" creationId="{B7373C27-AE51-474E-BA1F-0C5F0233AACE}"/>
          </ac:spMkLst>
        </pc:spChg>
      </pc:sldChg>
    </pc:docChg>
  </pc:docChgLst>
  <pc:docChgLst>
    <pc:chgData name="Cristian Chilipirea" userId="34ab170da5908fc4" providerId="LiveId" clId="{B78068DC-0808-4962-A1B6-B37E849E896C}"/>
    <pc:docChg chg="undo custSel addSld delSld modSld sldOrd">
      <pc:chgData name="Cristian Chilipirea" userId="34ab170da5908fc4" providerId="LiveId" clId="{B78068DC-0808-4962-A1B6-B37E849E896C}" dt="2018-10-11T14:47:51.932" v="1664" actId="20577"/>
      <pc:docMkLst>
        <pc:docMk/>
      </pc:docMkLst>
    </pc:docChg>
  </pc:docChgLst>
  <pc:docChgLst>
    <pc:chgData name="Cristian Chilipirea" userId="34ab170da5908fc4" providerId="LiveId" clId="{40ACB1C5-0B6B-4C4B-B64C-8C91579DB1E1}"/>
    <pc:docChg chg="undo custSel addSld delSld modSld sldOrd modMainMaster">
      <pc:chgData name="Cristian Chilipirea" userId="34ab170da5908fc4" providerId="LiveId" clId="{40ACB1C5-0B6B-4C4B-B64C-8C91579DB1E1}" dt="2018-10-02T22:34:22.788" v="1739" actId="2696"/>
      <pc:docMkLst>
        <pc:docMk/>
      </pc:docMkLst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0" sldId="485"/>
        </pc:sldMkLst>
        <pc:spChg chg="mod">
          <ac:chgData name="Cristian Chilipirea" userId="34ab170da5908fc4" providerId="LiveId" clId="{40ACB1C5-0B6B-4C4B-B64C-8C91579DB1E1}" dt="2018-09-26T21:56:11.618" v="595" actId="20577"/>
          <ac:spMkLst>
            <pc:docMk/>
            <pc:sldMk cId="0" sldId="485"/>
            <ac:spMk id="15363" creationId="{8AD4A1D2-344F-4CD3-949B-26BEB5FF75C3}"/>
          </ac:spMkLst>
        </pc:spChg>
      </pc:sldChg>
      <pc:sldMasterChg chg="modTransition modSldLayout">
        <pc:chgData name="Cristian Chilipirea" userId="34ab170da5908fc4" providerId="LiveId" clId="{40ACB1C5-0B6B-4C4B-B64C-8C91579DB1E1}" dt="2018-10-02T21:52:58.527" v="1095"/>
        <pc:sldMasterMkLst>
          <pc:docMk/>
          <pc:sldMasterMk cId="0" sldId="2147483661"/>
        </pc:sldMasterMkLst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635393719" sldId="2147483976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4545740" sldId="2147483977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764456477" sldId="2147483978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0983217" sldId="2147483979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750434662" sldId="2147483980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740172351" sldId="2147483981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14260995" sldId="2147483982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387053853" sldId="2147483983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202867552" sldId="2147483984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079532080" sldId="2147483985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88672095" sldId="2147483986"/>
          </pc:sldLayoutMkLst>
        </pc:sldLayoutChg>
      </pc:sldMasterChg>
    </pc:docChg>
  </pc:docChgLst>
  <pc:docChgLst>
    <pc:chgData name="Cristian Chilipirea" userId="34ab170da5908fc4" providerId="LiveId" clId="{996546C4-6A9A-46CF-8746-ECF3F08840BB}"/>
    <pc:docChg chg="custSel addSld delSld modSld">
      <pc:chgData name="Cristian Chilipirea" userId="34ab170da5908fc4" providerId="LiveId" clId="{996546C4-6A9A-46CF-8746-ECF3F08840BB}" dt="2019-10-14T16:52:20.710" v="94"/>
      <pc:docMkLst>
        <pc:docMk/>
      </pc:docMkLst>
      <pc:sldChg chg="del">
        <pc:chgData name="Cristian Chilipirea" userId="34ab170da5908fc4" providerId="LiveId" clId="{996546C4-6A9A-46CF-8746-ECF3F08840BB}" dt="2019-10-14T16:52:08.850" v="86" actId="2696"/>
        <pc:sldMkLst>
          <pc:docMk/>
          <pc:sldMk cId="162284533" sldId="280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3789084874" sldId="280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1641809792" sldId="281"/>
        </pc:sldMkLst>
      </pc:sldChg>
      <pc:sldChg chg="del">
        <pc:chgData name="Cristian Chilipirea" userId="34ab170da5908fc4" providerId="LiveId" clId="{996546C4-6A9A-46CF-8746-ECF3F08840BB}" dt="2019-10-14T16:52:08.746" v="82" actId="2696"/>
        <pc:sldMkLst>
          <pc:docMk/>
          <pc:sldMk cId="2534225808" sldId="281"/>
        </pc:sldMkLst>
      </pc:sldChg>
      <pc:sldChg chg="del">
        <pc:chgData name="Cristian Chilipirea" userId="34ab170da5908fc4" providerId="LiveId" clId="{996546C4-6A9A-46CF-8746-ECF3F08840BB}" dt="2019-10-14T16:47:52.587" v="22" actId="2696"/>
        <pc:sldMkLst>
          <pc:docMk/>
          <pc:sldMk cId="2767160606" sldId="300"/>
        </pc:sldMkLst>
      </pc:sldChg>
      <pc:sldChg chg="del">
        <pc:chgData name="Cristian Chilipirea" userId="34ab170da5908fc4" providerId="LiveId" clId="{996546C4-6A9A-46CF-8746-ECF3F08840BB}" dt="2019-10-14T16:47:53.030" v="23" actId="2696"/>
        <pc:sldMkLst>
          <pc:docMk/>
          <pc:sldMk cId="3657203518" sldId="301"/>
        </pc:sldMkLst>
      </pc:sldChg>
      <pc:sldChg chg="del">
        <pc:chgData name="Cristian Chilipirea" userId="34ab170da5908fc4" providerId="LiveId" clId="{996546C4-6A9A-46CF-8746-ECF3F08840BB}" dt="2019-10-14T16:47:53.605" v="24" actId="2696"/>
        <pc:sldMkLst>
          <pc:docMk/>
          <pc:sldMk cId="1236400898" sldId="302"/>
        </pc:sldMkLst>
      </pc:sldChg>
      <pc:sldChg chg="del">
        <pc:chgData name="Cristian Chilipirea" userId="34ab170da5908fc4" providerId="LiveId" clId="{996546C4-6A9A-46CF-8746-ECF3F08840BB}" dt="2019-10-14T16:47:55.670" v="25" actId="2696"/>
        <pc:sldMkLst>
          <pc:docMk/>
          <pc:sldMk cId="2866173780" sldId="303"/>
        </pc:sldMkLst>
      </pc:sldChg>
      <pc:sldChg chg="del">
        <pc:chgData name="Cristian Chilipirea" userId="34ab170da5908fc4" providerId="LiveId" clId="{996546C4-6A9A-46CF-8746-ECF3F08840BB}" dt="2019-10-14T16:47:56.826" v="27" actId="2696"/>
        <pc:sldMkLst>
          <pc:docMk/>
          <pc:sldMk cId="1556281518" sldId="304"/>
        </pc:sldMkLst>
      </pc:sldChg>
      <pc:sldChg chg="del">
        <pc:chgData name="Cristian Chilipirea" userId="34ab170da5908fc4" providerId="LiveId" clId="{996546C4-6A9A-46CF-8746-ECF3F08840BB}" dt="2019-10-14T16:47:56.091" v="26" actId="2696"/>
        <pc:sldMkLst>
          <pc:docMk/>
          <pc:sldMk cId="1347136458" sldId="305"/>
        </pc:sldMkLst>
      </pc:sldChg>
      <pc:sldChg chg="addSp delSp modSp">
        <pc:chgData name="Cristian Chilipirea" userId="34ab170da5908fc4" providerId="LiveId" clId="{996546C4-6A9A-46CF-8746-ECF3F08840BB}" dt="2019-10-14T16:47:36.180" v="3"/>
        <pc:sldMkLst>
          <pc:docMk/>
          <pc:sldMk cId="0" sldId="485"/>
        </pc:sldMkLst>
        <pc:spChg chg="add del mod">
          <ac:chgData name="Cristian Chilipirea" userId="34ab170da5908fc4" providerId="LiveId" clId="{996546C4-6A9A-46CF-8746-ECF3F08840BB}" dt="2019-10-14T16:47:33.178" v="1" actId="478"/>
          <ac:spMkLst>
            <pc:docMk/>
            <pc:sldMk cId="0" sldId="485"/>
            <ac:spMk id="2" creationId="{329F2AA9-645E-4C93-9B83-66141F584DD4}"/>
          </ac:spMkLst>
        </pc:spChg>
        <pc:spChg chg="add">
          <ac:chgData name="Cristian Chilipirea" userId="34ab170da5908fc4" providerId="LiveId" clId="{996546C4-6A9A-46CF-8746-ECF3F08840BB}" dt="2019-10-14T16:47:36.180" v="3"/>
          <ac:spMkLst>
            <pc:docMk/>
            <pc:sldMk cId="0" sldId="485"/>
            <ac:spMk id="6" creationId="{07BBFF20-5A10-4772-84E9-3920C0722B1A}"/>
          </ac:spMkLst>
        </pc:spChg>
        <pc:spChg chg="del">
          <ac:chgData name="Cristian Chilipirea" userId="34ab170da5908fc4" providerId="LiveId" clId="{996546C4-6A9A-46CF-8746-ECF3F08840BB}" dt="2019-10-14T16:47:31.597" v="0" actId="478"/>
          <ac:spMkLst>
            <pc:docMk/>
            <pc:sldMk cId="0" sldId="485"/>
            <ac:spMk id="15362" creationId="{CC882FC6-7014-4E03-8D17-D2C052718A68}"/>
          </ac:spMkLst>
        </pc:spChg>
        <pc:spChg chg="del">
          <ac:chgData name="Cristian Chilipirea" userId="34ab170da5908fc4" providerId="LiveId" clId="{996546C4-6A9A-46CF-8746-ECF3F08840BB}" dt="2019-10-14T16:47:34.771" v="2" actId="478"/>
          <ac:spMkLst>
            <pc:docMk/>
            <pc:sldMk cId="0" sldId="485"/>
            <ac:spMk id="15363" creationId="{8AD4A1D2-344F-4CD3-949B-26BEB5FF75C3}"/>
          </ac:spMkLst>
        </pc:spChg>
      </pc:sldChg>
      <pc:sldChg chg="del">
        <pc:chgData name="Cristian Chilipirea" userId="34ab170da5908fc4" providerId="LiveId" clId="{996546C4-6A9A-46CF-8746-ECF3F08840BB}" dt="2019-10-14T16:52:11.623" v="92" actId="2696"/>
        <pc:sldMkLst>
          <pc:docMk/>
          <pc:sldMk cId="3984884559" sldId="501"/>
        </pc:sldMkLst>
      </pc:sldChg>
      <pc:sldChg chg="del">
        <pc:chgData name="Cristian Chilipirea" userId="34ab170da5908fc4" providerId="LiveId" clId="{996546C4-6A9A-46CF-8746-ECF3F08840BB}" dt="2019-10-14T16:48:00.101" v="29" actId="2696"/>
        <pc:sldMkLst>
          <pc:docMk/>
          <pc:sldMk cId="115158635" sldId="537"/>
        </pc:sldMkLst>
      </pc:sldChg>
      <pc:sldChg chg="del">
        <pc:chgData name="Cristian Chilipirea" userId="34ab170da5908fc4" providerId="LiveId" clId="{996546C4-6A9A-46CF-8746-ECF3F08840BB}" dt="2019-10-14T16:47:58.301" v="28" actId="2696"/>
        <pc:sldMkLst>
          <pc:docMk/>
          <pc:sldMk cId="1401384152" sldId="538"/>
        </pc:sldMkLst>
      </pc:sldChg>
      <pc:sldChg chg="del">
        <pc:chgData name="Cristian Chilipirea" userId="34ab170da5908fc4" providerId="LiveId" clId="{996546C4-6A9A-46CF-8746-ECF3F08840BB}" dt="2019-10-14T16:47:41.566" v="4" actId="2696"/>
        <pc:sldMkLst>
          <pc:docMk/>
          <pc:sldMk cId="1474753672" sldId="539"/>
        </pc:sldMkLst>
      </pc:sldChg>
      <pc:sldChg chg="del">
        <pc:chgData name="Cristian Chilipirea" userId="34ab170da5908fc4" providerId="LiveId" clId="{996546C4-6A9A-46CF-8746-ECF3F08840BB}" dt="2019-10-14T16:47:41.957" v="5" actId="2696"/>
        <pc:sldMkLst>
          <pc:docMk/>
          <pc:sldMk cId="2382776210" sldId="540"/>
        </pc:sldMkLst>
      </pc:sldChg>
      <pc:sldChg chg="del">
        <pc:chgData name="Cristian Chilipirea" userId="34ab170da5908fc4" providerId="LiveId" clId="{996546C4-6A9A-46CF-8746-ECF3F08840BB}" dt="2019-10-14T16:47:42.381" v="6" actId="2696"/>
        <pc:sldMkLst>
          <pc:docMk/>
          <pc:sldMk cId="3055059397" sldId="541"/>
        </pc:sldMkLst>
      </pc:sldChg>
      <pc:sldChg chg="del">
        <pc:chgData name="Cristian Chilipirea" userId="34ab170da5908fc4" providerId="LiveId" clId="{996546C4-6A9A-46CF-8746-ECF3F08840BB}" dt="2019-10-14T16:47:42.799" v="7" actId="2696"/>
        <pc:sldMkLst>
          <pc:docMk/>
          <pc:sldMk cId="3772970979" sldId="542"/>
        </pc:sldMkLst>
      </pc:sldChg>
      <pc:sldChg chg="del">
        <pc:chgData name="Cristian Chilipirea" userId="34ab170da5908fc4" providerId="LiveId" clId="{996546C4-6A9A-46CF-8746-ECF3F08840BB}" dt="2019-10-14T16:47:43.253" v="8" actId="2696"/>
        <pc:sldMkLst>
          <pc:docMk/>
          <pc:sldMk cId="126525187" sldId="543"/>
        </pc:sldMkLst>
      </pc:sldChg>
      <pc:sldChg chg="del">
        <pc:chgData name="Cristian Chilipirea" userId="34ab170da5908fc4" providerId="LiveId" clId="{996546C4-6A9A-46CF-8746-ECF3F08840BB}" dt="2019-10-14T16:47:43.621" v="9" actId="2696"/>
        <pc:sldMkLst>
          <pc:docMk/>
          <pc:sldMk cId="2871384233" sldId="544"/>
        </pc:sldMkLst>
      </pc:sldChg>
      <pc:sldChg chg="del">
        <pc:chgData name="Cristian Chilipirea" userId="34ab170da5908fc4" providerId="LiveId" clId="{996546C4-6A9A-46CF-8746-ECF3F08840BB}" dt="2019-10-14T16:47:44.102" v="10" actId="2696"/>
        <pc:sldMkLst>
          <pc:docMk/>
          <pc:sldMk cId="3672547213" sldId="545"/>
        </pc:sldMkLst>
      </pc:sldChg>
      <pc:sldChg chg="del">
        <pc:chgData name="Cristian Chilipirea" userId="34ab170da5908fc4" providerId="LiveId" clId="{996546C4-6A9A-46CF-8746-ECF3F08840BB}" dt="2019-10-14T16:47:44.597" v="11" actId="2696"/>
        <pc:sldMkLst>
          <pc:docMk/>
          <pc:sldMk cId="768105071" sldId="546"/>
        </pc:sldMkLst>
      </pc:sldChg>
      <pc:sldChg chg="del">
        <pc:chgData name="Cristian Chilipirea" userId="34ab170da5908fc4" providerId="LiveId" clId="{996546C4-6A9A-46CF-8746-ECF3F08840BB}" dt="2019-10-14T16:47:45.180" v="12" actId="2696"/>
        <pc:sldMkLst>
          <pc:docMk/>
          <pc:sldMk cId="3071989838" sldId="547"/>
        </pc:sldMkLst>
      </pc:sldChg>
      <pc:sldChg chg="del">
        <pc:chgData name="Cristian Chilipirea" userId="34ab170da5908fc4" providerId="LiveId" clId="{996546C4-6A9A-46CF-8746-ECF3F08840BB}" dt="2019-10-14T16:47:45.685" v="13" actId="2696"/>
        <pc:sldMkLst>
          <pc:docMk/>
          <pc:sldMk cId="814351154" sldId="548"/>
        </pc:sldMkLst>
      </pc:sldChg>
      <pc:sldChg chg="del">
        <pc:chgData name="Cristian Chilipirea" userId="34ab170da5908fc4" providerId="LiveId" clId="{996546C4-6A9A-46CF-8746-ECF3F08840BB}" dt="2019-10-14T16:47:46.689" v="14" actId="2696"/>
        <pc:sldMkLst>
          <pc:docMk/>
          <pc:sldMk cId="382575787" sldId="549"/>
        </pc:sldMkLst>
      </pc:sldChg>
      <pc:sldChg chg="del">
        <pc:chgData name="Cristian Chilipirea" userId="34ab170da5908fc4" providerId="LiveId" clId="{996546C4-6A9A-46CF-8746-ECF3F08840BB}" dt="2019-10-14T16:47:47.297" v="15" actId="2696"/>
        <pc:sldMkLst>
          <pc:docMk/>
          <pc:sldMk cId="2353374741" sldId="550"/>
        </pc:sldMkLst>
      </pc:sldChg>
      <pc:sldChg chg="del">
        <pc:chgData name="Cristian Chilipirea" userId="34ab170da5908fc4" providerId="LiveId" clId="{996546C4-6A9A-46CF-8746-ECF3F08840BB}" dt="2019-10-14T16:47:48.809" v="16" actId="2696"/>
        <pc:sldMkLst>
          <pc:docMk/>
          <pc:sldMk cId="1285537071" sldId="551"/>
        </pc:sldMkLst>
      </pc:sldChg>
      <pc:sldChg chg="del">
        <pc:chgData name="Cristian Chilipirea" userId="34ab170da5908fc4" providerId="LiveId" clId="{996546C4-6A9A-46CF-8746-ECF3F08840BB}" dt="2019-10-14T16:47:49.455" v="17" actId="2696"/>
        <pc:sldMkLst>
          <pc:docMk/>
          <pc:sldMk cId="274436833" sldId="552"/>
        </pc:sldMkLst>
      </pc:sldChg>
      <pc:sldChg chg="del">
        <pc:chgData name="Cristian Chilipirea" userId="34ab170da5908fc4" providerId="LiveId" clId="{996546C4-6A9A-46CF-8746-ECF3F08840BB}" dt="2019-10-14T16:47:49.999" v="18" actId="2696"/>
        <pc:sldMkLst>
          <pc:docMk/>
          <pc:sldMk cId="3426350562" sldId="553"/>
        </pc:sldMkLst>
      </pc:sldChg>
      <pc:sldChg chg="del">
        <pc:chgData name="Cristian Chilipirea" userId="34ab170da5908fc4" providerId="LiveId" clId="{996546C4-6A9A-46CF-8746-ECF3F08840BB}" dt="2019-10-14T16:47:50.538" v="19" actId="2696"/>
        <pc:sldMkLst>
          <pc:docMk/>
          <pc:sldMk cId="766848005" sldId="554"/>
        </pc:sldMkLst>
      </pc:sldChg>
      <pc:sldChg chg="del">
        <pc:chgData name="Cristian Chilipirea" userId="34ab170da5908fc4" providerId="LiveId" clId="{996546C4-6A9A-46CF-8746-ECF3F08840BB}" dt="2019-10-14T16:47:51.092" v="20" actId="2696"/>
        <pc:sldMkLst>
          <pc:docMk/>
          <pc:sldMk cId="87554675" sldId="555"/>
        </pc:sldMkLst>
      </pc:sldChg>
      <pc:sldChg chg="del">
        <pc:chgData name="Cristian Chilipirea" userId="34ab170da5908fc4" providerId="LiveId" clId="{996546C4-6A9A-46CF-8746-ECF3F08840BB}" dt="2019-10-14T16:47:51.641" v="21" actId="2696"/>
        <pc:sldMkLst>
          <pc:docMk/>
          <pc:sldMk cId="2103566945" sldId="556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840431285" sldId="557"/>
        </pc:sldMkLst>
      </pc:sldChg>
      <pc:sldChg chg="del">
        <pc:chgData name="Cristian Chilipirea" userId="34ab170da5908fc4" providerId="LiveId" clId="{996546C4-6A9A-46CF-8746-ECF3F08840BB}" dt="2019-10-14T16:52:08.615" v="77" actId="2696"/>
        <pc:sldMkLst>
          <pc:docMk/>
          <pc:sldMk cId="2297877105" sldId="557"/>
        </pc:sldMkLst>
      </pc:sldChg>
      <pc:sldChg chg="del">
        <pc:chgData name="Cristian Chilipirea" userId="34ab170da5908fc4" providerId="LiveId" clId="{996546C4-6A9A-46CF-8746-ECF3F08840BB}" dt="2019-10-14T16:52:08.640" v="78" actId="2696"/>
        <pc:sldMkLst>
          <pc:docMk/>
          <pc:sldMk cId="172980680" sldId="558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2543950404" sldId="558"/>
        </pc:sldMkLst>
      </pc:sldChg>
      <pc:sldChg chg="del">
        <pc:chgData name="Cristian Chilipirea" userId="34ab170da5908fc4" providerId="LiveId" clId="{996546C4-6A9A-46CF-8746-ECF3F08840BB}" dt="2019-10-14T16:52:08.663" v="79" actId="2696"/>
        <pc:sldMkLst>
          <pc:docMk/>
          <pc:sldMk cId="372548878" sldId="559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3810927381" sldId="559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1305527862" sldId="560"/>
        </pc:sldMkLst>
      </pc:sldChg>
      <pc:sldChg chg="del">
        <pc:chgData name="Cristian Chilipirea" userId="34ab170da5908fc4" providerId="LiveId" clId="{996546C4-6A9A-46CF-8746-ECF3F08840BB}" dt="2019-10-14T16:52:08.691" v="80" actId="2696"/>
        <pc:sldMkLst>
          <pc:docMk/>
          <pc:sldMk cId="3423900012" sldId="560"/>
        </pc:sldMkLst>
      </pc:sldChg>
      <pc:sldChg chg="del">
        <pc:chgData name="Cristian Chilipirea" userId="34ab170da5908fc4" providerId="LiveId" clId="{996546C4-6A9A-46CF-8746-ECF3F08840BB}" dt="2019-10-14T16:52:08.722" v="81" actId="2696"/>
        <pc:sldMkLst>
          <pc:docMk/>
          <pc:sldMk cId="2586525712" sldId="561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3121071532" sldId="561"/>
        </pc:sldMkLst>
      </pc:sldChg>
      <pc:sldChg chg="del">
        <pc:chgData name="Cristian Chilipirea" userId="34ab170da5908fc4" providerId="LiveId" clId="{996546C4-6A9A-46CF-8746-ECF3F08840BB}" dt="2019-10-14T16:52:08.770" v="83" actId="2696"/>
        <pc:sldMkLst>
          <pc:docMk/>
          <pc:sldMk cId="2585608009" sldId="562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3099086191" sldId="562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2113400873" sldId="563"/>
        </pc:sldMkLst>
      </pc:sldChg>
      <pc:sldChg chg="del">
        <pc:chgData name="Cristian Chilipirea" userId="34ab170da5908fc4" providerId="LiveId" clId="{996546C4-6A9A-46CF-8746-ECF3F08840BB}" dt="2019-10-14T16:52:08.803" v="84" actId="2696"/>
        <pc:sldMkLst>
          <pc:docMk/>
          <pc:sldMk cId="4143486954" sldId="563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54580268" sldId="564"/>
        </pc:sldMkLst>
      </pc:sldChg>
      <pc:sldChg chg="del">
        <pc:chgData name="Cristian Chilipirea" userId="34ab170da5908fc4" providerId="LiveId" clId="{996546C4-6A9A-46CF-8746-ECF3F08840BB}" dt="2019-10-14T16:52:08.838" v="85" actId="2696"/>
        <pc:sldMkLst>
          <pc:docMk/>
          <pc:sldMk cId="3258207210" sldId="564"/>
        </pc:sldMkLst>
      </pc:sldChg>
      <pc:sldChg chg="del">
        <pc:chgData name="Cristian Chilipirea" userId="34ab170da5908fc4" providerId="LiveId" clId="{996546C4-6A9A-46CF-8746-ECF3F08840BB}" dt="2019-10-14T16:52:08.872" v="87" actId="2696"/>
        <pc:sldMkLst>
          <pc:docMk/>
          <pc:sldMk cId="1141900503" sldId="565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2493857544" sldId="565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1246167454" sldId="566"/>
        </pc:sldMkLst>
      </pc:sldChg>
      <pc:sldChg chg="del">
        <pc:chgData name="Cristian Chilipirea" userId="34ab170da5908fc4" providerId="LiveId" clId="{996546C4-6A9A-46CF-8746-ECF3F08840BB}" dt="2019-10-14T16:52:08.900" v="88" actId="2696"/>
        <pc:sldMkLst>
          <pc:docMk/>
          <pc:sldMk cId="3243181152" sldId="566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1142336170" sldId="567"/>
        </pc:sldMkLst>
      </pc:sldChg>
      <pc:sldChg chg="del">
        <pc:chgData name="Cristian Chilipirea" userId="34ab170da5908fc4" providerId="LiveId" clId="{996546C4-6A9A-46CF-8746-ECF3F08840BB}" dt="2019-10-14T16:52:08.945" v="89" actId="2696"/>
        <pc:sldMkLst>
          <pc:docMk/>
          <pc:sldMk cId="1517375597" sldId="567"/>
        </pc:sldMkLst>
      </pc:sldChg>
      <pc:sldChg chg="del">
        <pc:chgData name="Cristian Chilipirea" userId="34ab170da5908fc4" providerId="LiveId" clId="{996546C4-6A9A-46CF-8746-ECF3F08840BB}" dt="2019-10-14T16:52:08.982" v="90" actId="2696"/>
        <pc:sldMkLst>
          <pc:docMk/>
          <pc:sldMk cId="1795931750" sldId="568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4072746728" sldId="568"/>
        </pc:sldMkLst>
      </pc:sldChg>
      <pc:sldChg chg="del">
        <pc:chgData name="Cristian Chilipirea" userId="34ab170da5908fc4" providerId="LiveId" clId="{996546C4-6A9A-46CF-8746-ECF3F08840BB}" dt="2019-10-14T16:52:08.994" v="91" actId="2696"/>
        <pc:sldMkLst>
          <pc:docMk/>
          <pc:sldMk cId="1115156947" sldId="569"/>
        </pc:sldMkLst>
      </pc:sldChg>
      <pc:sldChg chg="add">
        <pc:chgData name="Cristian Chilipirea" userId="34ab170da5908fc4" providerId="LiveId" clId="{996546C4-6A9A-46CF-8746-ECF3F08840BB}" dt="2019-10-14T16:52:20.710" v="94"/>
        <pc:sldMkLst>
          <pc:docMk/>
          <pc:sldMk cId="3424828832" sldId="569"/>
        </pc:sldMkLst>
      </pc:sldChg>
      <pc:sldChg chg="add">
        <pc:chgData name="Cristian Chilipirea" userId="34ab170da5908fc4" providerId="LiveId" clId="{996546C4-6A9A-46CF-8746-ECF3F08840BB}" dt="2019-10-14T16:50:41.582" v="30"/>
        <pc:sldMkLst>
          <pc:docMk/>
          <pc:sldMk cId="2393610380" sldId="581"/>
        </pc:sldMkLst>
      </pc:sldChg>
      <pc:sldChg chg="add">
        <pc:chgData name="Cristian Chilipirea" userId="34ab170da5908fc4" providerId="LiveId" clId="{996546C4-6A9A-46CF-8746-ECF3F08840BB}" dt="2019-10-14T16:50:41.582" v="30"/>
        <pc:sldMkLst>
          <pc:docMk/>
          <pc:sldMk cId="2280091625" sldId="582"/>
        </pc:sldMkLst>
      </pc:sldChg>
      <pc:sldChg chg="add">
        <pc:chgData name="Cristian Chilipirea" userId="34ab170da5908fc4" providerId="LiveId" clId="{996546C4-6A9A-46CF-8746-ECF3F08840BB}" dt="2019-10-14T16:50:41.582" v="30"/>
        <pc:sldMkLst>
          <pc:docMk/>
          <pc:sldMk cId="3627995927" sldId="583"/>
        </pc:sldMkLst>
      </pc:sldChg>
      <pc:sldChg chg="add">
        <pc:chgData name="Cristian Chilipirea" userId="34ab170da5908fc4" providerId="LiveId" clId="{996546C4-6A9A-46CF-8746-ECF3F08840BB}" dt="2019-10-14T16:50:41.582" v="30"/>
        <pc:sldMkLst>
          <pc:docMk/>
          <pc:sldMk cId="3895925264" sldId="584"/>
        </pc:sldMkLst>
      </pc:sldChg>
      <pc:sldChg chg="add">
        <pc:chgData name="Cristian Chilipirea" userId="34ab170da5908fc4" providerId="LiveId" clId="{996546C4-6A9A-46CF-8746-ECF3F08840BB}" dt="2019-10-14T16:50:41.582" v="30"/>
        <pc:sldMkLst>
          <pc:docMk/>
          <pc:sldMk cId="237323792" sldId="585"/>
        </pc:sldMkLst>
      </pc:sldChg>
      <pc:sldChg chg="add">
        <pc:chgData name="Cristian Chilipirea" userId="34ab170da5908fc4" providerId="LiveId" clId="{996546C4-6A9A-46CF-8746-ECF3F08840BB}" dt="2019-10-14T16:50:41.582" v="30"/>
        <pc:sldMkLst>
          <pc:docMk/>
          <pc:sldMk cId="1681674200" sldId="586"/>
        </pc:sldMkLst>
      </pc:sldChg>
      <pc:sldChg chg="add">
        <pc:chgData name="Cristian Chilipirea" userId="34ab170da5908fc4" providerId="LiveId" clId="{996546C4-6A9A-46CF-8746-ECF3F08840BB}" dt="2019-10-14T16:50:41.582" v="30"/>
        <pc:sldMkLst>
          <pc:docMk/>
          <pc:sldMk cId="762765230" sldId="587"/>
        </pc:sldMkLst>
      </pc:sldChg>
      <pc:sldChg chg="add">
        <pc:chgData name="Cristian Chilipirea" userId="34ab170da5908fc4" providerId="LiveId" clId="{996546C4-6A9A-46CF-8746-ECF3F08840BB}" dt="2019-10-14T16:50:41.582" v="30"/>
        <pc:sldMkLst>
          <pc:docMk/>
          <pc:sldMk cId="3857262134" sldId="588"/>
        </pc:sldMkLst>
      </pc:sldChg>
      <pc:sldChg chg="add">
        <pc:chgData name="Cristian Chilipirea" userId="34ab170da5908fc4" providerId="LiveId" clId="{996546C4-6A9A-46CF-8746-ECF3F08840BB}" dt="2019-10-14T16:50:41.582" v="30"/>
        <pc:sldMkLst>
          <pc:docMk/>
          <pc:sldMk cId="2414102212" sldId="590"/>
        </pc:sldMkLst>
      </pc:sldChg>
      <pc:sldChg chg="add">
        <pc:chgData name="Cristian Chilipirea" userId="34ab170da5908fc4" providerId="LiveId" clId="{996546C4-6A9A-46CF-8746-ECF3F08840BB}" dt="2019-10-14T16:50:41.582" v="30"/>
        <pc:sldMkLst>
          <pc:docMk/>
          <pc:sldMk cId="3173846532" sldId="591"/>
        </pc:sldMkLst>
      </pc:sldChg>
      <pc:sldChg chg="add">
        <pc:chgData name="Cristian Chilipirea" userId="34ab170da5908fc4" providerId="LiveId" clId="{996546C4-6A9A-46CF-8746-ECF3F08840BB}" dt="2019-10-14T16:50:41.582" v="30"/>
        <pc:sldMkLst>
          <pc:docMk/>
          <pc:sldMk cId="2608287443" sldId="592"/>
        </pc:sldMkLst>
      </pc:sldChg>
      <pc:sldChg chg="modSp add">
        <pc:chgData name="Cristian Chilipirea" userId="34ab170da5908fc4" providerId="LiveId" clId="{996546C4-6A9A-46CF-8746-ECF3F08840BB}" dt="2019-10-14T16:51:13.233" v="76" actId="403"/>
        <pc:sldMkLst>
          <pc:docMk/>
          <pc:sldMk cId="2928394504" sldId="593"/>
        </pc:sldMkLst>
        <pc:spChg chg="mod">
          <ac:chgData name="Cristian Chilipirea" userId="34ab170da5908fc4" providerId="LiveId" clId="{996546C4-6A9A-46CF-8746-ECF3F08840BB}" dt="2019-10-14T16:51:13.233" v="76" actId="403"/>
          <ac:spMkLst>
            <pc:docMk/>
            <pc:sldMk cId="2928394504" sldId="593"/>
            <ac:spMk id="3" creationId="{4A89F291-8205-4B7E-84F7-87D58B766D3B}"/>
          </ac:spMkLst>
        </pc:spChg>
      </pc:sldChg>
      <pc:sldChg chg="add">
        <pc:chgData name="Cristian Chilipirea" userId="34ab170da5908fc4" providerId="LiveId" clId="{996546C4-6A9A-46CF-8746-ECF3F08840BB}" dt="2019-10-14T16:52:16.886" v="93"/>
        <pc:sldMkLst>
          <pc:docMk/>
          <pc:sldMk cId="2193044892" sldId="594"/>
        </pc:sldMkLst>
      </pc:sldChg>
    </pc:docChg>
  </pc:docChgLst>
  <pc:docChgLst>
    <pc:chgData name="Cristian Chilipirea" userId="34ab170da5908fc4" providerId="LiveId" clId="{FCBC2080-0915-453D-B1E2-0CC042A2A276}"/>
    <pc:docChg chg="modSld sldOrd">
      <pc:chgData name="Cristian Chilipirea" userId="34ab170da5908fc4" providerId="LiveId" clId="{FCBC2080-0915-453D-B1E2-0CC042A2A276}" dt="2019-09-28T15:26:53.371" v="0"/>
      <pc:docMkLst>
        <pc:docMk/>
      </pc:docMkLst>
      <pc:sldChg chg="ord">
        <pc:chgData name="Cristian Chilipirea" userId="34ab170da5908fc4" providerId="LiveId" clId="{FCBC2080-0915-453D-B1E2-0CC042A2A276}" dt="2019-09-28T15:26:53.371" v="0"/>
        <pc:sldMkLst>
          <pc:docMk/>
          <pc:sldMk cId="2767160606" sldId="300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3657203518" sldId="301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1236400898" sldId="302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2866173780" sldId="303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1556281518" sldId="304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1347136458" sldId="305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1474753672" sldId="539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2382776210" sldId="540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3055059397" sldId="541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3772970979" sldId="542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126525187" sldId="543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2871384233" sldId="544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3672547213" sldId="545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768105071" sldId="546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3071989838" sldId="547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814351154" sldId="548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382575787" sldId="549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2353374741" sldId="550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1285537071" sldId="551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274436833" sldId="552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3426350562" sldId="553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766848005" sldId="554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87554675" sldId="555"/>
        </pc:sldMkLst>
      </pc:sldChg>
      <pc:sldChg chg="ord">
        <pc:chgData name="Cristian Chilipirea" userId="34ab170da5908fc4" providerId="LiveId" clId="{FCBC2080-0915-453D-B1E2-0CC042A2A276}" dt="2019-09-28T15:26:53.371" v="0"/>
        <pc:sldMkLst>
          <pc:docMk/>
          <pc:sldMk cId="2103566945" sldId="556"/>
        </pc:sldMkLst>
      </pc:sldChg>
    </pc:docChg>
  </pc:docChgLst>
  <pc:docChgLst>
    <pc:chgData name="Cristian Chilipirea" userId="34ab170da5908fc4" providerId="LiveId" clId="{DCEBB7B4-3170-4693-8AB6-7F4F6AAD376C}"/>
    <pc:docChg chg="custSel addSld modSld">
      <pc:chgData name="Cristian Chilipirea" userId="34ab170da5908fc4" providerId="LiveId" clId="{DCEBB7B4-3170-4693-8AB6-7F4F6AAD376C}" dt="2018-10-02T10:52:58.122" v="825" actId="20577"/>
      <pc:docMkLst>
        <pc:docMk/>
      </pc:docMkLst>
    </pc:docChg>
  </pc:docChgLst>
  <pc:docChgLst>
    <pc:chgData name="Cristian Chilipirea" userId="34ab170da5908fc4" providerId="LiveId" clId="{E6A114CD-C836-4A5C-A59E-5B196107C296}"/>
    <pc:docChg chg="undo custSel addSld delSld modSld sldOrd">
      <pc:chgData name="Cristian Chilipirea" userId="34ab170da5908fc4" providerId="LiveId" clId="{E6A114CD-C836-4A5C-A59E-5B196107C296}" dt="2018-10-08T16:39:10.499" v="4795" actId="207"/>
      <pc:docMkLst>
        <pc:docMk/>
      </pc:docMkLst>
      <pc:sldChg chg="modSp">
        <pc:chgData name="Cristian Chilipirea" userId="34ab170da5908fc4" providerId="LiveId" clId="{E6A114CD-C836-4A5C-A59E-5B196107C296}" dt="2018-10-08T16:36:48.826" v="4665" actId="20577"/>
        <pc:sldMkLst>
          <pc:docMk/>
          <pc:sldMk cId="0" sldId="485"/>
        </pc:sldMkLst>
        <pc:spChg chg="mod">
          <ac:chgData name="Cristian Chilipirea" userId="34ab170da5908fc4" providerId="LiveId" clId="{E6A114CD-C836-4A5C-A59E-5B196107C296}" dt="2018-10-08T16:36:48.826" v="4665" actId="20577"/>
          <ac:spMkLst>
            <pc:docMk/>
            <pc:sldMk cId="0" sldId="485"/>
            <ac:spMk id="15361" creationId="{B7373C27-AE51-474E-BA1F-0C5F0233AAC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5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5" y="9323388"/>
            <a:ext cx="29527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0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89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3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3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BB8D609B-1264-4E10-B65D-6D6B34289A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47C109-3AD9-4078-94CB-06A9931F0904}" type="slidenum">
              <a:rPr lang="en-GB" altLang="en-US" smtClean="0"/>
              <a:pPr/>
              <a:t>1</a:t>
            </a:fld>
            <a:endParaRPr lang="en-GB" altLang="en-US"/>
          </a:p>
        </p:txBody>
      </p:sp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8" y="5253038"/>
            <a:ext cx="6283325" cy="4051300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endParaRPr lang="en-GB">
              <a:cs typeface="+mn-cs"/>
            </a:endParaRP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89522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4214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20735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48777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6547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44976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78536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24862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11336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46506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95746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16974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71123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98967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34573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322803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66104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661040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30016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58700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921015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363004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433595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13294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462674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903939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455300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738538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610971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165620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985570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280536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23278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968598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467905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661040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895221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600911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300162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038272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140236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868320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556584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3273688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54662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705401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0027693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3067778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266308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0653679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439128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5822734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0757980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8349414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6743810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2050043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0552418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3958977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444714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4735829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2068004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1698750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1944717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8195142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626351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4565496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2704770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0646417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1691136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0987269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6112717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9685111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5073590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8116907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6040276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6052475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E3A386B7-9425-42B3-AF91-E32DB1FF4C46}" type="slidenum">
              <a:rPr lang="en-US" sz="1300"/>
              <a:pPr/>
              <a:t>86</a:t>
            </a:fld>
            <a:endParaRPr lang="en-US" sz="13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 err="1"/>
              <a:t>Extindem</a:t>
            </a:r>
            <a:r>
              <a:rPr lang="en-US" dirty="0"/>
              <a:t> </a:t>
            </a:r>
            <a:r>
              <a:rPr lang="en-US" dirty="0" err="1"/>
              <a:t>cautarea</a:t>
            </a:r>
            <a:r>
              <a:rPr lang="en-US" dirty="0"/>
              <a:t> </a:t>
            </a:r>
            <a:r>
              <a:rPr lang="en-US" dirty="0" err="1"/>
              <a:t>binara</a:t>
            </a:r>
            <a:r>
              <a:rPr lang="en-US" dirty="0"/>
              <a:t> =&gt; </a:t>
            </a:r>
            <a:r>
              <a:rPr lang="en-US" dirty="0" err="1"/>
              <a:t>cautare</a:t>
            </a:r>
            <a:r>
              <a:rPr lang="en-US" dirty="0"/>
              <a:t> N+1</a:t>
            </a:r>
          </a:p>
          <a:p>
            <a:r>
              <a:rPr lang="en-US" dirty="0" err="1"/>
              <a:t>Algoritmul</a:t>
            </a:r>
            <a:r>
              <a:rPr lang="en-US" dirty="0"/>
              <a:t> se </a:t>
            </a:r>
            <a:r>
              <a:rPr lang="en-US" dirty="0" err="1"/>
              <a:t>bazează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împărţirea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etapă</a:t>
            </a:r>
            <a:r>
              <a:rPr lang="en-US" dirty="0"/>
              <a:t>, a </a:t>
            </a:r>
            <a:r>
              <a:rPr lang="en-US" dirty="0" err="1"/>
              <a:t>secvenţei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se face </a:t>
            </a:r>
            <a:r>
              <a:rPr lang="en-US" dirty="0" err="1"/>
              <a:t>căutarea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N+1 </a:t>
            </a:r>
            <a:r>
              <a:rPr lang="en-US" dirty="0" err="1"/>
              <a:t>subsecvenţe</a:t>
            </a:r>
            <a:r>
              <a:rPr lang="en-US" dirty="0"/>
              <a:t> de </a:t>
            </a:r>
            <a:r>
              <a:rPr lang="en-US" dirty="0" err="1"/>
              <a:t>aceeaşi</a:t>
            </a:r>
            <a:r>
              <a:rPr lang="en-US" dirty="0"/>
              <a:t> </a:t>
            </a:r>
            <a:r>
              <a:rPr lang="en-US" dirty="0" err="1"/>
              <a:t>lungime</a:t>
            </a:r>
            <a:r>
              <a:rPr lang="en-US" dirty="0"/>
              <a:t>. </a:t>
            </a:r>
            <a:r>
              <a:rPr lang="en-US" dirty="0" err="1"/>
              <a:t>Fiecare</a:t>
            </a:r>
            <a:r>
              <a:rPr lang="en-US" dirty="0"/>
              <a:t> din </a:t>
            </a:r>
            <a:r>
              <a:rPr lang="en-US" dirty="0" err="1"/>
              <a:t>cele</a:t>
            </a:r>
            <a:r>
              <a:rPr lang="en-US" dirty="0"/>
              <a:t> N </a:t>
            </a:r>
            <a:r>
              <a:rPr lang="en-US" dirty="0" err="1"/>
              <a:t>procesoare</a:t>
            </a:r>
            <a:r>
              <a:rPr lang="en-US" dirty="0"/>
              <a:t>  </a:t>
            </a:r>
            <a:r>
              <a:rPr lang="en-US" dirty="0" err="1"/>
              <a:t>inspectează</a:t>
            </a:r>
            <a:r>
              <a:rPr lang="en-US" dirty="0"/>
              <a:t> o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b="1" dirty="0"/>
              <a:t>s</a:t>
            </a:r>
            <a:r>
              <a:rPr lang="en-US" dirty="0"/>
              <a:t> </a:t>
            </a:r>
            <a:r>
              <a:rPr lang="en-US" dirty="0" err="1"/>
              <a:t>aflată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poziţia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secvenţe</a:t>
            </a:r>
            <a:r>
              <a:rPr lang="en-US" dirty="0"/>
              <a:t> </a:t>
            </a:r>
            <a:r>
              <a:rPr lang="en-US" dirty="0" err="1"/>
              <a:t>adiacente</a:t>
            </a:r>
            <a:r>
              <a:rPr lang="en-US" dirty="0"/>
              <a:t>.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b="1" dirty="0"/>
              <a:t>x&lt;s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elementele</a:t>
            </a:r>
            <a:r>
              <a:rPr lang="en-US" dirty="0"/>
              <a:t> </a:t>
            </a:r>
            <a:r>
              <a:rPr lang="en-US" dirty="0" err="1"/>
              <a:t>aflate</a:t>
            </a:r>
            <a:r>
              <a:rPr lang="en-US" dirty="0"/>
              <a:t> la </a:t>
            </a:r>
            <a:r>
              <a:rPr lang="en-US" dirty="0" err="1"/>
              <a:t>dreapta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b="1" dirty="0"/>
              <a:t>s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ignorate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pasul</a:t>
            </a:r>
            <a:r>
              <a:rPr lang="en-US" dirty="0"/>
              <a:t> </a:t>
            </a:r>
            <a:r>
              <a:rPr lang="en-US" dirty="0" err="1"/>
              <a:t>următor</a:t>
            </a:r>
            <a:r>
              <a:rPr lang="en-US" dirty="0"/>
              <a:t>. Similar,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b="1" dirty="0"/>
              <a:t>x&gt;s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ignorate</a:t>
            </a:r>
            <a:r>
              <a:rPr lang="en-US" dirty="0"/>
              <a:t> </a:t>
            </a:r>
            <a:r>
              <a:rPr lang="en-US" dirty="0" err="1"/>
              <a:t>elementele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b="1" dirty="0"/>
              <a:t>s</a:t>
            </a:r>
            <a:r>
              <a:rPr lang="en-US" dirty="0"/>
              <a:t>. </a:t>
            </a:r>
            <a:r>
              <a:rPr lang="en-US" dirty="0" err="1"/>
              <a:t>Următorul</a:t>
            </a:r>
            <a:r>
              <a:rPr lang="en-US" dirty="0"/>
              <a:t> subinterval de </a:t>
            </a:r>
            <a:r>
              <a:rPr lang="en-US" dirty="0" err="1"/>
              <a:t>căutare</a:t>
            </a:r>
            <a:r>
              <a:rPr lang="en-US" dirty="0"/>
              <a:t> se </a:t>
            </a:r>
            <a:r>
              <a:rPr lang="en-US" dirty="0" err="1"/>
              <a:t>obţine</a:t>
            </a:r>
            <a:r>
              <a:rPr lang="en-US" dirty="0"/>
              <a:t> </a:t>
            </a:r>
            <a:r>
              <a:rPr lang="en-US" dirty="0" err="1"/>
              <a:t>făcand</a:t>
            </a:r>
            <a:r>
              <a:rPr lang="en-US" dirty="0"/>
              <a:t> </a:t>
            </a:r>
            <a:r>
              <a:rPr lang="en-US" dirty="0" err="1"/>
              <a:t>intersecţia</a:t>
            </a:r>
            <a:r>
              <a:rPr lang="en-US" dirty="0"/>
              <a:t> </a:t>
            </a:r>
            <a:r>
              <a:rPr lang="en-US" dirty="0" err="1"/>
              <a:t>subintervalelor</a:t>
            </a:r>
            <a:r>
              <a:rPr lang="en-US" dirty="0"/>
              <a:t> </a:t>
            </a:r>
            <a:r>
              <a:rPr lang="en-US" dirty="0" err="1"/>
              <a:t>păstrate</a:t>
            </a:r>
            <a:r>
              <a:rPr lang="en-US" dirty="0"/>
              <a:t> de </a:t>
            </a:r>
            <a:r>
              <a:rPr lang="en-US" dirty="0" err="1"/>
              <a:t>diferitele</a:t>
            </a:r>
            <a:r>
              <a:rPr lang="en-US" dirty="0"/>
              <a:t> </a:t>
            </a:r>
            <a:r>
              <a:rPr lang="en-US" dirty="0" err="1"/>
              <a:t>procesoare</a:t>
            </a:r>
            <a:r>
              <a:rPr lang="en-US" dirty="0"/>
              <a:t>. =&gt; </a:t>
            </a:r>
            <a:r>
              <a:rPr lang="en-US" dirty="0" err="1"/>
              <a:t>pana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</a:t>
            </a:r>
            <a:r>
              <a:rPr lang="en-US" b="1" dirty="0"/>
              <a:t>x=s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eliminate</a:t>
            </a:r>
          </a:p>
        </p:txBody>
      </p:sp>
    </p:spTree>
    <p:extLst>
      <p:ext uri="{BB962C8B-B14F-4D97-AF65-F5344CB8AC3E}">
        <p14:creationId xmlns:p14="http://schemas.microsoft.com/office/powerpoint/2010/main" val="335444901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7A1EACED-F11B-4C63-A793-55D8FE2E5C13}" type="slidenum">
              <a:rPr lang="en-US" sz="1300"/>
              <a:pPr/>
              <a:t>87</a:t>
            </a:fld>
            <a:endParaRPr lang="en-US" sz="13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În general, un sistem cu N procesoare poate "acoperi" în </a:t>
            </a:r>
            <a:r>
              <a:rPr lang="en-US" b="1"/>
              <a:t>g</a:t>
            </a:r>
            <a:r>
              <a:rPr lang="en-US"/>
              <a:t> paşi o secvenţă de lungime cel mult ng = (N+1)g-1. În primul pas, această secvenţă este împărţită în subsecvenţe de ng-1 = (N+1)g-1-1 elemente, procesorul Pi inspectând elementul din poziţia i*(N+1)g-1 (considerand că primul element are poziţia 1). Dacă primul element are indicele q, atunci poziţia care corespunde lui Pi este (q-1)+i*(N+1)g-1.</a:t>
            </a:r>
          </a:p>
          <a:p>
            <a:endParaRPr lang="en-US"/>
          </a:p>
          <a:p>
            <a:r>
              <a:rPr lang="en-US"/>
              <a:t>Raman: (n – N)/(N+1) = ((n+1)/(N+1))-1 ….. ((n+1)/(N+1)^g)-1 &lt;=0</a:t>
            </a:r>
          </a:p>
        </p:txBody>
      </p:sp>
    </p:spTree>
    <p:extLst>
      <p:ext uri="{BB962C8B-B14F-4D97-AF65-F5344CB8AC3E}">
        <p14:creationId xmlns:p14="http://schemas.microsoft.com/office/powerpoint/2010/main" val="403148355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68B47E-0FB5-4842-AF75-01078EE12EB8}" type="slidenum">
              <a:rPr lang="en-US" smtClean="0"/>
              <a:pPr>
                <a:defRPr/>
              </a:pPr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317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B1A1EA13-F7DA-45FC-A4F8-DB0967FF565E}" type="slidenum">
              <a:rPr lang="en-US" sz="1300"/>
              <a:pPr/>
              <a:t>94</a:t>
            </a:fld>
            <a:endParaRPr lang="en-US" sz="13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652" name="Rectangle 3"/>
              <p:cNvSpPr>
                <a:spLocks noGrp="1" noChangeArrowheads="1"/>
              </p:cNvSpPr>
              <p:nvPr>
                <p:ph type="body" idx="1"/>
              </p:nvPr>
            </p:nvSpPr>
            <p:spPr bwMode="auto"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err="1">
                    <a:latin typeface="+mj-lt"/>
                  </a:rPr>
                  <a:t>Costul</a:t>
                </a:r>
                <a:r>
                  <a:rPr lang="en-US" sz="1200" dirty="0">
                    <a:latin typeface="+mj-lt"/>
                  </a:rPr>
                  <a:t> </a:t>
                </a:r>
                <a:r>
                  <a:rPr lang="en-US" sz="1200" dirty="0" err="1">
                    <a:latin typeface="+mj-lt"/>
                  </a:rPr>
                  <a:t>unui</a:t>
                </a:r>
                <a:r>
                  <a:rPr lang="en-US" sz="1200" dirty="0">
                    <a:latin typeface="+mj-lt"/>
                  </a:rPr>
                  <a:t> </a:t>
                </a:r>
                <a:r>
                  <a:rPr lang="en-US" sz="1200" dirty="0" err="1">
                    <a:latin typeface="+mj-lt"/>
                  </a:rPr>
                  <a:t>algoritm</a:t>
                </a:r>
                <a:r>
                  <a:rPr lang="en-US" sz="1200" dirty="0">
                    <a:latin typeface="+mj-lt"/>
                  </a:rPr>
                  <a:t> se define</a:t>
                </a:r>
                <a:r>
                  <a:rPr lang="ro-RO" sz="1200" dirty="0" err="1">
                    <a:latin typeface="+mj-lt"/>
                  </a:rPr>
                  <a:t>ște</a:t>
                </a:r>
                <a:r>
                  <a:rPr lang="ro-RO" sz="1200" dirty="0">
                    <a:latin typeface="+mj-lt"/>
                  </a:rPr>
                  <a:t> ca </a:t>
                </a:r>
                <a:r>
                  <a:rPr lang="ro-RO" sz="1200" dirty="0">
                    <a:solidFill>
                      <a:srgbClr val="FF0000"/>
                    </a:solidFill>
                    <a:latin typeface="+mj-lt"/>
                  </a:rPr>
                  <a:t>produsul dintre numărul de procesoare folosite și timpul de rulare</a:t>
                </a:r>
                <a:r>
                  <a:rPr lang="en-US" sz="1200" dirty="0">
                    <a:latin typeface="+mj-lt"/>
                  </a:rPr>
                  <a:t>. </a:t>
                </a:r>
                <a:endParaRPr lang="ro-RO" sz="1200" dirty="0">
                  <a:latin typeface="+mj-l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o-RO" sz="1200" dirty="0">
                    <a:latin typeface="+mj-lt"/>
                  </a:rPr>
                  <a:t>Un algoritm paralel </a:t>
                </a:r>
                <a:r>
                  <a:rPr lang="en-US" sz="1200" dirty="0">
                    <a:solidFill>
                      <a:srgbClr val="FF0000"/>
                    </a:solidFill>
                    <a:latin typeface="+mj-lt"/>
                  </a:rPr>
                  <a:t>cost optimal</a:t>
                </a:r>
                <a:r>
                  <a:rPr lang="en-US" sz="1200" dirty="0">
                    <a:latin typeface="+mj-lt"/>
                  </a:rPr>
                  <a:t> </a:t>
                </a:r>
                <a:r>
                  <a:rPr lang="ro-RO" sz="1200" dirty="0">
                    <a:latin typeface="+mj-lt"/>
                  </a:rPr>
                  <a:t>este unul pentru care costul este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i="1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θ</m:t>
                    </m:r>
                  </m:oMath>
                </a14:m>
                <a:r>
                  <a:rPr lang="en-US" sz="12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1200" dirty="0">
                    <a:latin typeface="+mj-lt"/>
                  </a:rPr>
                  <a:t>(</a:t>
                </a:r>
                <a:r>
                  <a:rPr lang="ro-RO" sz="1200" dirty="0">
                    <a:latin typeface="+mj-lt"/>
                  </a:rPr>
                  <a:t>timpul de execuție secvențial</a:t>
                </a:r>
                <a:r>
                  <a:rPr lang="en-US" sz="1200" dirty="0">
                    <a:latin typeface="+mj-lt"/>
                  </a:rPr>
                  <a:t>). </a:t>
                </a:r>
                <a:endParaRPr lang="en-US" b="1" dirty="0"/>
              </a:p>
              <a:p>
                <a:endParaRPr lang="en-US" dirty="0"/>
              </a:p>
              <a:p>
                <a:r>
                  <a:rPr lang="en-US" dirty="0"/>
                  <a:t>Deci,  </a:t>
                </a:r>
                <a:r>
                  <a:rPr lang="en-US" dirty="0" err="1"/>
                  <a:t>numărul</a:t>
                </a:r>
                <a:r>
                  <a:rPr lang="en-US" dirty="0"/>
                  <a:t> de </a:t>
                </a:r>
                <a:r>
                  <a:rPr lang="en-US" dirty="0" err="1"/>
                  <a:t>iteraţii</a:t>
                </a:r>
                <a:r>
                  <a:rPr lang="en-US" dirty="0"/>
                  <a:t> </a:t>
                </a:r>
                <a:r>
                  <a:rPr lang="en-US" dirty="0" err="1"/>
                  <a:t>cerute</a:t>
                </a:r>
                <a:r>
                  <a:rPr lang="en-US" dirty="0"/>
                  <a:t> de </a:t>
                </a:r>
                <a:r>
                  <a:rPr lang="en-US" dirty="0" err="1"/>
                  <a:t>orice</a:t>
                </a:r>
                <a:r>
                  <a:rPr lang="en-US" dirty="0"/>
                  <a:t> </a:t>
                </a:r>
                <a:r>
                  <a:rPr lang="en-US" dirty="0" err="1"/>
                  <a:t>algoritm</a:t>
                </a:r>
                <a:r>
                  <a:rPr lang="en-US" dirty="0"/>
                  <a:t> </a:t>
                </a:r>
                <a:r>
                  <a:rPr lang="en-US" dirty="0" err="1"/>
                  <a:t>paralel</a:t>
                </a:r>
                <a:r>
                  <a:rPr lang="en-US" dirty="0"/>
                  <a:t> </a:t>
                </a:r>
                <a:r>
                  <a:rPr lang="en-US" dirty="0" err="1"/>
                  <a:t>trebuie</a:t>
                </a:r>
                <a:r>
                  <a:rPr lang="en-US" dirty="0"/>
                  <a:t>  </a:t>
                </a:r>
                <a:r>
                  <a:rPr lang="en-US" dirty="0" err="1"/>
                  <a:t>să</a:t>
                </a:r>
                <a:r>
                  <a:rPr lang="en-US" dirty="0"/>
                  <a:t>  fie </a:t>
                </a:r>
                <a:r>
                  <a:rPr lang="en-US" dirty="0" err="1"/>
                  <a:t>mai</a:t>
                </a:r>
                <a:r>
                  <a:rPr lang="en-US" dirty="0"/>
                  <a:t> mare de </a:t>
                </a:r>
                <a:r>
                  <a:rPr lang="en-US" dirty="0" err="1"/>
                  <a:t>cel</a:t>
                </a:r>
                <a:r>
                  <a:rPr lang="en-US" dirty="0"/>
                  <a:t> </a:t>
                </a:r>
                <a:r>
                  <a:rPr lang="en-US" dirty="0" err="1"/>
                  <a:t>mai</a:t>
                </a:r>
                <a:r>
                  <a:rPr lang="en-US" dirty="0"/>
                  <a:t> mic </a:t>
                </a:r>
                <a:r>
                  <a:rPr lang="en-US" b="1" dirty="0"/>
                  <a:t>g</a:t>
                </a:r>
                <a:r>
                  <a:rPr lang="en-US" dirty="0"/>
                  <a:t> </a:t>
                </a:r>
                <a:r>
                  <a:rPr lang="en-US" dirty="0" err="1"/>
                  <a:t>pentru</a:t>
                </a:r>
                <a:r>
                  <a:rPr lang="en-US" dirty="0"/>
                  <a:t> care </a:t>
                </a:r>
                <a:r>
                  <a:rPr lang="en-US" dirty="0" err="1"/>
                  <a:t>avem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     [(n+1)/(N+1)g]-1 &lt;=0, </a:t>
                </a:r>
                <a:r>
                  <a:rPr lang="en-US" dirty="0" err="1"/>
                  <a:t>adică</a:t>
                </a:r>
                <a:endParaRPr lang="en-US" dirty="0"/>
              </a:p>
              <a:p>
                <a:r>
                  <a:rPr lang="en-US" dirty="0"/>
                  <a:t>     g = sup(log(n+1)/log(N+1)).</a:t>
                </a:r>
              </a:p>
              <a:p>
                <a:r>
                  <a:rPr lang="en-US" dirty="0" err="1"/>
                  <a:t>În</a:t>
                </a:r>
                <a:r>
                  <a:rPr lang="en-US" dirty="0"/>
                  <a:t> </a:t>
                </a:r>
                <a:r>
                  <a:rPr lang="en-US" dirty="0" err="1"/>
                  <a:t>cazul</a:t>
                </a:r>
                <a:r>
                  <a:rPr lang="en-US" dirty="0"/>
                  <a:t> </a:t>
                </a:r>
                <a:r>
                  <a:rPr lang="en-US" dirty="0" err="1"/>
                  <a:t>în</a:t>
                </a:r>
                <a:r>
                  <a:rPr lang="en-US" dirty="0"/>
                  <a:t> care N=n </a:t>
                </a:r>
                <a:r>
                  <a:rPr lang="en-US" dirty="0" err="1"/>
                  <a:t>problema</a:t>
                </a:r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rezolvată</a:t>
                </a:r>
                <a:r>
                  <a:rPr lang="en-US" dirty="0"/>
                  <a:t> </a:t>
                </a:r>
                <a:r>
                  <a:rPr lang="en-US" dirty="0" err="1"/>
                  <a:t>în</a:t>
                </a:r>
                <a:r>
                  <a:rPr lang="en-US" dirty="0"/>
                  <a:t> </a:t>
                </a:r>
                <a:r>
                  <a:rPr lang="en-US" dirty="0" err="1"/>
                  <a:t>timp</a:t>
                </a:r>
                <a:r>
                  <a:rPr lang="en-US" dirty="0"/>
                  <a:t> constant.</a:t>
                </a:r>
              </a:p>
              <a:p>
                <a:endParaRPr lang="en-US" dirty="0"/>
              </a:p>
              <a:p>
                <a:r>
                  <a:rPr lang="en-US" dirty="0" err="1"/>
                  <a:t>În</a:t>
                </a:r>
                <a:r>
                  <a:rPr lang="en-US" dirty="0"/>
                  <a:t>  </a:t>
                </a:r>
                <a:r>
                  <a:rPr lang="en-US" dirty="0" err="1"/>
                  <a:t>privinţa</a:t>
                </a:r>
                <a:r>
                  <a:rPr lang="en-US" dirty="0"/>
                  <a:t> </a:t>
                </a:r>
                <a:r>
                  <a:rPr lang="en-US" dirty="0" err="1"/>
                  <a:t>cerinţei</a:t>
                </a:r>
                <a:r>
                  <a:rPr lang="en-US" dirty="0"/>
                  <a:t> ca </a:t>
                </a:r>
                <a:r>
                  <a:rPr lang="en-US" dirty="0" err="1"/>
                  <a:t>toate</a:t>
                </a:r>
                <a:r>
                  <a:rPr lang="en-US" dirty="0"/>
                  <a:t> </a:t>
                </a:r>
                <a:r>
                  <a:rPr lang="en-US" dirty="0" err="1"/>
                  <a:t>elementele</a:t>
                </a:r>
                <a:r>
                  <a:rPr lang="en-US" dirty="0"/>
                  <a:t> </a:t>
                </a:r>
                <a:r>
                  <a:rPr lang="en-US" dirty="0" err="1"/>
                  <a:t>secvenţei</a:t>
                </a:r>
                <a:r>
                  <a:rPr lang="en-US" dirty="0"/>
                  <a:t> S </a:t>
                </a:r>
                <a:r>
                  <a:rPr lang="en-US" dirty="0" err="1"/>
                  <a:t>să</a:t>
                </a:r>
                <a:r>
                  <a:rPr lang="en-US" dirty="0"/>
                  <a:t> fie </a:t>
                </a:r>
                <a:r>
                  <a:rPr lang="en-US" b="1" dirty="0" err="1"/>
                  <a:t>distincte</a:t>
                </a:r>
                <a:r>
                  <a:rPr lang="en-US" dirty="0"/>
                  <a:t>, </a:t>
                </a:r>
                <a:r>
                  <a:rPr lang="en-US" dirty="0" err="1"/>
                  <a:t>ea</a:t>
                </a:r>
                <a:r>
                  <a:rPr lang="en-US" dirty="0"/>
                  <a:t> </a:t>
                </a:r>
                <a:r>
                  <a:rPr lang="en-US" dirty="0" err="1"/>
                  <a:t>poate</a:t>
                </a:r>
                <a:r>
                  <a:rPr lang="en-US" dirty="0"/>
                  <a:t> fi </a:t>
                </a:r>
                <a:r>
                  <a:rPr lang="en-US" dirty="0" err="1"/>
                  <a:t>înlăturată</a:t>
                </a:r>
                <a:r>
                  <a:rPr lang="en-US" dirty="0"/>
                  <a:t> </a:t>
                </a:r>
                <a:r>
                  <a:rPr lang="en-US" dirty="0" err="1"/>
                  <a:t>dacă</a:t>
                </a:r>
                <a:r>
                  <a:rPr lang="en-US" dirty="0"/>
                  <a:t> </a:t>
                </a:r>
                <a:r>
                  <a:rPr lang="en-US" dirty="0" err="1"/>
                  <a:t>actualizarea</a:t>
                </a:r>
                <a:r>
                  <a:rPr lang="en-US" dirty="0"/>
                  <a:t> </a:t>
                </a:r>
                <a:r>
                  <a:rPr lang="en-US" dirty="0" err="1"/>
                  <a:t>lui</a:t>
                </a:r>
                <a:r>
                  <a:rPr lang="en-US" dirty="0"/>
                  <a:t> </a:t>
                </a:r>
                <a:r>
                  <a:rPr lang="en-US" b="1" dirty="0"/>
                  <a:t>k</a:t>
                </a:r>
                <a:r>
                  <a:rPr lang="en-US" dirty="0"/>
                  <a:t> la </a:t>
                </a:r>
                <a:r>
                  <a:rPr lang="en-US" dirty="0" err="1"/>
                  <a:t>găsirea</a:t>
                </a:r>
                <a:r>
                  <a:rPr lang="en-US" dirty="0"/>
                  <a:t> </a:t>
                </a:r>
                <a:r>
                  <a:rPr lang="en-US" dirty="0" err="1"/>
                  <a:t>unei</a:t>
                </a:r>
                <a:r>
                  <a:rPr lang="en-US" dirty="0"/>
                  <a:t> </a:t>
                </a:r>
                <a:r>
                  <a:rPr lang="en-US" dirty="0" err="1"/>
                  <a:t>coincidenţe</a:t>
                </a:r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realizată</a:t>
                </a:r>
                <a:r>
                  <a:rPr lang="en-US" dirty="0"/>
                  <a:t> </a:t>
                </a:r>
                <a:r>
                  <a:rPr lang="en-US" dirty="0" err="1"/>
                  <a:t>printr</a:t>
                </a:r>
                <a:r>
                  <a:rPr lang="en-US" dirty="0"/>
                  <a:t>-o  </a:t>
                </a:r>
                <a:r>
                  <a:rPr lang="en-US" dirty="0" err="1"/>
                  <a:t>procedură</a:t>
                </a:r>
                <a:r>
                  <a:rPr lang="en-US" dirty="0"/>
                  <a:t>  </a:t>
                </a:r>
                <a:r>
                  <a:rPr lang="en-US" dirty="0" err="1"/>
                  <a:t>specială</a:t>
                </a:r>
                <a:r>
                  <a:rPr lang="en-US" dirty="0"/>
                  <a:t> care  </a:t>
                </a:r>
                <a:r>
                  <a:rPr lang="en-US" dirty="0" err="1"/>
                  <a:t>evită</a:t>
                </a:r>
                <a:r>
                  <a:rPr lang="en-US" dirty="0"/>
                  <a:t>  </a:t>
                </a:r>
                <a:r>
                  <a:rPr lang="en-US" dirty="0" err="1"/>
                  <a:t>conflictele</a:t>
                </a:r>
                <a:r>
                  <a:rPr lang="en-US" dirty="0"/>
                  <a:t>  de  </a:t>
                </a:r>
                <a:r>
                  <a:rPr lang="en-US" dirty="0" err="1"/>
                  <a:t>acces</a:t>
                </a:r>
                <a:r>
                  <a:rPr lang="en-US" dirty="0"/>
                  <a:t> </a:t>
                </a:r>
                <a:r>
                  <a:rPr lang="en-US" dirty="0" err="1"/>
                  <a:t>simultan</a:t>
                </a:r>
                <a:r>
                  <a:rPr lang="en-US" dirty="0"/>
                  <a:t>  (</a:t>
                </a:r>
                <a:r>
                  <a:rPr lang="en-US" dirty="0" err="1"/>
                  <a:t>modelele</a:t>
                </a:r>
                <a:r>
                  <a:rPr lang="en-US" dirty="0"/>
                  <a:t> </a:t>
                </a:r>
                <a:r>
                  <a:rPr lang="en-US" dirty="0" err="1"/>
                  <a:t>folosite</a:t>
                </a:r>
                <a:r>
                  <a:rPr lang="en-US" dirty="0"/>
                  <a:t> </a:t>
                </a:r>
                <a:r>
                  <a:rPr lang="en-US" dirty="0" err="1"/>
                  <a:t>până</a:t>
                </a:r>
                <a:r>
                  <a:rPr lang="en-US" dirty="0"/>
                  <a:t> </a:t>
                </a:r>
                <a:r>
                  <a:rPr lang="en-US" dirty="0" err="1"/>
                  <a:t>acum</a:t>
                </a:r>
                <a:r>
                  <a:rPr lang="en-US" dirty="0"/>
                  <a:t> </a:t>
                </a:r>
                <a:r>
                  <a:rPr lang="en-US" dirty="0" err="1"/>
                  <a:t>sunt</a:t>
                </a:r>
                <a:r>
                  <a:rPr lang="en-US" dirty="0"/>
                  <a:t> cu </a:t>
                </a:r>
                <a:r>
                  <a:rPr lang="en-US" dirty="0" err="1"/>
                  <a:t>scriere</a:t>
                </a:r>
                <a:r>
                  <a:rPr lang="en-US" dirty="0"/>
                  <a:t>  </a:t>
                </a:r>
                <a:r>
                  <a:rPr lang="en-US" dirty="0" err="1"/>
                  <a:t>exclusivă</a:t>
                </a:r>
                <a:r>
                  <a:rPr lang="en-US" dirty="0"/>
                  <a:t>).  </a:t>
                </a:r>
                <a:r>
                  <a:rPr lang="en-US" dirty="0" err="1"/>
                  <a:t>Această</a:t>
                </a:r>
                <a:r>
                  <a:rPr lang="en-US" dirty="0"/>
                  <a:t> </a:t>
                </a:r>
                <a:r>
                  <a:rPr lang="en-US" dirty="0" err="1"/>
                  <a:t>procedură</a:t>
                </a:r>
                <a:r>
                  <a:rPr lang="en-US" dirty="0"/>
                  <a:t>  </a:t>
                </a:r>
                <a:r>
                  <a:rPr lang="en-US" dirty="0" err="1"/>
                  <a:t>ia</a:t>
                </a:r>
                <a:r>
                  <a:rPr lang="en-US" dirty="0"/>
                  <a:t>  un  </a:t>
                </a:r>
                <a:r>
                  <a:rPr lang="en-US" dirty="0" err="1"/>
                  <a:t>timp</a:t>
                </a:r>
                <a:r>
                  <a:rPr lang="en-US" dirty="0"/>
                  <a:t>  O(log  N), </a:t>
                </a:r>
                <a:r>
                  <a:rPr lang="en-US" dirty="0" err="1"/>
                  <a:t>mărind</a:t>
                </a:r>
                <a:r>
                  <a:rPr lang="en-US" dirty="0"/>
                  <a:t>  </a:t>
                </a:r>
                <a:r>
                  <a:rPr lang="en-US" dirty="0" err="1"/>
                  <a:t>astfel</a:t>
                </a:r>
                <a:r>
                  <a:rPr lang="en-US" dirty="0"/>
                  <a:t>  </a:t>
                </a:r>
                <a:r>
                  <a:rPr lang="en-US" dirty="0" err="1"/>
                  <a:t>timpul</a:t>
                </a:r>
                <a:r>
                  <a:rPr lang="en-US" dirty="0"/>
                  <a:t>  de  </a:t>
                </a:r>
                <a:r>
                  <a:rPr lang="en-US" dirty="0" err="1"/>
                  <a:t>execuţie</a:t>
                </a:r>
                <a:r>
                  <a:rPr lang="en-US" dirty="0"/>
                  <a:t>  al </a:t>
                </a:r>
                <a:r>
                  <a:rPr lang="en-US" dirty="0" err="1"/>
                  <a:t>algoritmului</a:t>
                </a:r>
                <a:r>
                  <a:rPr lang="en-US" dirty="0"/>
                  <a:t> la: </a:t>
                </a:r>
              </a:p>
              <a:p>
                <a:r>
                  <a:rPr lang="en-US" dirty="0"/>
                  <a:t>     t(n) = O(log(n+1)/log(N+1)) + O(log N). </a:t>
                </a:r>
              </a:p>
              <a:p>
                <a:r>
                  <a:rPr lang="en-US" dirty="0" err="1"/>
                  <a:t>Putem</a:t>
                </a:r>
                <a:r>
                  <a:rPr lang="en-US" dirty="0"/>
                  <a:t>  </a:t>
                </a:r>
                <a:r>
                  <a:rPr lang="en-US" dirty="0" err="1"/>
                  <a:t>aprecia</a:t>
                </a:r>
                <a:r>
                  <a:rPr lang="en-US" dirty="0"/>
                  <a:t> </a:t>
                </a:r>
                <a:r>
                  <a:rPr lang="en-US" dirty="0" err="1"/>
                  <a:t>importanţa</a:t>
                </a:r>
                <a:r>
                  <a:rPr lang="en-US" dirty="0"/>
                  <a:t> </a:t>
                </a:r>
                <a:r>
                  <a:rPr lang="en-US" dirty="0" err="1"/>
                  <a:t>acestui</a:t>
                </a:r>
                <a:r>
                  <a:rPr lang="en-US" dirty="0"/>
                  <a:t> </a:t>
                </a:r>
                <a:r>
                  <a:rPr lang="en-US" dirty="0" err="1"/>
                  <a:t>timp</a:t>
                </a:r>
                <a:r>
                  <a:rPr lang="en-US" dirty="0"/>
                  <a:t> </a:t>
                </a:r>
                <a:r>
                  <a:rPr lang="en-US" dirty="0" err="1"/>
                  <a:t>suplimentar</a:t>
                </a:r>
                <a:r>
                  <a:rPr lang="en-US" dirty="0"/>
                  <a:t> </a:t>
                </a:r>
                <a:r>
                  <a:rPr lang="en-US" dirty="0" err="1"/>
                  <a:t>dacă</a:t>
                </a:r>
                <a:r>
                  <a:rPr lang="en-US" dirty="0"/>
                  <a:t> </a:t>
                </a:r>
                <a:r>
                  <a:rPr lang="en-US" dirty="0" err="1"/>
                  <a:t>luăm</a:t>
                </a:r>
                <a:r>
                  <a:rPr lang="en-US" dirty="0"/>
                  <a:t> </a:t>
                </a:r>
                <a:r>
                  <a:rPr lang="en-US" dirty="0" err="1"/>
                  <a:t>cazul</a:t>
                </a:r>
                <a:r>
                  <a:rPr lang="en-US" dirty="0"/>
                  <a:t>  N=n,  </a:t>
                </a:r>
                <a:r>
                  <a:rPr lang="en-US" dirty="0" err="1"/>
                  <a:t>în</a:t>
                </a:r>
                <a:r>
                  <a:rPr lang="en-US" dirty="0"/>
                  <a:t> care nu se </a:t>
                </a:r>
                <a:r>
                  <a:rPr lang="en-US" dirty="0" err="1"/>
                  <a:t>realizează</a:t>
                </a:r>
                <a:r>
                  <a:rPr lang="en-US" dirty="0"/>
                  <a:t> </a:t>
                </a:r>
                <a:r>
                  <a:rPr lang="en-US" dirty="0" err="1"/>
                  <a:t>nici</a:t>
                </a:r>
                <a:r>
                  <a:rPr lang="en-US" dirty="0"/>
                  <a:t> o </a:t>
                </a:r>
                <a:r>
                  <a:rPr lang="en-US" dirty="0" err="1"/>
                  <a:t>îmbunătăţire</a:t>
                </a:r>
                <a:r>
                  <a:rPr lang="en-US" dirty="0"/>
                  <a:t> </a:t>
                </a:r>
                <a:r>
                  <a:rPr lang="en-US" dirty="0" err="1"/>
                  <a:t>faţă</a:t>
                </a:r>
                <a:r>
                  <a:rPr lang="en-US" dirty="0"/>
                  <a:t> de </a:t>
                </a:r>
                <a:r>
                  <a:rPr lang="en-US" dirty="0" err="1"/>
                  <a:t>algoritmul</a:t>
                </a:r>
                <a:r>
                  <a:rPr lang="en-US" dirty="0"/>
                  <a:t> </a:t>
                </a:r>
                <a:r>
                  <a:rPr lang="en-US" dirty="0" err="1"/>
                  <a:t>secvenţial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27652" name="Rectangle 3"/>
              <p:cNvSpPr>
                <a:spLocks noGrp="1" noChangeArrowheads="1"/>
              </p:cNvSpPr>
              <p:nvPr>
                <p:ph type="body" idx="1"/>
              </p:nvPr>
            </p:nvSpPr>
            <p:spPr bwMode="auto"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err="1">
                    <a:latin typeface="+mj-lt"/>
                  </a:rPr>
                  <a:t>Costul</a:t>
                </a:r>
                <a:r>
                  <a:rPr lang="en-US" sz="1200" dirty="0">
                    <a:latin typeface="+mj-lt"/>
                  </a:rPr>
                  <a:t> </a:t>
                </a:r>
                <a:r>
                  <a:rPr lang="en-US" sz="1200" dirty="0" err="1">
                    <a:latin typeface="+mj-lt"/>
                  </a:rPr>
                  <a:t>unui</a:t>
                </a:r>
                <a:r>
                  <a:rPr lang="en-US" sz="1200" dirty="0">
                    <a:latin typeface="+mj-lt"/>
                  </a:rPr>
                  <a:t> </a:t>
                </a:r>
                <a:r>
                  <a:rPr lang="en-US" sz="1200" dirty="0" err="1">
                    <a:latin typeface="+mj-lt"/>
                  </a:rPr>
                  <a:t>algoritm</a:t>
                </a:r>
                <a:r>
                  <a:rPr lang="en-US" sz="1200" dirty="0">
                    <a:latin typeface="+mj-lt"/>
                  </a:rPr>
                  <a:t> se define</a:t>
                </a:r>
                <a:r>
                  <a:rPr lang="ro-RO" sz="1200" dirty="0" err="1">
                    <a:latin typeface="+mj-lt"/>
                  </a:rPr>
                  <a:t>ște</a:t>
                </a:r>
                <a:r>
                  <a:rPr lang="ro-RO" sz="1200" dirty="0">
                    <a:latin typeface="+mj-lt"/>
                  </a:rPr>
                  <a:t> ca </a:t>
                </a:r>
                <a:r>
                  <a:rPr lang="ro-RO" sz="1200" dirty="0">
                    <a:solidFill>
                      <a:srgbClr val="FF0000"/>
                    </a:solidFill>
                    <a:latin typeface="+mj-lt"/>
                  </a:rPr>
                  <a:t>produsul dintre numărul de procesoare folosite și timpul de rulare</a:t>
                </a:r>
                <a:r>
                  <a:rPr lang="en-US" sz="1200" dirty="0">
                    <a:latin typeface="+mj-lt"/>
                  </a:rPr>
                  <a:t>. </a:t>
                </a:r>
                <a:endParaRPr lang="ro-RO" sz="1200" dirty="0">
                  <a:latin typeface="+mj-l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o-RO" sz="1200" dirty="0">
                    <a:latin typeface="+mj-lt"/>
                  </a:rPr>
                  <a:t>Un algoritm paralel </a:t>
                </a:r>
                <a:r>
                  <a:rPr lang="en-US" sz="1200" dirty="0">
                    <a:solidFill>
                      <a:srgbClr val="FF0000"/>
                    </a:solidFill>
                    <a:latin typeface="+mj-lt"/>
                  </a:rPr>
                  <a:t>cost optimal</a:t>
                </a:r>
                <a:r>
                  <a:rPr lang="en-US" sz="1200" dirty="0">
                    <a:latin typeface="+mj-lt"/>
                  </a:rPr>
                  <a:t> </a:t>
                </a:r>
                <a:r>
                  <a:rPr lang="ro-RO" sz="1200" dirty="0">
                    <a:latin typeface="+mj-lt"/>
                  </a:rPr>
                  <a:t>este unul pentru care costul este </a:t>
                </a:r>
                <a:r>
                  <a:rPr lang="el-GR" sz="120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θ</a:t>
                </a:r>
                <a:r>
                  <a:rPr lang="en-US" sz="12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1200" dirty="0">
                    <a:latin typeface="+mj-lt"/>
                  </a:rPr>
                  <a:t>(</a:t>
                </a:r>
                <a:r>
                  <a:rPr lang="ro-RO" sz="1200" dirty="0">
                    <a:latin typeface="+mj-lt"/>
                  </a:rPr>
                  <a:t>timpul de execuție secvențial</a:t>
                </a:r>
                <a:r>
                  <a:rPr lang="en-US" sz="1200" dirty="0">
                    <a:latin typeface="+mj-lt"/>
                  </a:rPr>
                  <a:t>). </a:t>
                </a:r>
                <a:endParaRPr lang="en-US" b="1" dirty="0"/>
              </a:p>
              <a:p>
                <a:endParaRPr lang="en-US" dirty="0"/>
              </a:p>
              <a:p>
                <a:r>
                  <a:rPr lang="en-US" dirty="0"/>
                  <a:t>Deci,  </a:t>
                </a:r>
                <a:r>
                  <a:rPr lang="en-US" dirty="0" err="1"/>
                  <a:t>numărul</a:t>
                </a:r>
                <a:r>
                  <a:rPr lang="en-US" dirty="0"/>
                  <a:t> de </a:t>
                </a:r>
                <a:r>
                  <a:rPr lang="en-US" dirty="0" err="1"/>
                  <a:t>iteraţii</a:t>
                </a:r>
                <a:r>
                  <a:rPr lang="en-US" dirty="0"/>
                  <a:t> </a:t>
                </a:r>
                <a:r>
                  <a:rPr lang="en-US" dirty="0" err="1"/>
                  <a:t>cerute</a:t>
                </a:r>
                <a:r>
                  <a:rPr lang="en-US" dirty="0"/>
                  <a:t> de </a:t>
                </a:r>
                <a:r>
                  <a:rPr lang="en-US" dirty="0" err="1"/>
                  <a:t>orice</a:t>
                </a:r>
                <a:r>
                  <a:rPr lang="en-US" dirty="0"/>
                  <a:t> </a:t>
                </a:r>
                <a:r>
                  <a:rPr lang="en-US" dirty="0" err="1"/>
                  <a:t>algoritm</a:t>
                </a:r>
                <a:r>
                  <a:rPr lang="en-US" dirty="0"/>
                  <a:t> </a:t>
                </a:r>
                <a:r>
                  <a:rPr lang="en-US" dirty="0" err="1"/>
                  <a:t>paralel</a:t>
                </a:r>
                <a:r>
                  <a:rPr lang="en-US" dirty="0"/>
                  <a:t> </a:t>
                </a:r>
                <a:r>
                  <a:rPr lang="en-US" dirty="0" err="1"/>
                  <a:t>trebuie</a:t>
                </a:r>
                <a:r>
                  <a:rPr lang="en-US" dirty="0"/>
                  <a:t>  </a:t>
                </a:r>
                <a:r>
                  <a:rPr lang="en-US" dirty="0" err="1"/>
                  <a:t>să</a:t>
                </a:r>
                <a:r>
                  <a:rPr lang="en-US" dirty="0"/>
                  <a:t>  fie </a:t>
                </a:r>
                <a:r>
                  <a:rPr lang="en-US" dirty="0" err="1"/>
                  <a:t>mai</a:t>
                </a:r>
                <a:r>
                  <a:rPr lang="en-US" dirty="0"/>
                  <a:t> mare de </a:t>
                </a:r>
                <a:r>
                  <a:rPr lang="en-US" dirty="0" err="1"/>
                  <a:t>cel</a:t>
                </a:r>
                <a:r>
                  <a:rPr lang="en-US" dirty="0"/>
                  <a:t> </a:t>
                </a:r>
                <a:r>
                  <a:rPr lang="en-US" dirty="0" err="1"/>
                  <a:t>mai</a:t>
                </a:r>
                <a:r>
                  <a:rPr lang="en-US" dirty="0"/>
                  <a:t> mic </a:t>
                </a:r>
                <a:r>
                  <a:rPr lang="en-US" b="1" dirty="0"/>
                  <a:t>g</a:t>
                </a:r>
                <a:r>
                  <a:rPr lang="en-US" dirty="0"/>
                  <a:t> </a:t>
                </a:r>
                <a:r>
                  <a:rPr lang="en-US" dirty="0" err="1"/>
                  <a:t>pentru</a:t>
                </a:r>
                <a:r>
                  <a:rPr lang="en-US" dirty="0"/>
                  <a:t> care </a:t>
                </a:r>
                <a:r>
                  <a:rPr lang="en-US" dirty="0" err="1"/>
                  <a:t>avem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     [(n+1)/(N+1)g]-1 &lt;=0, </a:t>
                </a:r>
                <a:r>
                  <a:rPr lang="en-US" dirty="0" err="1"/>
                  <a:t>adică</a:t>
                </a:r>
                <a:endParaRPr lang="en-US" dirty="0"/>
              </a:p>
              <a:p>
                <a:r>
                  <a:rPr lang="en-US" dirty="0"/>
                  <a:t>     g = sup(log(n+1)/log(N+1)).</a:t>
                </a:r>
              </a:p>
              <a:p>
                <a:r>
                  <a:rPr lang="en-US" dirty="0" err="1"/>
                  <a:t>În</a:t>
                </a:r>
                <a:r>
                  <a:rPr lang="en-US" dirty="0"/>
                  <a:t> </a:t>
                </a:r>
                <a:r>
                  <a:rPr lang="en-US" dirty="0" err="1"/>
                  <a:t>cazul</a:t>
                </a:r>
                <a:r>
                  <a:rPr lang="en-US" dirty="0"/>
                  <a:t> </a:t>
                </a:r>
                <a:r>
                  <a:rPr lang="en-US" dirty="0" err="1"/>
                  <a:t>în</a:t>
                </a:r>
                <a:r>
                  <a:rPr lang="en-US" dirty="0"/>
                  <a:t> care N=n </a:t>
                </a:r>
                <a:r>
                  <a:rPr lang="en-US" dirty="0" err="1"/>
                  <a:t>problema</a:t>
                </a:r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rezolvată</a:t>
                </a:r>
                <a:r>
                  <a:rPr lang="en-US" dirty="0"/>
                  <a:t> </a:t>
                </a:r>
                <a:r>
                  <a:rPr lang="en-US" dirty="0" err="1"/>
                  <a:t>în</a:t>
                </a:r>
                <a:r>
                  <a:rPr lang="en-US" dirty="0"/>
                  <a:t> </a:t>
                </a:r>
                <a:r>
                  <a:rPr lang="en-US" dirty="0" err="1"/>
                  <a:t>timp</a:t>
                </a:r>
                <a:r>
                  <a:rPr lang="en-US" dirty="0"/>
                  <a:t> constant.</a:t>
                </a:r>
              </a:p>
              <a:p>
                <a:endParaRPr lang="en-US" dirty="0"/>
              </a:p>
              <a:p>
                <a:r>
                  <a:rPr lang="en-US" dirty="0" err="1"/>
                  <a:t>În</a:t>
                </a:r>
                <a:r>
                  <a:rPr lang="en-US" dirty="0"/>
                  <a:t>  </a:t>
                </a:r>
                <a:r>
                  <a:rPr lang="en-US" dirty="0" err="1"/>
                  <a:t>privinţa</a:t>
                </a:r>
                <a:r>
                  <a:rPr lang="en-US" dirty="0"/>
                  <a:t> </a:t>
                </a:r>
                <a:r>
                  <a:rPr lang="en-US" dirty="0" err="1"/>
                  <a:t>cerinţei</a:t>
                </a:r>
                <a:r>
                  <a:rPr lang="en-US" dirty="0"/>
                  <a:t> ca </a:t>
                </a:r>
                <a:r>
                  <a:rPr lang="en-US" dirty="0" err="1"/>
                  <a:t>toate</a:t>
                </a:r>
                <a:r>
                  <a:rPr lang="en-US" dirty="0"/>
                  <a:t> </a:t>
                </a:r>
                <a:r>
                  <a:rPr lang="en-US" dirty="0" err="1"/>
                  <a:t>elementele</a:t>
                </a:r>
                <a:r>
                  <a:rPr lang="en-US" dirty="0"/>
                  <a:t> </a:t>
                </a:r>
                <a:r>
                  <a:rPr lang="en-US" dirty="0" err="1"/>
                  <a:t>secvenţei</a:t>
                </a:r>
                <a:r>
                  <a:rPr lang="en-US" dirty="0"/>
                  <a:t> S </a:t>
                </a:r>
                <a:r>
                  <a:rPr lang="en-US" dirty="0" err="1"/>
                  <a:t>să</a:t>
                </a:r>
                <a:r>
                  <a:rPr lang="en-US" dirty="0"/>
                  <a:t> fie </a:t>
                </a:r>
                <a:r>
                  <a:rPr lang="en-US" b="1" dirty="0" err="1"/>
                  <a:t>distincte</a:t>
                </a:r>
                <a:r>
                  <a:rPr lang="en-US" dirty="0"/>
                  <a:t>, </a:t>
                </a:r>
                <a:r>
                  <a:rPr lang="en-US" dirty="0" err="1"/>
                  <a:t>ea</a:t>
                </a:r>
                <a:r>
                  <a:rPr lang="en-US" dirty="0"/>
                  <a:t> </a:t>
                </a:r>
                <a:r>
                  <a:rPr lang="en-US" dirty="0" err="1"/>
                  <a:t>poate</a:t>
                </a:r>
                <a:r>
                  <a:rPr lang="en-US" dirty="0"/>
                  <a:t> fi </a:t>
                </a:r>
                <a:r>
                  <a:rPr lang="en-US" dirty="0" err="1"/>
                  <a:t>înlăturată</a:t>
                </a:r>
                <a:r>
                  <a:rPr lang="en-US" dirty="0"/>
                  <a:t> </a:t>
                </a:r>
                <a:r>
                  <a:rPr lang="en-US" dirty="0" err="1"/>
                  <a:t>dacă</a:t>
                </a:r>
                <a:r>
                  <a:rPr lang="en-US" dirty="0"/>
                  <a:t> </a:t>
                </a:r>
                <a:r>
                  <a:rPr lang="en-US" dirty="0" err="1"/>
                  <a:t>actualizarea</a:t>
                </a:r>
                <a:r>
                  <a:rPr lang="en-US" dirty="0"/>
                  <a:t> </a:t>
                </a:r>
                <a:r>
                  <a:rPr lang="en-US" dirty="0" err="1"/>
                  <a:t>lui</a:t>
                </a:r>
                <a:r>
                  <a:rPr lang="en-US" dirty="0"/>
                  <a:t> </a:t>
                </a:r>
                <a:r>
                  <a:rPr lang="en-US" b="1" dirty="0"/>
                  <a:t>k</a:t>
                </a:r>
                <a:r>
                  <a:rPr lang="en-US" dirty="0"/>
                  <a:t> la </a:t>
                </a:r>
                <a:r>
                  <a:rPr lang="en-US" dirty="0" err="1"/>
                  <a:t>găsirea</a:t>
                </a:r>
                <a:r>
                  <a:rPr lang="en-US" dirty="0"/>
                  <a:t> </a:t>
                </a:r>
                <a:r>
                  <a:rPr lang="en-US" dirty="0" err="1"/>
                  <a:t>unei</a:t>
                </a:r>
                <a:r>
                  <a:rPr lang="en-US" dirty="0"/>
                  <a:t> </a:t>
                </a:r>
                <a:r>
                  <a:rPr lang="en-US" dirty="0" err="1"/>
                  <a:t>coincidenţe</a:t>
                </a:r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realizată</a:t>
                </a:r>
                <a:r>
                  <a:rPr lang="en-US" dirty="0"/>
                  <a:t> </a:t>
                </a:r>
                <a:r>
                  <a:rPr lang="en-US" dirty="0" err="1"/>
                  <a:t>printr</a:t>
                </a:r>
                <a:r>
                  <a:rPr lang="en-US" dirty="0"/>
                  <a:t>-o  </a:t>
                </a:r>
                <a:r>
                  <a:rPr lang="en-US" dirty="0" err="1"/>
                  <a:t>procedură</a:t>
                </a:r>
                <a:r>
                  <a:rPr lang="en-US" dirty="0"/>
                  <a:t>  </a:t>
                </a:r>
                <a:r>
                  <a:rPr lang="en-US" dirty="0" err="1"/>
                  <a:t>specială</a:t>
                </a:r>
                <a:r>
                  <a:rPr lang="en-US" dirty="0"/>
                  <a:t> care  </a:t>
                </a:r>
                <a:r>
                  <a:rPr lang="en-US" dirty="0" err="1"/>
                  <a:t>evită</a:t>
                </a:r>
                <a:r>
                  <a:rPr lang="en-US" dirty="0"/>
                  <a:t>  </a:t>
                </a:r>
                <a:r>
                  <a:rPr lang="en-US" dirty="0" err="1"/>
                  <a:t>conflictele</a:t>
                </a:r>
                <a:r>
                  <a:rPr lang="en-US" dirty="0"/>
                  <a:t>  de  </a:t>
                </a:r>
                <a:r>
                  <a:rPr lang="en-US" dirty="0" err="1"/>
                  <a:t>acces</a:t>
                </a:r>
                <a:r>
                  <a:rPr lang="en-US" dirty="0"/>
                  <a:t> </a:t>
                </a:r>
                <a:r>
                  <a:rPr lang="en-US" dirty="0" err="1"/>
                  <a:t>simultan</a:t>
                </a:r>
                <a:r>
                  <a:rPr lang="en-US" dirty="0"/>
                  <a:t>  (</a:t>
                </a:r>
                <a:r>
                  <a:rPr lang="en-US" dirty="0" err="1"/>
                  <a:t>modelele</a:t>
                </a:r>
                <a:r>
                  <a:rPr lang="en-US" dirty="0"/>
                  <a:t> </a:t>
                </a:r>
                <a:r>
                  <a:rPr lang="en-US" dirty="0" err="1"/>
                  <a:t>folosite</a:t>
                </a:r>
                <a:r>
                  <a:rPr lang="en-US" dirty="0"/>
                  <a:t> </a:t>
                </a:r>
                <a:r>
                  <a:rPr lang="en-US" dirty="0" err="1"/>
                  <a:t>până</a:t>
                </a:r>
                <a:r>
                  <a:rPr lang="en-US" dirty="0"/>
                  <a:t> </a:t>
                </a:r>
                <a:r>
                  <a:rPr lang="en-US" dirty="0" err="1"/>
                  <a:t>acum</a:t>
                </a:r>
                <a:r>
                  <a:rPr lang="en-US" dirty="0"/>
                  <a:t> </a:t>
                </a:r>
                <a:r>
                  <a:rPr lang="en-US" dirty="0" err="1"/>
                  <a:t>sunt</a:t>
                </a:r>
                <a:r>
                  <a:rPr lang="en-US" dirty="0"/>
                  <a:t> cu </a:t>
                </a:r>
                <a:r>
                  <a:rPr lang="en-US" dirty="0" err="1"/>
                  <a:t>scriere</a:t>
                </a:r>
                <a:r>
                  <a:rPr lang="en-US" dirty="0"/>
                  <a:t>  </a:t>
                </a:r>
                <a:r>
                  <a:rPr lang="en-US" dirty="0" err="1"/>
                  <a:t>exclusivă</a:t>
                </a:r>
                <a:r>
                  <a:rPr lang="en-US" dirty="0"/>
                  <a:t>).  </a:t>
                </a:r>
                <a:r>
                  <a:rPr lang="en-US" dirty="0" err="1"/>
                  <a:t>Această</a:t>
                </a:r>
                <a:r>
                  <a:rPr lang="en-US" dirty="0"/>
                  <a:t> </a:t>
                </a:r>
                <a:r>
                  <a:rPr lang="en-US" dirty="0" err="1"/>
                  <a:t>procedură</a:t>
                </a:r>
                <a:r>
                  <a:rPr lang="en-US" dirty="0"/>
                  <a:t>  </a:t>
                </a:r>
                <a:r>
                  <a:rPr lang="en-US" dirty="0" err="1"/>
                  <a:t>ia</a:t>
                </a:r>
                <a:r>
                  <a:rPr lang="en-US" dirty="0"/>
                  <a:t>  un  </a:t>
                </a:r>
                <a:r>
                  <a:rPr lang="en-US" dirty="0" err="1"/>
                  <a:t>timp</a:t>
                </a:r>
                <a:r>
                  <a:rPr lang="en-US" dirty="0"/>
                  <a:t>  O(log  N), </a:t>
                </a:r>
                <a:r>
                  <a:rPr lang="en-US" dirty="0" err="1"/>
                  <a:t>mărind</a:t>
                </a:r>
                <a:r>
                  <a:rPr lang="en-US" dirty="0"/>
                  <a:t>  </a:t>
                </a:r>
                <a:r>
                  <a:rPr lang="en-US" dirty="0" err="1"/>
                  <a:t>astfel</a:t>
                </a:r>
                <a:r>
                  <a:rPr lang="en-US" dirty="0"/>
                  <a:t>  </a:t>
                </a:r>
                <a:r>
                  <a:rPr lang="en-US" dirty="0" err="1"/>
                  <a:t>timpul</a:t>
                </a:r>
                <a:r>
                  <a:rPr lang="en-US" dirty="0"/>
                  <a:t>  de  </a:t>
                </a:r>
                <a:r>
                  <a:rPr lang="en-US" dirty="0" err="1"/>
                  <a:t>execuţie</a:t>
                </a:r>
                <a:r>
                  <a:rPr lang="en-US" dirty="0"/>
                  <a:t>  al </a:t>
                </a:r>
                <a:r>
                  <a:rPr lang="en-US" dirty="0" err="1"/>
                  <a:t>algoritmului</a:t>
                </a:r>
                <a:r>
                  <a:rPr lang="en-US" dirty="0"/>
                  <a:t> la: </a:t>
                </a:r>
              </a:p>
              <a:p>
                <a:r>
                  <a:rPr lang="en-US" dirty="0"/>
                  <a:t>     t(n) = O(log(n+1)/log(N+1)) + O(log N). </a:t>
                </a:r>
              </a:p>
              <a:p>
                <a:r>
                  <a:rPr lang="en-US" dirty="0" err="1"/>
                  <a:t>Putem</a:t>
                </a:r>
                <a:r>
                  <a:rPr lang="en-US" dirty="0"/>
                  <a:t>  </a:t>
                </a:r>
                <a:r>
                  <a:rPr lang="en-US" dirty="0" err="1"/>
                  <a:t>aprecia</a:t>
                </a:r>
                <a:r>
                  <a:rPr lang="en-US" dirty="0"/>
                  <a:t> </a:t>
                </a:r>
                <a:r>
                  <a:rPr lang="en-US" dirty="0" err="1"/>
                  <a:t>importanţa</a:t>
                </a:r>
                <a:r>
                  <a:rPr lang="en-US" dirty="0"/>
                  <a:t> </a:t>
                </a:r>
                <a:r>
                  <a:rPr lang="en-US" dirty="0" err="1"/>
                  <a:t>acestui</a:t>
                </a:r>
                <a:r>
                  <a:rPr lang="en-US" dirty="0"/>
                  <a:t> </a:t>
                </a:r>
                <a:r>
                  <a:rPr lang="en-US" dirty="0" err="1"/>
                  <a:t>timp</a:t>
                </a:r>
                <a:r>
                  <a:rPr lang="en-US" dirty="0"/>
                  <a:t> </a:t>
                </a:r>
                <a:r>
                  <a:rPr lang="en-US" dirty="0" err="1"/>
                  <a:t>suplimentar</a:t>
                </a:r>
                <a:r>
                  <a:rPr lang="en-US" dirty="0"/>
                  <a:t> </a:t>
                </a:r>
                <a:r>
                  <a:rPr lang="en-US" dirty="0" err="1"/>
                  <a:t>dacă</a:t>
                </a:r>
                <a:r>
                  <a:rPr lang="en-US" dirty="0"/>
                  <a:t> </a:t>
                </a:r>
                <a:r>
                  <a:rPr lang="en-US" dirty="0" err="1"/>
                  <a:t>luăm</a:t>
                </a:r>
                <a:r>
                  <a:rPr lang="en-US" dirty="0"/>
                  <a:t> </a:t>
                </a:r>
                <a:r>
                  <a:rPr lang="en-US" dirty="0" err="1"/>
                  <a:t>cazul</a:t>
                </a:r>
                <a:r>
                  <a:rPr lang="en-US" dirty="0"/>
                  <a:t>  N=n,  </a:t>
                </a:r>
                <a:r>
                  <a:rPr lang="en-US" dirty="0" err="1"/>
                  <a:t>în</a:t>
                </a:r>
                <a:r>
                  <a:rPr lang="en-US" dirty="0"/>
                  <a:t> care nu se </a:t>
                </a:r>
                <a:r>
                  <a:rPr lang="en-US" dirty="0" err="1"/>
                  <a:t>realizează</a:t>
                </a:r>
                <a:r>
                  <a:rPr lang="en-US" dirty="0"/>
                  <a:t> </a:t>
                </a:r>
                <a:r>
                  <a:rPr lang="en-US" dirty="0" err="1"/>
                  <a:t>nici</a:t>
                </a:r>
                <a:r>
                  <a:rPr lang="en-US" dirty="0"/>
                  <a:t> o </a:t>
                </a:r>
                <a:r>
                  <a:rPr lang="en-US" dirty="0" err="1"/>
                  <a:t>îmbunătăţire</a:t>
                </a:r>
                <a:r>
                  <a:rPr lang="en-US" dirty="0"/>
                  <a:t> </a:t>
                </a:r>
                <a:r>
                  <a:rPr lang="en-US" dirty="0" err="1"/>
                  <a:t>faţă</a:t>
                </a:r>
                <a:r>
                  <a:rPr lang="en-US" dirty="0"/>
                  <a:t> de </a:t>
                </a:r>
                <a:r>
                  <a:rPr lang="en-US" dirty="0" err="1"/>
                  <a:t>algoritmul</a:t>
                </a:r>
                <a:r>
                  <a:rPr lang="en-US" dirty="0"/>
                  <a:t> </a:t>
                </a:r>
                <a:r>
                  <a:rPr lang="en-US" dirty="0" err="1"/>
                  <a:t>secvenţial</a:t>
                </a:r>
                <a:r>
                  <a:rPr lang="en-US" dirty="0"/>
                  <a:t>.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6006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23900" indent="-361950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82663" indent="-257175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433513" indent="-266700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787525" indent="-258763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de-DE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de-DE" alt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D0BDA4B6-313A-6240-968C-9D21F3807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r>
              <a:rPr lang="en-US" altLang="ro-RO"/>
              <a:t>by Cristian Chilipirea</a:t>
            </a:r>
            <a:endParaRPr lang="en-US" altLang="ro-RO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3CBFFC9-4854-C54F-A873-004D7C04D81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12.png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image" Target="../media/image1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12.png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image" Target="../media/image1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5.png"/><Relationship Id="rId7" Type="http://schemas.openxmlformats.org/officeDocument/2006/relationships/image" Target="../media/image1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18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5.png"/><Relationship Id="rId5" Type="http://schemas.openxmlformats.org/officeDocument/2006/relationships/image" Target="../media/image71.png"/><Relationship Id="rId10" Type="http://schemas.openxmlformats.org/officeDocument/2006/relationships/image" Target="../media/image68.png"/><Relationship Id="rId4" Type="http://schemas.openxmlformats.org/officeDocument/2006/relationships/image" Target="../media/image70.png"/><Relationship Id="rId9" Type="http://schemas.openxmlformats.org/officeDocument/2006/relationships/image" Target="../media/image58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6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7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5.png"/><Relationship Id="rId4" Type="http://schemas.openxmlformats.org/officeDocument/2006/relationships/image" Target="../media/image68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3.png"/><Relationship Id="rId7" Type="http://schemas.openxmlformats.org/officeDocument/2006/relationships/image" Target="../media/image71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5" Type="http://schemas.openxmlformats.org/officeDocument/2006/relationships/image" Target="../media/image500.png"/><Relationship Id="rId10" Type="http://schemas.openxmlformats.org/officeDocument/2006/relationships/image" Target="../media/image100.png"/><Relationship Id="rId4" Type="http://schemas.openxmlformats.org/officeDocument/2006/relationships/image" Target="../media/image400.png"/><Relationship Id="rId9" Type="http://schemas.openxmlformats.org/officeDocument/2006/relationships/image" Target="../media/image910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1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84.png"/><Relationship Id="rId9" Type="http://schemas.openxmlformats.org/officeDocument/2006/relationships/image" Target="../media/image16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86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85.png"/><Relationship Id="rId4" Type="http://schemas.openxmlformats.org/officeDocument/2006/relationships/image" Target="../media/image210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70.png"/><Relationship Id="rId7" Type="http://schemas.openxmlformats.org/officeDocument/2006/relationships/image" Target="../media/image280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88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48908" y="1503680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ro-RO" altLang="en-US" sz="3200" dirty="0">
                <a:ea typeface="ＭＳ Ｐゴシック" panose="020B0600070205080204" pitchFamily="34" charset="-128"/>
              </a:rPr>
              <a:t>Arhitecturi Paralele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en-US" altLang="en-US" sz="3200" dirty="0" err="1">
                <a:ea typeface="ＭＳ Ｐゴシック" panose="020B0600070205080204" pitchFamily="34" charset="-128"/>
              </a:rPr>
              <a:t>Abord</a:t>
            </a:r>
            <a:r>
              <a:rPr lang="ro-RO" altLang="en-US" sz="3200" dirty="0" err="1">
                <a:ea typeface="ＭＳ Ｐゴシック" panose="020B0600070205080204" pitchFamily="34" charset="-128"/>
              </a:rPr>
              <a:t>ări</a:t>
            </a:r>
            <a:r>
              <a:rPr lang="ro-RO" altLang="en-US" sz="3200" dirty="0">
                <a:ea typeface="ＭＳ Ｐゴシック" panose="020B0600070205080204" pitchFamily="34" charset="-128"/>
              </a:rPr>
              <a:t> probleme paralele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7BBFF20-5A10-4772-84E9-3920C0722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800" b="1" dirty="0">
                <a:solidFill>
                  <a:schemeClr val="bg1"/>
                </a:solidFill>
              </a:rPr>
              <a:t>Radu-Ioan CIOBANU</a:t>
            </a:r>
          </a:p>
          <a:p>
            <a:pPr algn="r" eaLnBrk="1" hangingPunct="1"/>
            <a:r>
              <a:rPr lang="en-US" altLang="en-US" sz="2400" dirty="0" err="1">
                <a:solidFill>
                  <a:schemeClr val="bg1"/>
                </a:solidFill>
              </a:rPr>
              <a:t>radu.ciobanu</a:t>
            </a:r>
            <a:r>
              <a:rPr lang="ro-RO" altLang="en-US" sz="2400" dirty="0">
                <a:solidFill>
                  <a:schemeClr val="bg1"/>
                </a:solidFill>
              </a:rPr>
              <a:t>@</a:t>
            </a:r>
            <a:r>
              <a:rPr lang="ro-RO" altLang="en-US" sz="2400" dirty="0" err="1">
                <a:solidFill>
                  <a:schemeClr val="bg1"/>
                </a:solidFill>
              </a:rPr>
              <a:t>upb.ro</a:t>
            </a:r>
            <a:endParaRPr lang="de-DE" altLang="en-US" sz="2400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ro-RO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E4E4A6D6-62F4-F34F-B04A-C652C52F2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924" y="4564567"/>
            <a:ext cx="2441750" cy="13727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462EB-03A1-E743-82AC-0C867C440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499868"/>
            <a:ext cx="8515350" cy="458788"/>
          </a:xfrm>
        </p:spPr>
        <p:txBody>
          <a:bodyPr/>
          <a:lstStyle/>
          <a:p>
            <a:r>
              <a:rPr lang="ro-RO" dirty="0"/>
              <a:t>Paralelism: modele </a:t>
            </a:r>
            <a:r>
              <a:rPr lang="ro-RO" dirty="0" err="1"/>
              <a:t>Pipeline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6184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05048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050489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9606" y="1236430"/>
            <a:ext cx="2948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CPU Instruction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Graphics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Various algorithms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509" y="4559672"/>
            <a:ext cx="30572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Un pas poate fi executat de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element </a:t>
            </a:r>
            <a:r>
              <a:rPr lang="en-US" dirty="0"/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3711501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7784" y="2690449"/>
            <a:ext cx="374441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Step1-4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051720" y="3050489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8" idx="3"/>
          </p:cNvCxnSpPr>
          <p:nvPr/>
        </p:nvCxnSpPr>
        <p:spPr>
          <a:xfrm>
            <a:off x="6372200" y="3050489"/>
            <a:ext cx="7200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6200000">
            <a:off x="1441264" y="2865823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1153232" y="2865823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2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824551" y="2865822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3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497238" y="2865822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4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202859" y="2865822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5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-125823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4062328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7784" y="2690449"/>
            <a:ext cx="374441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Step1-4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051720" y="3050489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8" idx="3"/>
          </p:cNvCxnSpPr>
          <p:nvPr/>
        </p:nvCxnSpPr>
        <p:spPr>
          <a:xfrm>
            <a:off x="6372200" y="3050489"/>
            <a:ext cx="7200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6200000">
            <a:off x="8273834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1441264" y="2865823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2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1112583" y="2865822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3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785270" y="2865822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4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490891" y="2865822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5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162209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35182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7784" y="2690449"/>
            <a:ext cx="374441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Step1-4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051720" y="3050489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8" idx="3"/>
          </p:cNvCxnSpPr>
          <p:nvPr/>
        </p:nvCxnSpPr>
        <p:spPr>
          <a:xfrm>
            <a:off x="6372200" y="3050489"/>
            <a:ext cx="7200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6200000">
            <a:off x="8273834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7956376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2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1441264" y="2865822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3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1113951" y="2865822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4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819572" y="2865822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5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490890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224813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7784" y="2690449"/>
            <a:ext cx="374441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Step1-4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051720" y="3050489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8" idx="3"/>
          </p:cNvCxnSpPr>
          <p:nvPr/>
        </p:nvCxnSpPr>
        <p:spPr>
          <a:xfrm>
            <a:off x="6372200" y="3050489"/>
            <a:ext cx="7200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6200000">
            <a:off x="8273834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7956376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2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7605778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3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1441264" y="2865822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4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1146885" y="2865822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5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818203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3387272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7784" y="2690449"/>
            <a:ext cx="374441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Step1-4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051720" y="3050489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8" idx="3"/>
          </p:cNvCxnSpPr>
          <p:nvPr/>
        </p:nvCxnSpPr>
        <p:spPr>
          <a:xfrm>
            <a:off x="6372200" y="3050489"/>
            <a:ext cx="7200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6200000">
            <a:off x="8273834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7956376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2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7605778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3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7253016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4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1441264" y="2865822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5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1112582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3476779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7784" y="2690449"/>
            <a:ext cx="374441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Step1-4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051720" y="3050489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8" idx="3"/>
          </p:cNvCxnSpPr>
          <p:nvPr/>
        </p:nvCxnSpPr>
        <p:spPr>
          <a:xfrm>
            <a:off x="6372200" y="3050489"/>
            <a:ext cx="7200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6200000">
            <a:off x="8273834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7956376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2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7605778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3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7253016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4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6935558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5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1378548" y="28658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03000" y="4490649"/>
                <a:ext cx="6737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𝑒𝑥𝑒𝑐𝑢𝑡𝑖𝑜𝑛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𝑡𝑎𝑠𝑘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𝑒𝑥𝑒𝑐𝑢𝑡𝑖𝑜𝑛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𝑡𝑎𝑠𝑘𝑠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000" y="4490649"/>
                <a:ext cx="6737998" cy="276999"/>
              </a:xfrm>
              <a:prstGeom prst="rect">
                <a:avLst/>
              </a:prstGeom>
              <a:blipFill>
                <a:blip r:embed="rId3"/>
                <a:stretch>
                  <a:fillRect l="-271" t="-2222" r="-271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16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05048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050489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1513272" y="1494555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Task 1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1225240" y="1494555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Task 2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896559" y="149455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Task 3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569246" y="149455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Task 4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274867" y="149455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Task 5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53815" y="1494553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3298842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7030A0"/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05048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050489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977858" y="3618760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Task 1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1225240" y="1494555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Task 2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896559" y="149455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Task 3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569246" y="149455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Task 4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274867" y="149455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Task 5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53815" y="1494553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274504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7030A0"/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05048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050489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2986145" y="3620335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Task 1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977858" y="3618760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Task 2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896559" y="149455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Task 3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569246" y="149455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Task 4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274867" y="149455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Task 5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53815" y="1494553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3039800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7030A0"/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05048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050489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4994432" y="360618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Task 1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2986145" y="360618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Task 2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977857" y="3601206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Task 3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569246" y="149455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Task 4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274867" y="149455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Task 5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53815" y="1494553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1339136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7030A0"/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05048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050489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7002719" y="3601206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Task 1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4994432" y="3605399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Task 2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2986145" y="3601206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Task 3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977857" y="3601206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Task 4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274867" y="149455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Task 5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53815" y="1494553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2924285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05048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050489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8477758" y="547032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Task 1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7002719" y="3601206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Task 2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4994432" y="3601206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Task 3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2986145" y="3601206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Task 4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977857" y="3601205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Task 5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53815" y="1494553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325723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05048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050489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8477758" y="547032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Task 1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8138008" y="547032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Task 2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7002719" y="3601205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Task 3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4994432" y="360120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Task 4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2986145" y="3601205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Task 5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977857" y="3601205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218445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05048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050489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8477758" y="547032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Task 1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8138008" y="547032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Task 2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7768676" y="547032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Task 3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7002719" y="360120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Task 4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4994432" y="3601203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Task 5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2986145" y="3601203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3664496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05048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050489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8477758" y="547032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Task 1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8138008" y="547032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Task 2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7768676" y="547032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Task 3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7399344" y="5474517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Task 4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7002719" y="3620335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Task 5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4994432" y="3620335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455574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05048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050489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8477758" y="547032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Task 1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8138008" y="547032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Task 2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7768676" y="5470324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Task 3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7399344" y="5474517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Task 4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7030011" y="5478710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Task 5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7002719" y="3629215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Task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099664" y="1494707"/>
                <a:ext cx="6064702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Ideal: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𝑠𝑡𝑒𝑝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𝑒𝑥𝑒𝑐𝑢𝑡𝑖𝑜𝑛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𝑡𝑎𝑠𝑘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𝑒𝑥𝑒𝑐𝑢𝑡𝑖𝑜𝑛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𝑠𝑡𝑒𝑝𝑠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664" y="1494707"/>
                <a:ext cx="6064702" cy="526554"/>
              </a:xfrm>
              <a:prstGeom prst="rect">
                <a:avLst/>
              </a:prstGeom>
              <a:blipFill>
                <a:blip r:embed="rId3"/>
                <a:stretch>
                  <a:fillRect l="-804"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-6801" y="4582868"/>
                <a:ext cx="683747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b="1" dirty="0"/>
                  <a:t>După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𝑠𝑡𝑒𝑝𝑠</m:t>
                    </m:r>
                  </m:oMath>
                </a14:m>
                <a:r>
                  <a:rPr lang="en-US" dirty="0"/>
                  <a:t> </a:t>
                </a:r>
                <a:r>
                  <a:rPr lang="ro-RO" dirty="0"/>
                  <a:t>taskuri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𝑒𝑥𝑒𝑐𝑢𝑡𝑖𝑜𝑛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𝑡𝑎𝑠𝑘𝑠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𝑠𝑡𝑒𝑝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𝑒𝑥𝑒𝑐𝑢𝑡𝑖𝑜𝑛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r>
                  <a:rPr lang="ro-RO" b="0" dirty="0"/>
                  <a:t>Un task se termină la fiecare</a:t>
                </a:r>
                <a:r>
                  <a:rPr lang="en-US" b="0" dirty="0"/>
                  <a:t> “step tick”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01" y="4582868"/>
                <a:ext cx="6837471" cy="1200329"/>
              </a:xfrm>
              <a:prstGeom prst="rect">
                <a:avLst/>
              </a:prstGeom>
              <a:blipFill>
                <a:blip r:embed="rId4"/>
                <a:stretch>
                  <a:fillRect l="-741" t="-2083" b="-6250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323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3B8CD-B3E1-40AC-ADD3-A5EEB8B8F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048764"/>
            <a:ext cx="8515350" cy="458788"/>
          </a:xfrm>
        </p:spPr>
        <p:txBody>
          <a:bodyPr/>
          <a:lstStyle/>
          <a:p>
            <a:r>
              <a:rPr lang="en-US" dirty="0" err="1"/>
              <a:t>Sortare</a:t>
            </a:r>
            <a:r>
              <a:rPr lang="en-US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484881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116" y="21144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3797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4356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5098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05901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6704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47385" y="211552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7944" y="211552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4035" y="50120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4716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25275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46017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6820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87623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08304" y="50131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28863" y="50131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29401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334239" y="161037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4920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5479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96221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7024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37827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58508" y="1611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79067" y="1611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7030A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49031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21547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4239" y="161037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4920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5479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96221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417024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37827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58508" y="1611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83423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21547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4239" y="161037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4920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5479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96221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417024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37827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55380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21547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0883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4239" y="161037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4920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5479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96221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417024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6625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21547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0883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4239" y="161037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4920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75479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96221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28713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21547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0883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04359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4239" y="161037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4920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75479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06503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21547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0883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04359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4239" y="161037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4920" y="16109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29882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21547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0883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04359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27673" y="373312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4239" y="161037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023570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21547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0883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04359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27673" y="373312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62711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290883" y="37644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04359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27673" y="373312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9478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84312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304359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27673" y="373312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9478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523735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327673" y="373312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9478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79467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097369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379478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79467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62036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379467" y="374862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028" y="372200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39739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91028" y="372200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772636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422834" y="372200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324342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3927596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5971" y="3933056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7512" y="3927596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7209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179512" y="42876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331640" y="4287636"/>
            <a:ext cx="294331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 flipV="1">
            <a:off x="2353988" y="4287636"/>
            <a:ext cx="293524" cy="5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3392215" y="4287636"/>
            <a:ext cx="2549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>
            <a:off x="4410356" y="4287636"/>
            <a:ext cx="2620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1137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9516" y="3207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3263" y="32023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9897" y="32055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3506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72396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  <a:endCxn id="42" idx="1"/>
          </p:cNvCxnSpPr>
          <p:nvPr/>
        </p:nvCxnSpPr>
        <p:spPr>
          <a:xfrm>
            <a:off x="5435543" y="4287636"/>
            <a:ext cx="260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971600" y="3723713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1989979" y="3729173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3019864" y="3723713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4028783" y="3726919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5053969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17115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96005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S6</a:t>
            </a:r>
          </a:p>
        </p:txBody>
      </p:sp>
      <p:cxnSp>
        <p:nvCxnSpPr>
          <p:cNvPr id="43" name="Straight Arrow Connector 42"/>
          <p:cNvCxnSpPr>
            <a:stCxn id="42" idx="3"/>
            <a:endCxn id="47" idx="1"/>
          </p:cNvCxnSpPr>
          <p:nvPr/>
        </p:nvCxnSpPr>
        <p:spPr>
          <a:xfrm>
            <a:off x="6459152" y="4287636"/>
            <a:ext cx="2604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2" idx="0"/>
            <a:endCxn id="41" idx="2"/>
          </p:cNvCxnSpPr>
          <p:nvPr/>
        </p:nvCxnSpPr>
        <p:spPr>
          <a:xfrm flipH="1" flipV="1">
            <a:off x="6077578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40723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19613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S7</a:t>
            </a:r>
          </a:p>
        </p:txBody>
      </p:sp>
      <p:cxnSp>
        <p:nvCxnSpPr>
          <p:cNvPr id="48" name="Straight Arrow Connector 47"/>
          <p:cNvCxnSpPr>
            <a:stCxn id="47" idx="3"/>
            <a:endCxn id="62" idx="1"/>
          </p:cNvCxnSpPr>
          <p:nvPr/>
        </p:nvCxnSpPr>
        <p:spPr>
          <a:xfrm>
            <a:off x="7482760" y="4287636"/>
            <a:ext cx="2604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7" idx="0"/>
            <a:endCxn id="46" idx="2"/>
          </p:cNvCxnSpPr>
          <p:nvPr/>
        </p:nvCxnSpPr>
        <p:spPr>
          <a:xfrm flipH="1" flipV="1">
            <a:off x="7101186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64330" y="32117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43220" y="3927596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S8</a:t>
            </a:r>
          </a:p>
        </p:txBody>
      </p:sp>
      <p:cxnSp>
        <p:nvCxnSpPr>
          <p:cNvPr id="65" name="Straight Connector 64"/>
          <p:cNvCxnSpPr>
            <a:stCxn id="62" idx="0"/>
            <a:endCxn id="61" idx="2"/>
          </p:cNvCxnSpPr>
          <p:nvPr/>
        </p:nvCxnSpPr>
        <p:spPr>
          <a:xfrm flipH="1" flipV="1">
            <a:off x="8124793" y="3733122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589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Pa</a:t>
            </a:r>
            <a:r>
              <a:rPr lang="ro-RO" sz="2800" dirty="0"/>
              <a:t>ș</a:t>
            </a:r>
            <a:r>
              <a:rPr lang="en-US" sz="2800" dirty="0"/>
              <a:t>ii </a:t>
            </a:r>
            <a:r>
              <a:rPr lang="en-US" sz="2800" dirty="0" err="1"/>
              <a:t>algoritmului</a:t>
            </a:r>
            <a:r>
              <a:rPr lang="en-US" sz="2800" dirty="0"/>
              <a:t> de </a:t>
            </a:r>
            <a:r>
              <a:rPr lang="en-US" sz="2800" dirty="0" err="1"/>
              <a:t>sortare</a:t>
            </a:r>
            <a:endParaRPr lang="en-US" sz="2800" dirty="0"/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2024063" y="3006725"/>
            <a:ext cx="466725" cy="70643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220" name="Line 5"/>
          <p:cNvSpPr>
            <a:spLocks noChangeShapeType="1"/>
          </p:cNvSpPr>
          <p:nvPr/>
        </p:nvSpPr>
        <p:spPr bwMode="auto">
          <a:xfrm>
            <a:off x="2490788" y="3327400"/>
            <a:ext cx="265112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lIns="0" tIns="0" rIns="0" bIns="0"/>
          <a:lstStyle/>
          <a:p>
            <a:endParaRPr lang="en-US"/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1758950" y="3327400"/>
            <a:ext cx="265113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lIns="0" tIns="0" rIns="0" bIns="0"/>
          <a:lstStyle/>
          <a:p>
            <a:endParaRPr lang="en-US"/>
          </a:p>
        </p:txBody>
      </p:sp>
      <p:sp>
        <p:nvSpPr>
          <p:cNvPr id="9222" name="Rectangle 7"/>
          <p:cNvSpPr>
            <a:spLocks noChangeArrowheads="1"/>
          </p:cNvSpPr>
          <p:nvPr/>
        </p:nvSpPr>
        <p:spPr bwMode="auto">
          <a:xfrm>
            <a:off x="3021013" y="3006725"/>
            <a:ext cx="466725" cy="70643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223" name="Line 8"/>
          <p:cNvSpPr>
            <a:spLocks noChangeShapeType="1"/>
          </p:cNvSpPr>
          <p:nvPr/>
        </p:nvSpPr>
        <p:spPr bwMode="auto">
          <a:xfrm>
            <a:off x="3487738" y="3327400"/>
            <a:ext cx="265112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lIns="0" tIns="0" rIns="0" bIns="0"/>
          <a:lstStyle/>
          <a:p>
            <a:endParaRPr lang="en-US"/>
          </a:p>
        </p:txBody>
      </p:sp>
      <p:sp>
        <p:nvSpPr>
          <p:cNvPr id="9224" name="Line 9"/>
          <p:cNvSpPr>
            <a:spLocks noChangeShapeType="1"/>
          </p:cNvSpPr>
          <p:nvPr/>
        </p:nvSpPr>
        <p:spPr bwMode="auto">
          <a:xfrm>
            <a:off x="2755900" y="3327400"/>
            <a:ext cx="265113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lIns="0" tIns="0" rIns="0" bIns="0"/>
          <a:lstStyle/>
          <a:p>
            <a:endParaRPr lang="en-US"/>
          </a:p>
        </p:txBody>
      </p:sp>
      <p:sp>
        <p:nvSpPr>
          <p:cNvPr id="9225" name="Rectangle 10"/>
          <p:cNvSpPr>
            <a:spLocks noChangeArrowheads="1"/>
          </p:cNvSpPr>
          <p:nvPr/>
        </p:nvSpPr>
        <p:spPr bwMode="auto">
          <a:xfrm>
            <a:off x="4017963" y="3006725"/>
            <a:ext cx="466725" cy="70643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226" name="Line 11"/>
          <p:cNvSpPr>
            <a:spLocks noChangeShapeType="1"/>
          </p:cNvSpPr>
          <p:nvPr/>
        </p:nvSpPr>
        <p:spPr bwMode="auto">
          <a:xfrm>
            <a:off x="4484688" y="3327400"/>
            <a:ext cx="265112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lIns="0" tIns="0" rIns="0" bIns="0"/>
          <a:lstStyle/>
          <a:p>
            <a:endParaRPr lang="en-US"/>
          </a:p>
        </p:txBody>
      </p:sp>
      <p:sp>
        <p:nvSpPr>
          <p:cNvPr id="9227" name="Line 12"/>
          <p:cNvSpPr>
            <a:spLocks noChangeShapeType="1"/>
          </p:cNvSpPr>
          <p:nvPr/>
        </p:nvSpPr>
        <p:spPr bwMode="auto">
          <a:xfrm>
            <a:off x="3752850" y="3327400"/>
            <a:ext cx="265113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lIns="0" tIns="0" rIns="0" bIns="0"/>
          <a:lstStyle/>
          <a:p>
            <a:endParaRPr lang="en-US"/>
          </a:p>
        </p:txBody>
      </p:sp>
      <p:sp>
        <p:nvSpPr>
          <p:cNvPr id="9228" name="Rectangle 13"/>
          <p:cNvSpPr>
            <a:spLocks noChangeArrowheads="1"/>
          </p:cNvSpPr>
          <p:nvPr/>
        </p:nvSpPr>
        <p:spPr bwMode="auto">
          <a:xfrm>
            <a:off x="5014913" y="3006725"/>
            <a:ext cx="465137" cy="70643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229" name="Line 14"/>
          <p:cNvSpPr>
            <a:spLocks noChangeShapeType="1"/>
          </p:cNvSpPr>
          <p:nvPr/>
        </p:nvSpPr>
        <p:spPr bwMode="auto">
          <a:xfrm>
            <a:off x="5480050" y="3327400"/>
            <a:ext cx="265113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lIns="0" tIns="0" rIns="0" bIns="0"/>
          <a:lstStyle/>
          <a:p>
            <a:endParaRPr lang="en-US"/>
          </a:p>
        </p:txBody>
      </p:sp>
      <p:sp>
        <p:nvSpPr>
          <p:cNvPr id="9230" name="Line 15"/>
          <p:cNvSpPr>
            <a:spLocks noChangeShapeType="1"/>
          </p:cNvSpPr>
          <p:nvPr/>
        </p:nvSpPr>
        <p:spPr bwMode="auto">
          <a:xfrm>
            <a:off x="4749800" y="3327400"/>
            <a:ext cx="265113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lIns="0" tIns="0" rIns="0" bIns="0"/>
          <a:lstStyle/>
          <a:p>
            <a:endParaRPr lang="en-US"/>
          </a:p>
        </p:txBody>
      </p:sp>
      <p:sp>
        <p:nvSpPr>
          <p:cNvPr id="9231" name="Rectangle 16"/>
          <p:cNvSpPr>
            <a:spLocks noChangeArrowheads="1"/>
          </p:cNvSpPr>
          <p:nvPr/>
        </p:nvSpPr>
        <p:spPr bwMode="auto">
          <a:xfrm>
            <a:off x="6011863" y="3006725"/>
            <a:ext cx="465137" cy="70643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232" name="Line 17"/>
          <p:cNvSpPr>
            <a:spLocks noChangeShapeType="1"/>
          </p:cNvSpPr>
          <p:nvPr/>
        </p:nvSpPr>
        <p:spPr bwMode="auto">
          <a:xfrm>
            <a:off x="5745163" y="3327400"/>
            <a:ext cx="266700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lIns="0" tIns="0" rIns="0" bIns="0"/>
          <a:lstStyle/>
          <a:p>
            <a:endParaRPr lang="en-US"/>
          </a:p>
        </p:txBody>
      </p:sp>
      <p:sp>
        <p:nvSpPr>
          <p:cNvPr id="9239" name="Text Box 24"/>
          <p:cNvSpPr txBox="1">
            <a:spLocks noChangeArrowheads="1"/>
          </p:cNvSpPr>
          <p:nvPr/>
        </p:nvSpPr>
        <p:spPr bwMode="auto">
          <a:xfrm>
            <a:off x="1258888" y="4292600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, </a:t>
            </a:r>
            <a:r>
              <a:rPr lang="en-US" b="1" dirty="0" err="1">
                <a:solidFill>
                  <a:srgbClr val="FF0000"/>
                </a:solidFill>
              </a:rPr>
              <a:t>faza</a:t>
            </a:r>
            <a:r>
              <a:rPr lang="en-US" b="1" dirty="0">
                <a:solidFill>
                  <a:srgbClr val="FF0000"/>
                </a:solidFill>
              </a:rPr>
              <a:t> 1</a:t>
            </a:r>
            <a:r>
              <a:rPr lang="en-US" dirty="0"/>
              <a:t> </a:t>
            </a:r>
            <a:r>
              <a:rPr lang="en-US" dirty="0" err="1"/>
              <a:t>dureaz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2N-1</a:t>
            </a:r>
            <a:r>
              <a:rPr lang="en-US" dirty="0"/>
              <a:t> pa</a:t>
            </a:r>
            <a:r>
              <a:rPr lang="ro-RO" dirty="0"/>
              <a:t>ș</a:t>
            </a:r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1842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7325" y="1421431"/>
            <a:ext cx="8642350" cy="3856855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90000"/>
              </a:lnSpc>
              <a:spcAft>
                <a:spcPts val="600"/>
              </a:spcAft>
              <a:defRPr/>
            </a:pPr>
            <a:r>
              <a:rPr lang="ro-RO" sz="1900" dirty="0"/>
              <a:t>Valorile ordonate sunt scoase prin celula din stânga</a:t>
            </a:r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defRPr/>
            </a:pPr>
            <a:r>
              <a:rPr lang="ro-RO" sz="1900" dirty="0"/>
              <a:t>Variante:</a:t>
            </a:r>
          </a:p>
          <a:p>
            <a:pPr marL="838200" lvl="1" indent="-381000">
              <a:lnSpc>
                <a:spcPct val="90000"/>
              </a:lnSpc>
              <a:spcAft>
                <a:spcPts val="600"/>
              </a:spcAft>
              <a:buFontTx/>
              <a:buAutoNum type="arabicPeriod"/>
              <a:defRPr/>
            </a:pPr>
            <a:r>
              <a:rPr lang="ro-RO" sz="1900" dirty="0"/>
              <a:t>fiecare procesor începe să transmită spre stânga, imediat ce numerele sunt sortate;</a:t>
            </a:r>
          </a:p>
          <a:p>
            <a:pPr marL="838200" lvl="1" indent="-381000">
              <a:lnSpc>
                <a:spcPct val="90000"/>
              </a:lnSpc>
              <a:spcAft>
                <a:spcPts val="600"/>
              </a:spcAft>
              <a:buFontTx/>
              <a:buAutoNum type="arabicPeriod"/>
              <a:defRPr/>
            </a:pPr>
            <a:r>
              <a:rPr lang="ro-RO" sz="1900" dirty="0"/>
              <a:t>cunoscând poziţia sa din vector şi numărând valorile inspectate, fiecare procesor calculează momentul când începe să transmită spre stânga;</a:t>
            </a:r>
          </a:p>
          <a:p>
            <a:pPr marL="838200" lvl="1" indent="-381000">
              <a:lnSpc>
                <a:spcPct val="90000"/>
              </a:lnSpc>
              <a:spcAft>
                <a:spcPts val="600"/>
              </a:spcAft>
              <a:buFontTx/>
              <a:buAutoNum type="arabicPeriod"/>
              <a:defRPr/>
            </a:pPr>
            <a:r>
              <a:rPr lang="ro-RO" sz="1900" dirty="0"/>
              <a:t>procesorul din dreapta începe să transmită spre stânga imediat ce primeşte o valoare; toate celelalte încep să transmită spre stânga imediat ce primesc o valoare din dreapta;</a:t>
            </a:r>
          </a:p>
          <a:p>
            <a:pPr marL="838200" lvl="1" indent="-381000">
              <a:lnSpc>
                <a:spcPct val="90000"/>
              </a:lnSpc>
              <a:spcAft>
                <a:spcPts val="600"/>
              </a:spcAft>
              <a:buFontTx/>
              <a:buAutoNum type="arabicPeriod"/>
              <a:defRPr/>
            </a:pPr>
            <a:r>
              <a:rPr lang="ro-RO" sz="1900" dirty="0"/>
              <a:t>fiecare procesor începe să transmită spre stânga imediat ce nu mai primeşte o valoare dinspre stânga.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Faza</a:t>
            </a:r>
            <a:r>
              <a:rPr lang="en-US" sz="2800" dirty="0"/>
              <a:t> a </a:t>
            </a:r>
            <a:r>
              <a:rPr lang="en-US" sz="2800" dirty="0" err="1"/>
              <a:t>doua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427984" y="5445224"/>
            <a:ext cx="4412939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3568C7"/>
              </a:buClr>
              <a:buFont typeface="Arial" pitchFamily="34" charset="0"/>
              <a:buChar char="•"/>
            </a:pPr>
            <a:r>
              <a:rPr lang="ro-RO" sz="1900" dirty="0">
                <a:latin typeface="+mj-lt"/>
              </a:rPr>
              <a:t>Variantele 1 și 2 i</a:t>
            </a:r>
            <a:r>
              <a:rPr lang="en-US" sz="1900" dirty="0" err="1">
                <a:latin typeface="+mj-lt"/>
              </a:rPr>
              <a:t>mpun</a:t>
            </a:r>
            <a:r>
              <a:rPr lang="en-US" sz="1900" dirty="0">
                <a:latin typeface="+mj-lt"/>
              </a:rPr>
              <a:t> </a:t>
            </a:r>
            <a:r>
              <a:rPr lang="en-US" sz="1900" dirty="0" err="1">
                <a:latin typeface="+mj-lt"/>
              </a:rPr>
              <a:t>cunoa</a:t>
            </a:r>
            <a:r>
              <a:rPr lang="ro-RO" sz="1900" dirty="0">
                <a:latin typeface="+mj-lt"/>
              </a:rPr>
              <a:t>ș</a:t>
            </a:r>
            <a:r>
              <a:rPr lang="en-US" sz="1900" dirty="0" err="1">
                <a:latin typeface="+mj-lt"/>
              </a:rPr>
              <a:t>terea</a:t>
            </a:r>
            <a:endParaRPr lang="ro-RO" sz="1900" dirty="0">
              <a:latin typeface="+mj-lt"/>
            </a:endParaRPr>
          </a:p>
          <a:p>
            <a:pPr marL="800100" lvl="1" indent="-342900">
              <a:buClr>
                <a:srgbClr val="F06157"/>
              </a:buClr>
              <a:buFont typeface="Wingdings" pitchFamily="2" charset="2"/>
              <a:buChar char=""/>
            </a:pPr>
            <a:r>
              <a:rPr lang="en-US" sz="1900" dirty="0" err="1">
                <a:latin typeface="+mj-lt"/>
              </a:rPr>
              <a:t>Pozitiei</a:t>
            </a:r>
            <a:r>
              <a:rPr lang="en-US" sz="1900" dirty="0">
                <a:latin typeface="+mj-lt"/>
              </a:rPr>
              <a:t> </a:t>
            </a:r>
            <a:r>
              <a:rPr lang="en-US" sz="1900" dirty="0" err="1">
                <a:latin typeface="+mj-lt"/>
              </a:rPr>
              <a:t>procesoarelor</a:t>
            </a:r>
            <a:r>
              <a:rPr lang="en-US" sz="1900" dirty="0">
                <a:latin typeface="+mj-lt"/>
              </a:rPr>
              <a:t> in vector</a:t>
            </a:r>
            <a:endParaRPr lang="ro-RO" sz="1900" dirty="0">
              <a:latin typeface="+mj-lt"/>
            </a:endParaRPr>
          </a:p>
          <a:p>
            <a:pPr marL="800100" lvl="1" indent="-342900">
              <a:buClr>
                <a:srgbClr val="F06157"/>
              </a:buClr>
              <a:buFont typeface="Wingdings" pitchFamily="2" charset="2"/>
              <a:buChar char=""/>
            </a:pPr>
            <a:r>
              <a:rPr lang="ro-RO" sz="1900" dirty="0">
                <a:latin typeface="+mj-lt"/>
              </a:rPr>
              <a:t>Contorizarea valorilor</a:t>
            </a:r>
            <a:endParaRPr lang="en-US" sz="1900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0825" y="5445224"/>
            <a:ext cx="322511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3568C7"/>
              </a:buClr>
              <a:buFont typeface="Arial" pitchFamily="34" charset="0"/>
              <a:buChar char="•"/>
            </a:pPr>
            <a:r>
              <a:rPr lang="ro-RO" sz="1900" dirty="0">
                <a:latin typeface="+mj-lt"/>
              </a:rPr>
              <a:t>Complexitate: </a:t>
            </a:r>
          </a:p>
          <a:p>
            <a:pPr marL="800100" lvl="1" indent="-342900">
              <a:buClr>
                <a:srgbClr val="F06157"/>
              </a:buClr>
              <a:buFont typeface="Wingdings" pitchFamily="2" charset="2"/>
              <a:buChar char=""/>
            </a:pPr>
            <a:r>
              <a:rPr lang="ro-RO" sz="1900" dirty="0">
                <a:latin typeface="+mj-lt"/>
              </a:rPr>
              <a:t>metoda 3 → </a:t>
            </a:r>
            <a:r>
              <a:rPr lang="ro-RO" sz="2000" b="1" dirty="0">
                <a:solidFill>
                  <a:srgbClr val="FF0000"/>
                </a:solidFill>
                <a:latin typeface="+mj-lt"/>
              </a:rPr>
              <a:t>4N-3</a:t>
            </a:r>
            <a:r>
              <a:rPr lang="ro-RO" sz="1900" dirty="0">
                <a:latin typeface="+mj-lt"/>
              </a:rPr>
              <a:t> pași</a:t>
            </a:r>
          </a:p>
          <a:p>
            <a:pPr marL="800100" lvl="1" indent="-342900">
              <a:buClr>
                <a:srgbClr val="F06157"/>
              </a:buClr>
              <a:buFont typeface="Wingdings" pitchFamily="2" charset="2"/>
              <a:buChar char=""/>
            </a:pPr>
            <a:r>
              <a:rPr lang="ro-RO" sz="1900" dirty="0">
                <a:latin typeface="+mj-lt"/>
              </a:rPr>
              <a:t>metoda 4 → </a:t>
            </a:r>
            <a:r>
              <a:rPr lang="ro-RO" sz="2000" b="1" dirty="0">
                <a:solidFill>
                  <a:srgbClr val="FF0000"/>
                </a:solidFill>
                <a:latin typeface="+mj-lt"/>
              </a:rPr>
              <a:t>3N-2</a:t>
            </a:r>
            <a:r>
              <a:rPr lang="ro-RO" sz="1900" dirty="0">
                <a:latin typeface="+mj-lt"/>
              </a:rPr>
              <a:t> pași</a:t>
            </a:r>
          </a:p>
          <a:p>
            <a:pPr marL="800100" lvl="1" indent="-342900">
              <a:buClr>
                <a:srgbClr val="F06157"/>
              </a:buClr>
              <a:buFont typeface="Wingdings" pitchFamily="2" charset="2"/>
              <a:buChar char=""/>
            </a:pPr>
            <a:endParaRPr lang="en-US" sz="19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84834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0" y="1124744"/>
            <a:ext cx="9144000" cy="744537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092" y="398230"/>
            <a:ext cx="8534400" cy="381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>
                <a:ea typeface="+mj-ea"/>
                <a:cs typeface="+mj-cs"/>
              </a:rPr>
              <a:t>Metoda</a:t>
            </a:r>
            <a:r>
              <a:rPr lang="en-US" dirty="0">
                <a:ea typeface="+mj-ea"/>
                <a:cs typeface="+mj-cs"/>
              </a:rPr>
              <a:t> 4 </a:t>
            </a:r>
            <a:r>
              <a:rPr lang="en-US" dirty="0" err="1">
                <a:ea typeface="+mj-ea"/>
                <a:cs typeface="+mj-cs"/>
              </a:rPr>
              <a:t>faza</a:t>
            </a:r>
            <a:r>
              <a:rPr lang="en-US" dirty="0">
                <a:ea typeface="+mj-ea"/>
                <a:cs typeface="+mj-cs"/>
              </a:rPr>
              <a:t> 2</a:t>
            </a: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300831" y="5992018"/>
            <a:ext cx="5056188" cy="706438"/>
            <a:chOff x="168275" y="5715000"/>
            <a:chExt cx="5056188" cy="706438"/>
          </a:xfrm>
        </p:grpSpPr>
        <p:sp>
          <p:nvSpPr>
            <p:cNvPr id="9296" name="Rectangle 70"/>
            <p:cNvSpPr>
              <a:spLocks noChangeArrowheads="1"/>
            </p:cNvSpPr>
            <p:nvPr/>
          </p:nvSpPr>
          <p:spPr bwMode="auto">
            <a:xfrm>
              <a:off x="771525" y="57150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97" name="Line 72"/>
            <p:cNvSpPr>
              <a:spLocks noChangeShapeType="1"/>
            </p:cNvSpPr>
            <p:nvPr/>
          </p:nvSpPr>
          <p:spPr bwMode="auto">
            <a:xfrm>
              <a:off x="506413" y="6035675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98" name="Rectangle 74"/>
            <p:cNvSpPr>
              <a:spLocks noChangeArrowheads="1"/>
            </p:cNvSpPr>
            <p:nvPr/>
          </p:nvSpPr>
          <p:spPr bwMode="auto">
            <a:xfrm>
              <a:off x="1768475" y="57150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99" name="Line 76"/>
            <p:cNvSpPr>
              <a:spLocks noChangeShapeType="1"/>
            </p:cNvSpPr>
            <p:nvPr/>
          </p:nvSpPr>
          <p:spPr bwMode="auto">
            <a:xfrm>
              <a:off x="1503363" y="6035675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300" name="Rectangle 78"/>
            <p:cNvSpPr>
              <a:spLocks noChangeArrowheads="1"/>
            </p:cNvSpPr>
            <p:nvPr/>
          </p:nvSpPr>
          <p:spPr bwMode="auto">
            <a:xfrm>
              <a:off x="2765425" y="57150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301" name="Rectangle 82"/>
            <p:cNvSpPr>
              <a:spLocks noChangeArrowheads="1"/>
            </p:cNvSpPr>
            <p:nvPr/>
          </p:nvSpPr>
          <p:spPr bwMode="auto">
            <a:xfrm>
              <a:off x="3762375" y="57150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302" name="Line 83"/>
            <p:cNvSpPr>
              <a:spLocks noChangeShapeType="1"/>
            </p:cNvSpPr>
            <p:nvPr/>
          </p:nvSpPr>
          <p:spPr bwMode="auto">
            <a:xfrm>
              <a:off x="4227513" y="6035675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303" name="Line 84"/>
            <p:cNvSpPr>
              <a:spLocks noChangeShapeType="1"/>
            </p:cNvSpPr>
            <p:nvPr/>
          </p:nvSpPr>
          <p:spPr bwMode="auto">
            <a:xfrm>
              <a:off x="3495675" y="6035675"/>
              <a:ext cx="266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304" name="Rectangle 85"/>
            <p:cNvSpPr>
              <a:spLocks noChangeArrowheads="1"/>
            </p:cNvSpPr>
            <p:nvPr/>
          </p:nvSpPr>
          <p:spPr bwMode="auto">
            <a:xfrm>
              <a:off x="4759325" y="57150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305" name="Text Box 90"/>
            <p:cNvSpPr txBox="1">
              <a:spLocks noChangeArrowheads="1"/>
            </p:cNvSpPr>
            <p:nvPr/>
          </p:nvSpPr>
          <p:spPr bwMode="auto">
            <a:xfrm>
              <a:off x="168275" y="57912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5</a:t>
              </a:r>
            </a:p>
          </p:txBody>
        </p:sp>
        <p:sp>
          <p:nvSpPr>
            <p:cNvPr id="9306" name="Line 83"/>
            <p:cNvSpPr>
              <a:spLocks noChangeShapeType="1"/>
            </p:cNvSpPr>
            <p:nvPr/>
          </p:nvSpPr>
          <p:spPr bwMode="auto">
            <a:xfrm>
              <a:off x="2454275" y="6096000"/>
              <a:ext cx="2651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87" name="Group 86"/>
          <p:cNvGrpSpPr>
            <a:grpSpLocks/>
          </p:cNvGrpSpPr>
          <p:nvPr/>
        </p:nvGrpSpPr>
        <p:grpSpPr bwMode="auto">
          <a:xfrm>
            <a:off x="572294" y="1291431"/>
            <a:ext cx="6511925" cy="706437"/>
            <a:chOff x="439738" y="1014413"/>
            <a:chExt cx="6511925" cy="706437"/>
          </a:xfrm>
        </p:grpSpPr>
        <p:sp>
          <p:nvSpPr>
            <p:cNvPr id="9280" name="Rectangle 70"/>
            <p:cNvSpPr>
              <a:spLocks noChangeArrowheads="1"/>
            </p:cNvSpPr>
            <p:nvPr/>
          </p:nvSpPr>
          <p:spPr bwMode="auto">
            <a:xfrm>
              <a:off x="704850" y="10144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81" name="Line 72"/>
            <p:cNvSpPr>
              <a:spLocks noChangeShapeType="1"/>
            </p:cNvSpPr>
            <p:nvPr/>
          </p:nvSpPr>
          <p:spPr bwMode="auto">
            <a:xfrm>
              <a:off x="439738" y="1335088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82" name="Rectangle 74"/>
            <p:cNvSpPr>
              <a:spLocks noChangeArrowheads="1"/>
            </p:cNvSpPr>
            <p:nvPr/>
          </p:nvSpPr>
          <p:spPr bwMode="auto">
            <a:xfrm>
              <a:off x="1701800" y="10144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83" name="Line 76"/>
            <p:cNvSpPr>
              <a:spLocks noChangeShapeType="1"/>
            </p:cNvSpPr>
            <p:nvPr/>
          </p:nvSpPr>
          <p:spPr bwMode="auto">
            <a:xfrm>
              <a:off x="1436688" y="1335088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84" name="Rectangle 78"/>
            <p:cNvSpPr>
              <a:spLocks noChangeArrowheads="1"/>
            </p:cNvSpPr>
            <p:nvPr/>
          </p:nvSpPr>
          <p:spPr bwMode="auto">
            <a:xfrm>
              <a:off x="2698750" y="10144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85" name="Line 80"/>
            <p:cNvSpPr>
              <a:spLocks noChangeShapeType="1"/>
            </p:cNvSpPr>
            <p:nvPr/>
          </p:nvSpPr>
          <p:spPr bwMode="auto">
            <a:xfrm>
              <a:off x="2433638" y="1335088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86" name="Rectangle 82"/>
            <p:cNvSpPr>
              <a:spLocks noChangeArrowheads="1"/>
            </p:cNvSpPr>
            <p:nvPr/>
          </p:nvSpPr>
          <p:spPr bwMode="auto">
            <a:xfrm>
              <a:off x="3695700" y="10144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87" name="Line 83"/>
            <p:cNvSpPr>
              <a:spLocks noChangeShapeType="1"/>
            </p:cNvSpPr>
            <p:nvPr/>
          </p:nvSpPr>
          <p:spPr bwMode="auto">
            <a:xfrm>
              <a:off x="4160838" y="1335088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88" name="Line 84"/>
            <p:cNvSpPr>
              <a:spLocks noChangeShapeType="1"/>
            </p:cNvSpPr>
            <p:nvPr/>
          </p:nvSpPr>
          <p:spPr bwMode="auto">
            <a:xfrm>
              <a:off x="3429000" y="1335088"/>
              <a:ext cx="266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89" name="Rectangle 85"/>
            <p:cNvSpPr>
              <a:spLocks noChangeArrowheads="1"/>
            </p:cNvSpPr>
            <p:nvPr/>
          </p:nvSpPr>
          <p:spPr bwMode="auto">
            <a:xfrm>
              <a:off x="4692650" y="10144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90" name="Text Box 87"/>
            <p:cNvSpPr txBox="1">
              <a:spLocks noChangeArrowheads="1"/>
            </p:cNvSpPr>
            <p:nvPr/>
          </p:nvSpPr>
          <p:spPr bwMode="auto">
            <a:xfrm>
              <a:off x="5422900" y="1079500"/>
              <a:ext cx="1528763" cy="57785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sfarsit faza 1</a:t>
              </a:r>
            </a:p>
          </p:txBody>
        </p:sp>
        <p:sp>
          <p:nvSpPr>
            <p:cNvPr id="9291" name="Text Box 90"/>
            <p:cNvSpPr txBox="1">
              <a:spLocks noChangeArrowheads="1"/>
            </p:cNvSpPr>
            <p:nvPr/>
          </p:nvSpPr>
          <p:spPr bwMode="auto">
            <a:xfrm>
              <a:off x="4759325" y="11430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5</a:t>
              </a:r>
            </a:p>
          </p:txBody>
        </p:sp>
        <p:sp>
          <p:nvSpPr>
            <p:cNvPr id="9292" name="Text Box 91"/>
            <p:cNvSpPr txBox="1">
              <a:spLocks noChangeArrowheads="1"/>
            </p:cNvSpPr>
            <p:nvPr/>
          </p:nvSpPr>
          <p:spPr bwMode="auto">
            <a:xfrm>
              <a:off x="3762375" y="11430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3</a:t>
              </a:r>
            </a:p>
          </p:txBody>
        </p:sp>
        <p:sp>
          <p:nvSpPr>
            <p:cNvPr id="9293" name="Text Box 92"/>
            <p:cNvSpPr txBox="1">
              <a:spLocks noChangeArrowheads="1"/>
            </p:cNvSpPr>
            <p:nvPr/>
          </p:nvSpPr>
          <p:spPr bwMode="auto">
            <a:xfrm>
              <a:off x="2765425" y="11430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2</a:t>
              </a:r>
            </a:p>
          </p:txBody>
        </p:sp>
        <p:sp>
          <p:nvSpPr>
            <p:cNvPr id="9294" name="Text Box 93"/>
            <p:cNvSpPr txBox="1">
              <a:spLocks noChangeArrowheads="1"/>
            </p:cNvSpPr>
            <p:nvPr/>
          </p:nvSpPr>
          <p:spPr bwMode="auto">
            <a:xfrm>
              <a:off x="1768475" y="11430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1</a:t>
              </a:r>
            </a:p>
          </p:txBody>
        </p:sp>
        <p:sp>
          <p:nvSpPr>
            <p:cNvPr id="9295" name="Text Box 94"/>
            <p:cNvSpPr txBox="1">
              <a:spLocks noChangeArrowheads="1"/>
            </p:cNvSpPr>
            <p:nvPr/>
          </p:nvSpPr>
          <p:spPr bwMode="auto">
            <a:xfrm>
              <a:off x="838200" y="11430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0</a:t>
              </a:r>
            </a:p>
          </p:txBody>
        </p:sp>
      </p:grpSp>
      <p:grpSp>
        <p:nvGrpSpPr>
          <p:cNvPr id="105" name="Group 104"/>
          <p:cNvGrpSpPr>
            <a:grpSpLocks/>
          </p:cNvGrpSpPr>
          <p:nvPr/>
        </p:nvGrpSpPr>
        <p:grpSpPr bwMode="auto">
          <a:xfrm>
            <a:off x="377031" y="2182018"/>
            <a:ext cx="8489950" cy="838200"/>
            <a:chOff x="244475" y="1905000"/>
            <a:chExt cx="8489950" cy="838200"/>
          </a:xfrm>
        </p:grpSpPr>
        <p:sp>
          <p:nvSpPr>
            <p:cNvPr id="9264" name="Rectangle 70"/>
            <p:cNvSpPr>
              <a:spLocks noChangeArrowheads="1"/>
            </p:cNvSpPr>
            <p:nvPr/>
          </p:nvSpPr>
          <p:spPr bwMode="auto">
            <a:xfrm>
              <a:off x="720725" y="20050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65" name="Line 72"/>
            <p:cNvSpPr>
              <a:spLocks noChangeShapeType="1"/>
            </p:cNvSpPr>
            <p:nvPr/>
          </p:nvSpPr>
          <p:spPr bwMode="auto">
            <a:xfrm>
              <a:off x="455613" y="2325688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66" name="Rectangle 74"/>
            <p:cNvSpPr>
              <a:spLocks noChangeArrowheads="1"/>
            </p:cNvSpPr>
            <p:nvPr/>
          </p:nvSpPr>
          <p:spPr bwMode="auto">
            <a:xfrm>
              <a:off x="1717675" y="20050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67" name="Line 76"/>
            <p:cNvSpPr>
              <a:spLocks noChangeShapeType="1"/>
            </p:cNvSpPr>
            <p:nvPr/>
          </p:nvSpPr>
          <p:spPr bwMode="auto">
            <a:xfrm>
              <a:off x="1452563" y="2325688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68" name="Rectangle 78"/>
            <p:cNvSpPr>
              <a:spLocks noChangeArrowheads="1"/>
            </p:cNvSpPr>
            <p:nvPr/>
          </p:nvSpPr>
          <p:spPr bwMode="auto">
            <a:xfrm>
              <a:off x="2714625" y="20050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69" name="Line 80"/>
            <p:cNvSpPr>
              <a:spLocks noChangeShapeType="1"/>
            </p:cNvSpPr>
            <p:nvPr/>
          </p:nvSpPr>
          <p:spPr bwMode="auto">
            <a:xfrm>
              <a:off x="2449513" y="2325688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70" name="Rectangle 82"/>
            <p:cNvSpPr>
              <a:spLocks noChangeArrowheads="1"/>
            </p:cNvSpPr>
            <p:nvPr/>
          </p:nvSpPr>
          <p:spPr bwMode="auto">
            <a:xfrm>
              <a:off x="3711575" y="20050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71" name="Line 83"/>
            <p:cNvSpPr>
              <a:spLocks noChangeShapeType="1"/>
            </p:cNvSpPr>
            <p:nvPr/>
          </p:nvSpPr>
          <p:spPr bwMode="auto">
            <a:xfrm>
              <a:off x="4176713" y="2325688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72" name="Line 84"/>
            <p:cNvSpPr>
              <a:spLocks noChangeShapeType="1"/>
            </p:cNvSpPr>
            <p:nvPr/>
          </p:nvSpPr>
          <p:spPr bwMode="auto">
            <a:xfrm>
              <a:off x="3444875" y="2325688"/>
              <a:ext cx="266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73" name="Rectangle 85"/>
            <p:cNvSpPr>
              <a:spLocks noChangeArrowheads="1"/>
            </p:cNvSpPr>
            <p:nvPr/>
          </p:nvSpPr>
          <p:spPr bwMode="auto">
            <a:xfrm>
              <a:off x="4708525" y="20050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74" name="Text Box 87"/>
            <p:cNvSpPr txBox="1">
              <a:spLocks noChangeArrowheads="1"/>
            </p:cNvSpPr>
            <p:nvPr/>
          </p:nvSpPr>
          <p:spPr bwMode="auto">
            <a:xfrm>
              <a:off x="5410200" y="1905000"/>
              <a:ext cx="3324225" cy="8382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 b="1">
                  <a:latin typeface="Arial" pitchFamily="34" charset="0"/>
                  <a:cs typeface="Arial" pitchFamily="34" charset="0"/>
                </a:rPr>
                <a:t>un pas - procesoarele observa ca nu mai primesc din stanga si transmit in stanga</a:t>
              </a:r>
            </a:p>
          </p:txBody>
        </p:sp>
        <p:sp>
          <p:nvSpPr>
            <p:cNvPr id="9275" name="Text Box 90"/>
            <p:cNvSpPr txBox="1">
              <a:spLocks noChangeArrowheads="1"/>
            </p:cNvSpPr>
            <p:nvPr/>
          </p:nvSpPr>
          <p:spPr bwMode="auto">
            <a:xfrm>
              <a:off x="4435475" y="20574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5</a:t>
              </a:r>
            </a:p>
          </p:txBody>
        </p:sp>
        <p:sp>
          <p:nvSpPr>
            <p:cNvPr id="9276" name="Text Box 91"/>
            <p:cNvSpPr txBox="1">
              <a:spLocks noChangeArrowheads="1"/>
            </p:cNvSpPr>
            <p:nvPr/>
          </p:nvSpPr>
          <p:spPr bwMode="auto">
            <a:xfrm>
              <a:off x="3292475" y="21336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3</a:t>
              </a:r>
            </a:p>
          </p:txBody>
        </p:sp>
        <p:sp>
          <p:nvSpPr>
            <p:cNvPr id="9277" name="Text Box 92"/>
            <p:cNvSpPr txBox="1">
              <a:spLocks noChangeArrowheads="1"/>
            </p:cNvSpPr>
            <p:nvPr/>
          </p:nvSpPr>
          <p:spPr bwMode="auto">
            <a:xfrm>
              <a:off x="2301875" y="21336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2</a:t>
              </a:r>
            </a:p>
          </p:txBody>
        </p:sp>
        <p:sp>
          <p:nvSpPr>
            <p:cNvPr id="9278" name="Text Box 93"/>
            <p:cNvSpPr txBox="1">
              <a:spLocks noChangeArrowheads="1"/>
            </p:cNvSpPr>
            <p:nvPr/>
          </p:nvSpPr>
          <p:spPr bwMode="auto">
            <a:xfrm>
              <a:off x="1235075" y="20574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1</a:t>
              </a:r>
            </a:p>
          </p:txBody>
        </p:sp>
        <p:sp>
          <p:nvSpPr>
            <p:cNvPr id="9279" name="Text Box 94"/>
            <p:cNvSpPr txBox="1">
              <a:spLocks noChangeArrowheads="1"/>
            </p:cNvSpPr>
            <p:nvPr/>
          </p:nvSpPr>
          <p:spPr bwMode="auto">
            <a:xfrm>
              <a:off x="244475" y="19812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0</a:t>
              </a:r>
            </a:p>
          </p:txBody>
        </p:sp>
      </p:grpSp>
      <p:grpSp>
        <p:nvGrpSpPr>
          <p:cNvPr id="123" name="Group 122"/>
          <p:cNvGrpSpPr>
            <a:grpSpLocks/>
          </p:cNvGrpSpPr>
          <p:nvPr/>
        </p:nvGrpSpPr>
        <p:grpSpPr bwMode="auto">
          <a:xfrm>
            <a:off x="377031" y="3196431"/>
            <a:ext cx="8518525" cy="706437"/>
            <a:chOff x="244475" y="2919413"/>
            <a:chExt cx="8518525" cy="706437"/>
          </a:xfrm>
        </p:grpSpPr>
        <p:sp>
          <p:nvSpPr>
            <p:cNvPr id="9249" name="Rectangle 70"/>
            <p:cNvSpPr>
              <a:spLocks noChangeArrowheads="1"/>
            </p:cNvSpPr>
            <p:nvPr/>
          </p:nvSpPr>
          <p:spPr bwMode="auto">
            <a:xfrm>
              <a:off x="781050" y="29194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50" name="Line 72"/>
            <p:cNvSpPr>
              <a:spLocks noChangeShapeType="1"/>
            </p:cNvSpPr>
            <p:nvPr/>
          </p:nvSpPr>
          <p:spPr bwMode="auto">
            <a:xfrm>
              <a:off x="515938" y="3240088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51" name="Rectangle 74"/>
            <p:cNvSpPr>
              <a:spLocks noChangeArrowheads="1"/>
            </p:cNvSpPr>
            <p:nvPr/>
          </p:nvSpPr>
          <p:spPr bwMode="auto">
            <a:xfrm>
              <a:off x="1778000" y="29194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52" name="Line 76"/>
            <p:cNvSpPr>
              <a:spLocks noChangeShapeType="1"/>
            </p:cNvSpPr>
            <p:nvPr/>
          </p:nvSpPr>
          <p:spPr bwMode="auto">
            <a:xfrm>
              <a:off x="1512888" y="3240088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53" name="Rectangle 78"/>
            <p:cNvSpPr>
              <a:spLocks noChangeArrowheads="1"/>
            </p:cNvSpPr>
            <p:nvPr/>
          </p:nvSpPr>
          <p:spPr bwMode="auto">
            <a:xfrm>
              <a:off x="2774950" y="29194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54" name="Line 80"/>
            <p:cNvSpPr>
              <a:spLocks noChangeShapeType="1"/>
            </p:cNvSpPr>
            <p:nvPr/>
          </p:nvSpPr>
          <p:spPr bwMode="auto">
            <a:xfrm>
              <a:off x="2509838" y="3240088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55" name="Rectangle 82"/>
            <p:cNvSpPr>
              <a:spLocks noChangeArrowheads="1"/>
            </p:cNvSpPr>
            <p:nvPr/>
          </p:nvSpPr>
          <p:spPr bwMode="auto">
            <a:xfrm>
              <a:off x="3771900" y="29194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56" name="Line 83"/>
            <p:cNvSpPr>
              <a:spLocks noChangeShapeType="1"/>
            </p:cNvSpPr>
            <p:nvPr/>
          </p:nvSpPr>
          <p:spPr bwMode="auto">
            <a:xfrm>
              <a:off x="4237038" y="3240088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57" name="Line 84"/>
            <p:cNvSpPr>
              <a:spLocks noChangeShapeType="1"/>
            </p:cNvSpPr>
            <p:nvPr/>
          </p:nvSpPr>
          <p:spPr bwMode="auto">
            <a:xfrm>
              <a:off x="3505200" y="3240088"/>
              <a:ext cx="266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58" name="Rectangle 85"/>
            <p:cNvSpPr>
              <a:spLocks noChangeArrowheads="1"/>
            </p:cNvSpPr>
            <p:nvPr/>
          </p:nvSpPr>
          <p:spPr bwMode="auto">
            <a:xfrm>
              <a:off x="4768850" y="2919413"/>
              <a:ext cx="465138" cy="7064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59" name="Text Box 87"/>
            <p:cNvSpPr txBox="1">
              <a:spLocks noChangeArrowheads="1"/>
            </p:cNvSpPr>
            <p:nvPr/>
          </p:nvSpPr>
          <p:spPr bwMode="auto">
            <a:xfrm>
              <a:off x="5499100" y="2984500"/>
              <a:ext cx="3263900" cy="57785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 b="1">
                  <a:latin typeface="Arial" pitchFamily="34" charset="0"/>
                </a:rPr>
                <a:t>un pas – valoarea din dreapta trece la iesirea din stanga</a:t>
              </a:r>
            </a:p>
          </p:txBody>
        </p:sp>
        <p:sp>
          <p:nvSpPr>
            <p:cNvPr id="9260" name="Text Box 90"/>
            <p:cNvSpPr txBox="1">
              <a:spLocks noChangeArrowheads="1"/>
            </p:cNvSpPr>
            <p:nvPr/>
          </p:nvSpPr>
          <p:spPr bwMode="auto">
            <a:xfrm>
              <a:off x="3368675" y="29718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5</a:t>
              </a:r>
            </a:p>
          </p:txBody>
        </p:sp>
        <p:sp>
          <p:nvSpPr>
            <p:cNvPr id="9261" name="Text Box 91"/>
            <p:cNvSpPr txBox="1">
              <a:spLocks noChangeArrowheads="1"/>
            </p:cNvSpPr>
            <p:nvPr/>
          </p:nvSpPr>
          <p:spPr bwMode="auto">
            <a:xfrm>
              <a:off x="2378075" y="30480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3</a:t>
              </a:r>
            </a:p>
          </p:txBody>
        </p:sp>
        <p:sp>
          <p:nvSpPr>
            <p:cNvPr id="9262" name="Text Box 92"/>
            <p:cNvSpPr txBox="1">
              <a:spLocks noChangeArrowheads="1"/>
            </p:cNvSpPr>
            <p:nvPr/>
          </p:nvSpPr>
          <p:spPr bwMode="auto">
            <a:xfrm>
              <a:off x="1387475" y="30480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2</a:t>
              </a:r>
            </a:p>
          </p:txBody>
        </p:sp>
        <p:sp>
          <p:nvSpPr>
            <p:cNvPr id="9263" name="Text Box 93"/>
            <p:cNvSpPr txBox="1">
              <a:spLocks noChangeArrowheads="1"/>
            </p:cNvSpPr>
            <p:nvPr/>
          </p:nvSpPr>
          <p:spPr bwMode="auto">
            <a:xfrm>
              <a:off x="244475" y="30480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1</a:t>
              </a:r>
            </a:p>
          </p:txBody>
        </p:sp>
      </p:grpSp>
      <p:grpSp>
        <p:nvGrpSpPr>
          <p:cNvPr id="140" name="Group 139"/>
          <p:cNvGrpSpPr>
            <a:grpSpLocks/>
          </p:cNvGrpSpPr>
          <p:nvPr/>
        </p:nvGrpSpPr>
        <p:grpSpPr bwMode="auto">
          <a:xfrm>
            <a:off x="377031" y="4163218"/>
            <a:ext cx="4979988" cy="706438"/>
            <a:chOff x="244475" y="3886200"/>
            <a:chExt cx="4979988" cy="706438"/>
          </a:xfrm>
        </p:grpSpPr>
        <p:sp>
          <p:nvSpPr>
            <p:cNvPr id="9236" name="Rectangle 70"/>
            <p:cNvSpPr>
              <a:spLocks noChangeArrowheads="1"/>
            </p:cNvSpPr>
            <p:nvPr/>
          </p:nvSpPr>
          <p:spPr bwMode="auto">
            <a:xfrm>
              <a:off x="771525" y="38862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37" name="Line 72"/>
            <p:cNvSpPr>
              <a:spLocks noChangeShapeType="1"/>
            </p:cNvSpPr>
            <p:nvPr/>
          </p:nvSpPr>
          <p:spPr bwMode="auto">
            <a:xfrm>
              <a:off x="506413" y="4206875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38" name="Rectangle 74"/>
            <p:cNvSpPr>
              <a:spLocks noChangeArrowheads="1"/>
            </p:cNvSpPr>
            <p:nvPr/>
          </p:nvSpPr>
          <p:spPr bwMode="auto">
            <a:xfrm>
              <a:off x="1768475" y="38862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39" name="Line 76"/>
            <p:cNvSpPr>
              <a:spLocks noChangeShapeType="1"/>
            </p:cNvSpPr>
            <p:nvPr/>
          </p:nvSpPr>
          <p:spPr bwMode="auto">
            <a:xfrm>
              <a:off x="1503363" y="4206875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40" name="Rectangle 78"/>
            <p:cNvSpPr>
              <a:spLocks noChangeArrowheads="1"/>
            </p:cNvSpPr>
            <p:nvPr/>
          </p:nvSpPr>
          <p:spPr bwMode="auto">
            <a:xfrm>
              <a:off x="2765425" y="38862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41" name="Rectangle 82"/>
            <p:cNvSpPr>
              <a:spLocks noChangeArrowheads="1"/>
            </p:cNvSpPr>
            <p:nvPr/>
          </p:nvSpPr>
          <p:spPr bwMode="auto">
            <a:xfrm>
              <a:off x="3762375" y="38862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42" name="Line 83"/>
            <p:cNvSpPr>
              <a:spLocks noChangeShapeType="1"/>
            </p:cNvSpPr>
            <p:nvPr/>
          </p:nvSpPr>
          <p:spPr bwMode="auto">
            <a:xfrm>
              <a:off x="4227513" y="4206875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43" name="Line 84"/>
            <p:cNvSpPr>
              <a:spLocks noChangeShapeType="1"/>
            </p:cNvSpPr>
            <p:nvPr/>
          </p:nvSpPr>
          <p:spPr bwMode="auto">
            <a:xfrm>
              <a:off x="3495675" y="4206875"/>
              <a:ext cx="266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44" name="Rectangle 85"/>
            <p:cNvSpPr>
              <a:spLocks noChangeArrowheads="1"/>
            </p:cNvSpPr>
            <p:nvPr/>
          </p:nvSpPr>
          <p:spPr bwMode="auto">
            <a:xfrm>
              <a:off x="4759325" y="38862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45" name="Text Box 90"/>
            <p:cNvSpPr txBox="1">
              <a:spLocks noChangeArrowheads="1"/>
            </p:cNvSpPr>
            <p:nvPr/>
          </p:nvSpPr>
          <p:spPr bwMode="auto">
            <a:xfrm>
              <a:off x="2301875" y="39624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5</a:t>
              </a:r>
            </a:p>
          </p:txBody>
        </p:sp>
        <p:sp>
          <p:nvSpPr>
            <p:cNvPr id="9246" name="Text Box 91"/>
            <p:cNvSpPr txBox="1">
              <a:spLocks noChangeArrowheads="1"/>
            </p:cNvSpPr>
            <p:nvPr/>
          </p:nvSpPr>
          <p:spPr bwMode="auto">
            <a:xfrm>
              <a:off x="1311275" y="40386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3</a:t>
              </a:r>
            </a:p>
          </p:txBody>
        </p:sp>
        <p:sp>
          <p:nvSpPr>
            <p:cNvPr id="9247" name="Text Box 92"/>
            <p:cNvSpPr txBox="1">
              <a:spLocks noChangeArrowheads="1"/>
            </p:cNvSpPr>
            <p:nvPr/>
          </p:nvSpPr>
          <p:spPr bwMode="auto">
            <a:xfrm>
              <a:off x="244475" y="40386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2</a:t>
              </a:r>
            </a:p>
          </p:txBody>
        </p:sp>
        <p:sp>
          <p:nvSpPr>
            <p:cNvPr id="9248" name="Line 83"/>
            <p:cNvSpPr>
              <a:spLocks noChangeShapeType="1"/>
            </p:cNvSpPr>
            <p:nvPr/>
          </p:nvSpPr>
          <p:spPr bwMode="auto">
            <a:xfrm>
              <a:off x="2454275" y="4267200"/>
              <a:ext cx="2651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155" name="Group 154"/>
          <p:cNvGrpSpPr>
            <a:grpSpLocks/>
          </p:cNvGrpSpPr>
          <p:nvPr/>
        </p:nvGrpSpPr>
        <p:grpSpPr bwMode="auto">
          <a:xfrm>
            <a:off x="453231" y="5001418"/>
            <a:ext cx="4903788" cy="706438"/>
            <a:chOff x="320675" y="4724400"/>
            <a:chExt cx="4903788" cy="706438"/>
          </a:xfrm>
        </p:grpSpPr>
        <p:sp>
          <p:nvSpPr>
            <p:cNvPr id="9224" name="Rectangle 70"/>
            <p:cNvSpPr>
              <a:spLocks noChangeArrowheads="1"/>
            </p:cNvSpPr>
            <p:nvPr/>
          </p:nvSpPr>
          <p:spPr bwMode="auto">
            <a:xfrm>
              <a:off x="771525" y="47244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25" name="Line 72"/>
            <p:cNvSpPr>
              <a:spLocks noChangeShapeType="1"/>
            </p:cNvSpPr>
            <p:nvPr/>
          </p:nvSpPr>
          <p:spPr bwMode="auto">
            <a:xfrm>
              <a:off x="506413" y="5045075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26" name="Rectangle 74"/>
            <p:cNvSpPr>
              <a:spLocks noChangeArrowheads="1"/>
            </p:cNvSpPr>
            <p:nvPr/>
          </p:nvSpPr>
          <p:spPr bwMode="auto">
            <a:xfrm>
              <a:off x="1768475" y="47244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27" name="Line 76"/>
            <p:cNvSpPr>
              <a:spLocks noChangeShapeType="1"/>
            </p:cNvSpPr>
            <p:nvPr/>
          </p:nvSpPr>
          <p:spPr bwMode="auto">
            <a:xfrm>
              <a:off x="1503363" y="5045075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28" name="Rectangle 78"/>
            <p:cNvSpPr>
              <a:spLocks noChangeArrowheads="1"/>
            </p:cNvSpPr>
            <p:nvPr/>
          </p:nvSpPr>
          <p:spPr bwMode="auto">
            <a:xfrm>
              <a:off x="2765425" y="47244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29" name="Rectangle 82"/>
            <p:cNvSpPr>
              <a:spLocks noChangeArrowheads="1"/>
            </p:cNvSpPr>
            <p:nvPr/>
          </p:nvSpPr>
          <p:spPr bwMode="auto">
            <a:xfrm>
              <a:off x="3762375" y="47244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30" name="Line 83"/>
            <p:cNvSpPr>
              <a:spLocks noChangeShapeType="1"/>
            </p:cNvSpPr>
            <p:nvPr/>
          </p:nvSpPr>
          <p:spPr bwMode="auto">
            <a:xfrm>
              <a:off x="4227513" y="5045075"/>
              <a:ext cx="265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31" name="Line 84"/>
            <p:cNvSpPr>
              <a:spLocks noChangeShapeType="1"/>
            </p:cNvSpPr>
            <p:nvPr/>
          </p:nvSpPr>
          <p:spPr bwMode="auto">
            <a:xfrm>
              <a:off x="3495675" y="5045075"/>
              <a:ext cx="266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32" name="Rectangle 85"/>
            <p:cNvSpPr>
              <a:spLocks noChangeArrowheads="1"/>
            </p:cNvSpPr>
            <p:nvPr/>
          </p:nvSpPr>
          <p:spPr bwMode="auto">
            <a:xfrm>
              <a:off x="4759325" y="4724400"/>
              <a:ext cx="465138" cy="706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9233" name="Text Box 90"/>
            <p:cNvSpPr txBox="1">
              <a:spLocks noChangeArrowheads="1"/>
            </p:cNvSpPr>
            <p:nvPr/>
          </p:nvSpPr>
          <p:spPr bwMode="auto">
            <a:xfrm>
              <a:off x="1235075" y="47244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5</a:t>
              </a:r>
            </a:p>
          </p:txBody>
        </p:sp>
        <p:sp>
          <p:nvSpPr>
            <p:cNvPr id="9234" name="Text Box 91"/>
            <p:cNvSpPr txBox="1">
              <a:spLocks noChangeArrowheads="1"/>
            </p:cNvSpPr>
            <p:nvPr/>
          </p:nvSpPr>
          <p:spPr bwMode="auto">
            <a:xfrm>
              <a:off x="320675" y="4800600"/>
              <a:ext cx="265113" cy="449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1800" b="1">
                  <a:latin typeface="Arial" pitchFamily="34" charset="0"/>
                </a:rPr>
                <a:t>3</a:t>
              </a:r>
            </a:p>
          </p:txBody>
        </p:sp>
        <p:sp>
          <p:nvSpPr>
            <p:cNvPr id="9235" name="Line 83"/>
            <p:cNvSpPr>
              <a:spLocks noChangeShapeType="1"/>
            </p:cNvSpPr>
            <p:nvPr/>
          </p:nvSpPr>
          <p:spPr bwMode="auto">
            <a:xfrm>
              <a:off x="2454275" y="5029200"/>
              <a:ext cx="2651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231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2798-CF6D-4746-ADAA-66B5B5496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402332"/>
            <a:ext cx="8515350" cy="458788"/>
          </a:xfrm>
        </p:spPr>
        <p:txBody>
          <a:bodyPr/>
          <a:lstStyle/>
          <a:p>
            <a:r>
              <a:rPr lang="en-US" dirty="0" err="1"/>
              <a:t>Calcule</a:t>
            </a:r>
            <a:r>
              <a:rPr lang="en-US" dirty="0"/>
              <a:t> </a:t>
            </a:r>
            <a:r>
              <a:rPr lang="en-US" dirty="0" err="1"/>
              <a:t>polinomiale</a:t>
            </a:r>
            <a:r>
              <a:rPr lang="en-US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037217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66575" y="2564904"/>
                <a:ext cx="8010847" cy="9328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75" y="2564904"/>
                <a:ext cx="8010847" cy="9328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754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2690449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05048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050489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050489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2604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68" y="3284984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1855" y="3284984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142" y="3284984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8429" y="3284984"/>
            <a:ext cx="144016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251520" y="3645024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2123728" y="3645024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4132015" y="3645024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>
            <a:off x="6140302" y="3645024"/>
            <a:ext cx="568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8148589" y="3645024"/>
            <a:ext cx="59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62365" y="1784798"/>
                <a:ext cx="40717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=1+8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(−4)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5" y="1784798"/>
                <a:ext cx="4071756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5805280" y="175493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6083" y="175493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46886" y="175493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7567" y="1755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8126" y="1755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9289" y="125088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430092" y="125088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950895" y="125088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471576" y="125088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992135" y="125088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390283" y="178213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62983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50" y="4514859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2949" y="4514859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4631" y="4514859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2120" y="4511653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351102" y="487489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503230" y="4874899"/>
            <a:ext cx="8897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3120966" y="4874899"/>
            <a:ext cx="8936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 flipV="1">
            <a:off x="4759334" y="4871693"/>
            <a:ext cx="892786" cy="320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 flipV="1">
            <a:off x="6415267" y="4865490"/>
            <a:ext cx="892786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62365" y="1784798"/>
                <a:ext cx="40717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=1+8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(−4)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5" y="1784798"/>
                <a:ext cx="4071756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882727" y="37895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494" y="37895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382" y="37895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4808" y="37895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163" y="37895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601" y="328553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87777" y="328553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77667" y="328553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871566" y="328498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59751" y="328498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308053" y="4505450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8071200" y="4865490"/>
            <a:ext cx="533248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2587" y="384931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1143190" y="4310976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2756957" y="4310976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4386983" y="4310976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6033694" y="4310976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7689626" y="4310976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667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50" y="3434739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2949" y="3434739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4631" y="3434739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2120" y="3431533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351102" y="379477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503230" y="3794779"/>
            <a:ext cx="8897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3120966" y="3794779"/>
            <a:ext cx="8936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 flipV="1">
            <a:off x="4759334" y="3791573"/>
            <a:ext cx="892786" cy="320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 flipV="1">
            <a:off x="6415267" y="3785370"/>
            <a:ext cx="892786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727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494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382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4808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163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601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8777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7766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871566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59751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308053" y="3425330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8071200" y="3785370"/>
            <a:ext cx="533248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2587" y="276919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1143190" y="3230856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2756957" y="3230856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4386983" y="3230856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6033694" y="3230856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7689626" y="3230856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406262" y="14127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262" y="1412776"/>
                <a:ext cx="594971" cy="461665"/>
              </a:xfrm>
              <a:prstGeom prst="rect">
                <a:avLst/>
              </a:prstGeom>
              <a:blipFill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944110" y="1422242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110" y="1422242"/>
                <a:ext cx="594971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19806" y="1412950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6" y="1412950"/>
                <a:ext cx="594971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1868414" y="1422242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414" y="1422242"/>
                <a:ext cx="594971" cy="461665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481958" y="141759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58" y="1417596"/>
                <a:ext cx="594971" cy="461665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4991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50" y="3434739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2949" y="3434739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4631" y="3434739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2120" y="3431533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351102" y="379477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503230" y="3794779"/>
            <a:ext cx="8897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3120966" y="3794779"/>
            <a:ext cx="8936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 flipV="1">
            <a:off x="4759334" y="3791573"/>
            <a:ext cx="892786" cy="320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 flipV="1">
            <a:off x="6415267" y="3785370"/>
            <a:ext cx="892786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727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494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382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4808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163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601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8777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7766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871566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59751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308053" y="3425330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8071200" y="3785370"/>
            <a:ext cx="533248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2587" y="276919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1143190" y="3230856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2756957" y="3230856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4386983" y="3230856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6033694" y="3230856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7689626" y="3230856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406262" y="14127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262" y="1412776"/>
                <a:ext cx="594971" cy="461665"/>
              </a:xfrm>
              <a:prstGeom prst="rect">
                <a:avLst/>
              </a:prstGeom>
              <a:blipFill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944110" y="1422242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110" y="1422242"/>
                <a:ext cx="594971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19806" y="1412950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6" y="1412950"/>
                <a:ext cx="594971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184472" y="3873173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72" y="3873173"/>
                <a:ext cx="594971" cy="461665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481958" y="141759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58" y="1417596"/>
                <a:ext cx="594971" cy="461665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3685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50" y="3434739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B050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2949" y="3434739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4631" y="3434739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2120" y="3431533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351102" y="379477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503230" y="3794779"/>
            <a:ext cx="8897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3120966" y="3794779"/>
            <a:ext cx="8936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 flipV="1">
            <a:off x="4759334" y="3791573"/>
            <a:ext cx="892786" cy="320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 flipV="1">
            <a:off x="6415267" y="3785370"/>
            <a:ext cx="892786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727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494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382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4808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163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601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8777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7766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871566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59751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308053" y="3425330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8071200" y="3785370"/>
            <a:ext cx="533248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2587" y="276919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1143190" y="3230856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2756957" y="3230856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4386983" y="3230856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6033694" y="3230856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7689626" y="3230856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84472" y="3914577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72" y="3914577"/>
                <a:ext cx="594971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944110" y="1422242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110" y="1422242"/>
                <a:ext cx="594971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19806" y="1412950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6" y="1412950"/>
                <a:ext cx="594971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1650603" y="3914577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603" y="3914577"/>
                <a:ext cx="594971" cy="461665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481958" y="141759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58" y="1417596"/>
                <a:ext cx="594971" cy="461665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 rot="16200000">
                <a:off x="1709966" y="3230856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09966" y="3230856"/>
                <a:ext cx="37702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641249" y="4376242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249" y="4376242"/>
                <a:ext cx="594970" cy="4944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756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50" y="3434739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2949" y="3434739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B050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4631" y="3434739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2120" y="3431533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351102" y="379477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503230" y="3794779"/>
            <a:ext cx="8897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3120966" y="3794779"/>
            <a:ext cx="8936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 flipV="1">
            <a:off x="4759334" y="3791573"/>
            <a:ext cx="892786" cy="320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 flipV="1">
            <a:off x="6415267" y="3785370"/>
            <a:ext cx="892786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727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494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382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4808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163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601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8777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7766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871566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59751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308053" y="3425330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8071200" y="3785370"/>
            <a:ext cx="533248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2587" y="276919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1143190" y="3230856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2756957" y="3230856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4386983" y="3230856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6033694" y="3230856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7689626" y="3230856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648631" y="392398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631" y="3923986"/>
                <a:ext cx="594971" cy="461665"/>
              </a:xfrm>
              <a:prstGeom prst="rect">
                <a:avLst/>
              </a:prstGeom>
              <a:blipFill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159995" y="392718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95" y="3927186"/>
                <a:ext cx="594971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19806" y="1412950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6" y="1412950"/>
                <a:ext cx="594971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3269873" y="392398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873" y="3923986"/>
                <a:ext cx="594971" cy="461665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481958" y="141759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58" y="1417596"/>
                <a:ext cx="594971" cy="461665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 rot="16200000">
                <a:off x="3010315" y="2904330"/>
                <a:ext cx="1009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10315" y="2904330"/>
                <a:ext cx="1009507" cy="369332"/>
              </a:xfrm>
              <a:prstGeom prst="rect">
                <a:avLst/>
              </a:prstGeom>
              <a:blipFill>
                <a:blip r:embed="rId8"/>
                <a:stretch>
                  <a:fillRect r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 rot="16200000">
                <a:off x="1709966" y="3230856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09966" y="3230856"/>
                <a:ext cx="3770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3217583" y="4382013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3" y="4382013"/>
                <a:ext cx="594970" cy="4944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1648631" y="4382013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631" y="4382013"/>
                <a:ext cx="594970" cy="4944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1028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50" y="3434739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C000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2949" y="3434739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4631" y="3434739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B050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2120" y="3431533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351102" y="379477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503230" y="3794779"/>
            <a:ext cx="8897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3120966" y="3794779"/>
            <a:ext cx="8936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 flipV="1">
            <a:off x="4759334" y="3791573"/>
            <a:ext cx="892786" cy="320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 flipV="1">
            <a:off x="6415267" y="3785370"/>
            <a:ext cx="892786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727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494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382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4808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163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601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8777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7766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871566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59751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308053" y="3425330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8071200" y="3785370"/>
            <a:ext cx="533248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2587" y="276919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1143190" y="3230856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2756957" y="3230856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4386983" y="3230856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6033694" y="3230856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7689626" y="3230856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217582" y="392398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2" y="3923986"/>
                <a:ext cx="594971" cy="461665"/>
              </a:xfrm>
              <a:prstGeom prst="rect">
                <a:avLst/>
              </a:prstGeom>
              <a:blipFill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1650603" y="39145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603" y="3914576"/>
                <a:ext cx="594971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19806" y="1412950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6" y="1412950"/>
                <a:ext cx="594971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4908241" y="39145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241" y="3914576"/>
                <a:ext cx="594971" cy="461665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88179" y="392398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79" y="3923986"/>
                <a:ext cx="594971" cy="461665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 rot="16200000">
                <a:off x="3010315" y="2904330"/>
                <a:ext cx="1009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10315" y="2904330"/>
                <a:ext cx="100950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 rot="16200000">
                <a:off x="1709966" y="3230856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09966" y="3230856"/>
                <a:ext cx="3770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 rot="16200000">
                <a:off x="4654413" y="2898423"/>
                <a:ext cx="1009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654413" y="2898423"/>
                <a:ext cx="1009507" cy="369332"/>
              </a:xfrm>
              <a:prstGeom prst="rect">
                <a:avLst/>
              </a:prstGeom>
              <a:blipFill>
                <a:blip r:embed="rId10"/>
                <a:stretch>
                  <a:fillRect r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3217583" y="4382013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3" y="4382013"/>
                <a:ext cx="594970" cy="4944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1648631" y="4382013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631" y="4382013"/>
                <a:ext cx="594970" cy="4944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861681" y="4376241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681" y="4376241"/>
                <a:ext cx="594970" cy="49449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69470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50" y="3434739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2949" y="3434739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C000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4631" y="3434739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2120" y="3431533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B050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351102" y="379477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503230" y="3794779"/>
            <a:ext cx="8897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3120966" y="3794779"/>
            <a:ext cx="8936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 flipV="1">
            <a:off x="4759334" y="3791573"/>
            <a:ext cx="892786" cy="320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 flipV="1">
            <a:off x="6415267" y="3785370"/>
            <a:ext cx="892786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727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494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382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4808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163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601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8777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7766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871566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59751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308053" y="3425330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8071200" y="3785370"/>
            <a:ext cx="533248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2587" y="276919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1143190" y="3230856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2756957" y="3230856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4386983" y="3230856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6033694" y="3230856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7689626" y="3230856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217582" y="3923986"/>
                <a:ext cx="5949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2" y="3923986"/>
                <a:ext cx="594970" cy="461665"/>
              </a:xfrm>
              <a:prstGeom prst="rect">
                <a:avLst/>
              </a:prstGeom>
              <a:blipFill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1650603" y="3914576"/>
                <a:ext cx="5949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603" y="3914576"/>
                <a:ext cx="594970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4908241" y="39145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241" y="3914576"/>
                <a:ext cx="594971" cy="461665"/>
              </a:xfrm>
              <a:prstGeom prst="rect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 rot="16200000">
                <a:off x="3010315" y="2904330"/>
                <a:ext cx="1009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10315" y="2904330"/>
                <a:ext cx="100950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 rot="16200000">
                <a:off x="1709966" y="3230856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09966" y="3230856"/>
                <a:ext cx="3770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 rot="16200000">
                <a:off x="4654413" y="2898423"/>
                <a:ext cx="1009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654413" y="2898423"/>
                <a:ext cx="100950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3217583" y="4382013"/>
                <a:ext cx="594970" cy="485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3" y="4382013"/>
                <a:ext cx="594970" cy="4855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1648631" y="4382013"/>
                <a:ext cx="594970" cy="487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631" y="4382013"/>
                <a:ext cx="594970" cy="48724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861681" y="4376241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681" y="4376241"/>
                <a:ext cx="594970" cy="4944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6586871" y="39145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871" y="3914576"/>
                <a:ext cx="594971" cy="461665"/>
              </a:xfrm>
              <a:prstGeom prst="rect">
                <a:avLst/>
              </a:prstGeom>
              <a:blipFill>
                <a:blip r:embed="rId1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6540311" y="4376241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311" y="4376241"/>
                <a:ext cx="594970" cy="49449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 rot="16200000">
                <a:off x="5834356" y="2435668"/>
                <a:ext cx="2022348" cy="3801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(−4)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34356" y="2435668"/>
                <a:ext cx="2022348" cy="380104"/>
              </a:xfrm>
              <a:prstGeom prst="rect">
                <a:avLst/>
              </a:prstGeom>
              <a:blipFill>
                <a:blip r:embed="rId14"/>
                <a:stretch>
                  <a:fillRect r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188179" y="392398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79" y="3923986"/>
                <a:ext cx="594971" cy="461665"/>
              </a:xfrm>
              <a:prstGeom prst="rect">
                <a:avLst/>
              </a:prstGeom>
              <a:blipFill>
                <a:blip r:embed="rId15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5805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50" y="3434739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2949" y="3434739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4631" y="3434739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C000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2120" y="3431533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351102" y="379477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503230" y="3794779"/>
            <a:ext cx="8897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3120966" y="3794779"/>
            <a:ext cx="8936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 flipV="1">
            <a:off x="4759334" y="3791573"/>
            <a:ext cx="892786" cy="320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 flipV="1">
            <a:off x="6415267" y="3785370"/>
            <a:ext cx="892786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727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494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382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4808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163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601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8777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7766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871566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59751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308053" y="3425330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B050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8071200" y="3785370"/>
            <a:ext cx="533248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2587" y="276919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1143190" y="3230856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2756957" y="3230856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4386983" y="3230856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6033694" y="3230856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7689626" y="3230856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217582" y="3923986"/>
                <a:ext cx="5949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2" y="3923986"/>
                <a:ext cx="594970" cy="461665"/>
              </a:xfrm>
              <a:prstGeom prst="rect">
                <a:avLst/>
              </a:prstGeom>
              <a:blipFill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1650603" y="3914576"/>
                <a:ext cx="5949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603" y="3914576"/>
                <a:ext cx="594970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4908241" y="39145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241" y="3914576"/>
                <a:ext cx="594971" cy="461665"/>
              </a:xfrm>
              <a:prstGeom prst="rect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 rot="16200000">
                <a:off x="3010315" y="2904330"/>
                <a:ext cx="1009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10315" y="2904330"/>
                <a:ext cx="100950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 rot="16200000">
                <a:off x="1709966" y="3230856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09966" y="3230856"/>
                <a:ext cx="3770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 rot="16200000">
                <a:off x="4654413" y="2898423"/>
                <a:ext cx="1009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654413" y="2898423"/>
                <a:ext cx="100950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3217583" y="4382013"/>
                <a:ext cx="594970" cy="485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3" y="4382013"/>
                <a:ext cx="594970" cy="4855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1648631" y="4382013"/>
                <a:ext cx="594970" cy="487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631" y="4382013"/>
                <a:ext cx="594970" cy="48724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861681" y="4376241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681" y="4376241"/>
                <a:ext cx="594970" cy="4944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6586871" y="39145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871" y="3914576"/>
                <a:ext cx="594971" cy="461665"/>
              </a:xfrm>
              <a:prstGeom prst="rect">
                <a:avLst/>
              </a:prstGeom>
              <a:blipFill>
                <a:blip r:embed="rId1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6540311" y="4376241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311" y="4376241"/>
                <a:ext cx="594970" cy="49449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 rot="16200000">
                <a:off x="5834356" y="2435668"/>
                <a:ext cx="2022348" cy="3801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(−4)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34356" y="2435668"/>
                <a:ext cx="2022348" cy="380104"/>
              </a:xfrm>
              <a:prstGeom prst="rect">
                <a:avLst/>
              </a:prstGeom>
              <a:blipFill>
                <a:blip r:embed="rId14"/>
                <a:stretch>
                  <a:fillRect r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393488" y="5928761"/>
                <a:ext cx="2585771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488" y="5928761"/>
                <a:ext cx="2585771" cy="393954"/>
              </a:xfrm>
              <a:prstGeom prst="rect">
                <a:avLst/>
              </a:prstGeom>
              <a:blipFill>
                <a:blip r:embed="rId1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67907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50" y="3434739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2949" y="3434739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4631" y="3434739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2120" y="3431533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C000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351102" y="379477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503230" y="3794779"/>
            <a:ext cx="8897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3120966" y="3794779"/>
            <a:ext cx="8936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 flipV="1">
            <a:off x="4759334" y="3791573"/>
            <a:ext cx="892786" cy="320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 flipV="1">
            <a:off x="6415267" y="3785370"/>
            <a:ext cx="892786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727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494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382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4808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163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601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8777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7766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871566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59751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308053" y="3425330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8071200" y="3785370"/>
            <a:ext cx="533248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2587" y="276919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1143190" y="3230856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2756957" y="3230856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4386983" y="3230856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6033694" y="3230856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7689626" y="3230856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217582" y="3923986"/>
                <a:ext cx="5949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2" y="3923986"/>
                <a:ext cx="594970" cy="461665"/>
              </a:xfrm>
              <a:prstGeom prst="rect">
                <a:avLst/>
              </a:prstGeom>
              <a:blipFill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4908241" y="39145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241" y="3914576"/>
                <a:ext cx="594971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 rot="16200000">
                <a:off x="3010315" y="2904330"/>
                <a:ext cx="1009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10315" y="2904330"/>
                <a:ext cx="100950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 rot="16200000">
                <a:off x="4654413" y="2898423"/>
                <a:ext cx="1009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654413" y="2898423"/>
                <a:ext cx="100950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3217583" y="4382013"/>
                <a:ext cx="594970" cy="485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3" y="4382013"/>
                <a:ext cx="594970" cy="4855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861681" y="4376241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681" y="4376241"/>
                <a:ext cx="594970" cy="4944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6586871" y="39145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871" y="3914576"/>
                <a:ext cx="594971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6540311" y="4376241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311" y="4376241"/>
                <a:ext cx="594970" cy="4944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 rot="16200000">
                <a:off x="5834356" y="2435668"/>
                <a:ext cx="2022348" cy="3801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(−4)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34356" y="2435668"/>
                <a:ext cx="2022348" cy="380104"/>
              </a:xfrm>
              <a:prstGeom prst="rect">
                <a:avLst/>
              </a:prstGeom>
              <a:blipFill>
                <a:blip r:embed="rId11"/>
                <a:stretch>
                  <a:fillRect r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393488" y="5928761"/>
                <a:ext cx="2585771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488" y="5928761"/>
                <a:ext cx="2585771" cy="393954"/>
              </a:xfrm>
              <a:prstGeom prst="rect">
                <a:avLst/>
              </a:prstGeom>
              <a:blipFill>
                <a:blip r:embed="rId12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6383638" y="5528604"/>
                <a:ext cx="2585772" cy="387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638" y="5528604"/>
                <a:ext cx="2585772" cy="387798"/>
              </a:xfrm>
              <a:prstGeom prst="rect">
                <a:avLst/>
              </a:prstGeom>
              <a:blipFill>
                <a:blip r:embed="rId1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659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50" y="3434739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2949" y="3434739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4631" y="3434739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2120" y="3431533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351102" y="379477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503230" y="3794779"/>
            <a:ext cx="8897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3120966" y="3794779"/>
            <a:ext cx="8936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 flipV="1">
            <a:off x="4759334" y="3791573"/>
            <a:ext cx="892786" cy="320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 flipV="1">
            <a:off x="6415267" y="3785370"/>
            <a:ext cx="892786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727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494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382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4808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163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601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8777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7766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871566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59751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308053" y="3425330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C000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8071200" y="3785370"/>
            <a:ext cx="533248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2587" y="276919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1143190" y="3230856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2756957" y="3230856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4386983" y="3230856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6033694" y="3230856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7689626" y="3230856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4908241" y="39145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241" y="3914576"/>
                <a:ext cx="594971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 rot="16200000">
                <a:off x="4654413" y="2898423"/>
                <a:ext cx="1009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654413" y="2898423"/>
                <a:ext cx="100950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861681" y="4376241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681" y="4376241"/>
                <a:ext cx="594970" cy="4944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6586871" y="39145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871" y="3914576"/>
                <a:ext cx="594971" cy="461665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6540311" y="4376241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311" y="4376241"/>
                <a:ext cx="594970" cy="4944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 rot="16200000">
                <a:off x="5834356" y="2435668"/>
                <a:ext cx="2022348" cy="3801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(−4)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34356" y="2435668"/>
                <a:ext cx="2022348" cy="380104"/>
              </a:xfrm>
              <a:prstGeom prst="rect">
                <a:avLst/>
              </a:prstGeom>
              <a:blipFill>
                <a:blip r:embed="rId8"/>
                <a:stretch>
                  <a:fillRect r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393488" y="5928761"/>
                <a:ext cx="2585771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488" y="5928761"/>
                <a:ext cx="2585771" cy="393954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6383638" y="5528604"/>
                <a:ext cx="2585771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638" y="5528604"/>
                <a:ext cx="2585771" cy="393954"/>
              </a:xfrm>
              <a:prstGeom prst="rect">
                <a:avLst/>
              </a:prstGeom>
              <a:blipFill>
                <a:blip r:embed="rId10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6383638" y="5096927"/>
                <a:ext cx="2640275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638" y="5096927"/>
                <a:ext cx="2640275" cy="393954"/>
              </a:xfrm>
              <a:prstGeom prst="rect">
                <a:avLst/>
              </a:prstGeom>
              <a:blipFill>
                <a:blip r:embed="rId11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7480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50" y="3434739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2949" y="3434739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4631" y="3434739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2120" y="3431533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351102" y="379477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503230" y="3794779"/>
            <a:ext cx="8897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3120966" y="3794779"/>
            <a:ext cx="8936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 flipV="1">
            <a:off x="4759334" y="3791573"/>
            <a:ext cx="892786" cy="320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 flipV="1">
            <a:off x="6415267" y="3785370"/>
            <a:ext cx="892786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727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494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382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4808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163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601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8777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7766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871566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59751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308053" y="3425330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8071200" y="3785370"/>
            <a:ext cx="533248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2587" y="276919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1143190" y="3230856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2756957" y="3230856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4386983" y="3230856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6033694" y="3230856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7689626" y="3230856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6586871" y="3914576"/>
                <a:ext cx="5949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871" y="3914576"/>
                <a:ext cx="594971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6540311" y="4376241"/>
                <a:ext cx="594970" cy="494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311" y="4376241"/>
                <a:ext cx="594970" cy="4944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 rot="16200000">
                <a:off x="5834356" y="2435668"/>
                <a:ext cx="2022348" cy="3801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1+8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(−4)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34356" y="2435668"/>
                <a:ext cx="2022348" cy="380104"/>
              </a:xfrm>
              <a:prstGeom prst="rect">
                <a:avLst/>
              </a:prstGeom>
              <a:blipFill>
                <a:blip r:embed="rId5"/>
                <a:stretch>
                  <a:fillRect r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393488" y="5928761"/>
                <a:ext cx="2585771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488" y="5928761"/>
                <a:ext cx="2585771" cy="393954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6383638" y="5528604"/>
                <a:ext cx="2585771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638" y="5528604"/>
                <a:ext cx="2585771" cy="393954"/>
              </a:xfrm>
              <a:prstGeom prst="rect">
                <a:avLst/>
              </a:prstGeom>
              <a:blipFill>
                <a:blip r:embed="rId7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6383638" y="5096927"/>
                <a:ext cx="2640275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638" y="5096927"/>
                <a:ext cx="2640275" cy="393954"/>
              </a:xfrm>
              <a:prstGeom prst="rect">
                <a:avLst/>
              </a:prstGeom>
              <a:blipFill>
                <a:blip r:embed="rId8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3599027" y="5922558"/>
                <a:ext cx="2640275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027" y="5922558"/>
                <a:ext cx="2640275" cy="393954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9289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calculation +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50" y="3434739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2949" y="3434739"/>
            <a:ext cx="72801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4631" y="3434739"/>
            <a:ext cx="744703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2120" y="3431533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S4</a:t>
            </a:r>
          </a:p>
        </p:txBody>
      </p:sp>
      <p:cxnSp>
        <p:nvCxnSpPr>
          <p:cNvPr id="6" name="Straight Arrow Connector 5"/>
          <p:cNvCxnSpPr>
            <a:endCxn id="18" idx="1"/>
          </p:cNvCxnSpPr>
          <p:nvPr/>
        </p:nvCxnSpPr>
        <p:spPr>
          <a:xfrm>
            <a:off x="351102" y="3794779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1" idx="1"/>
          </p:cNvCxnSpPr>
          <p:nvPr/>
        </p:nvCxnSpPr>
        <p:spPr>
          <a:xfrm>
            <a:off x="1503230" y="3794779"/>
            <a:ext cx="8897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2" idx="1"/>
          </p:cNvCxnSpPr>
          <p:nvPr/>
        </p:nvCxnSpPr>
        <p:spPr>
          <a:xfrm>
            <a:off x="3120966" y="3794779"/>
            <a:ext cx="8936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3" idx="1"/>
          </p:cNvCxnSpPr>
          <p:nvPr/>
        </p:nvCxnSpPr>
        <p:spPr>
          <a:xfrm flipV="1">
            <a:off x="4759334" y="3791573"/>
            <a:ext cx="892786" cy="320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39" idx="1"/>
          </p:cNvCxnSpPr>
          <p:nvPr/>
        </p:nvCxnSpPr>
        <p:spPr>
          <a:xfrm flipV="1">
            <a:off x="6415267" y="3785370"/>
            <a:ext cx="892786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727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494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382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4808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163" y="27094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601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8777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77667" y="2205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871566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59751" y="2204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308053" y="3425330"/>
            <a:ext cx="763147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S5</a:t>
            </a: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8071200" y="3785370"/>
            <a:ext cx="533248" cy="6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2587" y="276919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4" name="Straight Connector 43"/>
          <p:cNvCxnSpPr>
            <a:stCxn id="18" idx="0"/>
            <a:endCxn id="20" idx="2"/>
          </p:cNvCxnSpPr>
          <p:nvPr/>
        </p:nvCxnSpPr>
        <p:spPr>
          <a:xfrm flipV="1">
            <a:off x="1143190" y="3230856"/>
            <a:ext cx="0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51" idx="0"/>
            <a:endCxn id="21" idx="2"/>
          </p:cNvCxnSpPr>
          <p:nvPr/>
        </p:nvCxnSpPr>
        <p:spPr>
          <a:xfrm flipH="1" flipV="1">
            <a:off x="2756957" y="3230856"/>
            <a:ext cx="1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2" idx="0"/>
            <a:endCxn id="22" idx="2"/>
          </p:cNvCxnSpPr>
          <p:nvPr/>
        </p:nvCxnSpPr>
        <p:spPr>
          <a:xfrm flipV="1">
            <a:off x="4386983" y="3230856"/>
            <a:ext cx="3862" cy="2038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3" idx="0"/>
            <a:endCxn id="23" idx="2"/>
          </p:cNvCxnSpPr>
          <p:nvPr/>
        </p:nvCxnSpPr>
        <p:spPr>
          <a:xfrm flipV="1">
            <a:off x="6033694" y="3230856"/>
            <a:ext cx="1577" cy="200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9" idx="0"/>
            <a:endCxn id="24" idx="2"/>
          </p:cNvCxnSpPr>
          <p:nvPr/>
        </p:nvCxnSpPr>
        <p:spPr>
          <a:xfrm flipH="1" flipV="1">
            <a:off x="7689626" y="3230856"/>
            <a:ext cx="1" cy="194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393488" y="5928761"/>
                <a:ext cx="2585771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488" y="5928761"/>
                <a:ext cx="2585771" cy="393954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6383638" y="5528604"/>
                <a:ext cx="2585771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638" y="5528604"/>
                <a:ext cx="2585771" cy="393954"/>
              </a:xfrm>
              <a:prstGeom prst="rect">
                <a:avLst/>
              </a:prstGeom>
              <a:blipFill>
                <a:blip r:embed="rId4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6383638" y="5096927"/>
                <a:ext cx="2640275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638" y="5096927"/>
                <a:ext cx="2640275" cy="393954"/>
              </a:xfrm>
              <a:prstGeom prst="rect">
                <a:avLst/>
              </a:prstGeom>
              <a:blipFill>
                <a:blip r:embed="rId5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3599027" y="5922558"/>
                <a:ext cx="2640275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027" y="5922558"/>
                <a:ext cx="2640275" cy="393954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3589177" y="5534906"/>
                <a:ext cx="2640275" cy="393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177" y="5534906"/>
                <a:ext cx="2640275" cy="393954"/>
              </a:xfrm>
              <a:prstGeom prst="rect">
                <a:avLst/>
              </a:prstGeom>
              <a:blipFill>
                <a:blip r:embed="rId7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871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B2DA-E45D-411A-A0AD-F8DDE3E9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426716"/>
            <a:ext cx="8515350" cy="458788"/>
          </a:xfrm>
        </p:spPr>
        <p:txBody>
          <a:bodyPr/>
          <a:lstStyle/>
          <a:p>
            <a:r>
              <a:rPr lang="en-US" dirty="0" err="1"/>
              <a:t>Aplicație</a:t>
            </a:r>
            <a:r>
              <a:rPr lang="en-US" dirty="0"/>
              <a:t>: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Damelor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1904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Queens Problem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4074" y="23862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34877" y="238622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55680" y="238622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61" y="23867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513952" y="290761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34694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55497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76300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513769" y="342845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034572" y="3428454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55375" y="3428454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76056" y="342900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13708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034450" y="3949298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5253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76056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6103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N Queens Problem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4074" y="238622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34877" y="238622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55680" y="238622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61" y="2386766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513952" y="290761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34694" y="290761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55497" y="290761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76300" y="290761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513769" y="342845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034572" y="342845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55375" y="342845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76056" y="342900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13708" y="3949298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034450" y="3949298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5253" y="3949298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76056" y="3949298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14615" y="1434796"/>
            <a:ext cx="4968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No more then one queen per line</a:t>
            </a:r>
          </a:p>
        </p:txBody>
      </p:sp>
    </p:spTree>
    <p:extLst>
      <p:ext uri="{BB962C8B-B14F-4D97-AF65-F5344CB8AC3E}">
        <p14:creationId xmlns:p14="http://schemas.microsoft.com/office/powerpoint/2010/main" val="22800916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N Queens Problem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4074" y="238622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34877" y="238622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55680" y="238622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61" y="2386766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513952" y="290761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34694" y="290761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55497" y="290761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76300" y="290761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513769" y="342845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034572" y="3428454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55375" y="342845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76056" y="342900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13708" y="3949298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034450" y="3949298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5253" y="3949298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76056" y="3949298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14615" y="1434796"/>
            <a:ext cx="5532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No more then one queen per column</a:t>
            </a:r>
          </a:p>
        </p:txBody>
      </p:sp>
    </p:spTree>
    <p:extLst>
      <p:ext uri="{BB962C8B-B14F-4D97-AF65-F5344CB8AC3E}">
        <p14:creationId xmlns:p14="http://schemas.microsoft.com/office/powerpoint/2010/main" val="36279959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N Queens Problem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4074" y="238622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34877" y="238622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55680" y="238622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61" y="2386766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513952" y="290761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34694" y="290761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55497" y="290761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76300" y="290761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513769" y="342845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034572" y="3428454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55375" y="342845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76056" y="342900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13708" y="3949298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034450" y="3949298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5253" y="3949298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76056" y="3949298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14615" y="1434796"/>
            <a:ext cx="5873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No more then one queen per diagonals</a:t>
            </a:r>
          </a:p>
        </p:txBody>
      </p:sp>
    </p:spTree>
    <p:extLst>
      <p:ext uri="{BB962C8B-B14F-4D97-AF65-F5344CB8AC3E}">
        <p14:creationId xmlns:p14="http://schemas.microsoft.com/office/powerpoint/2010/main" val="38959252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Queens Problem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4074" y="23862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34877" y="238622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55680" y="238622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61" y="23867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513952" y="290761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34694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55497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76300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513769" y="342845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034572" y="3428454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55375" y="3428454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76056" y="342900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13708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034450" y="3949298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5253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76056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81649" y="186208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0503" y="238439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8449" y="186208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4294" y="186117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9254" y="186117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0320" y="290761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0076" y="342845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9832" y="394352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4536" y="2353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35339" y="2353213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6142" y="2353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6823" y="2353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2111" y="182907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8911" y="182907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4756" y="182816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9716" y="182816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cxnSp>
        <p:nvCxnSpPr>
          <p:cNvPr id="5" name="Connector: Curved 4"/>
          <p:cNvCxnSpPr>
            <a:stCxn id="32" idx="2"/>
            <a:endCxn id="51" idx="3"/>
          </p:cNvCxnSpPr>
          <p:nvPr/>
        </p:nvCxnSpPr>
        <p:spPr>
          <a:xfrm rot="5400000">
            <a:off x="6149247" y="2322337"/>
            <a:ext cx="815092" cy="1919624"/>
          </a:xfrm>
          <a:prstGeom prst="curvedConnector2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08771" y="3657977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These two mean the same thing</a:t>
            </a:r>
          </a:p>
        </p:txBody>
      </p:sp>
    </p:spTree>
    <p:extLst>
      <p:ext uri="{BB962C8B-B14F-4D97-AF65-F5344CB8AC3E}">
        <p14:creationId xmlns:p14="http://schemas.microsoft.com/office/powerpoint/2010/main" val="2373237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Queens Problem - 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4074" y="238622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34877" y="238622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55680" y="238622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076361" y="23867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513952" y="290761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034694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55497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76300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513769" y="342845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034572" y="3428454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55375" y="3428454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76056" y="342900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513708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034450" y="3949298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55253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76056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81649" y="186208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0503" y="238439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8449" y="186208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4294" y="186117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9254" y="186117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0320" y="290761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0076" y="342845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9832" y="394352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4536" y="2353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35339" y="2353213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256142" y="2353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776823" y="2353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82111" y="182907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8911" y="182907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4756" y="182816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9716" y="182816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816742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Queens Problem - 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4074" y="238622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34877" y="238622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680" y="238622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076361" y="23867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513952" y="290761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034694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55497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76300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513769" y="342845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034572" y="3428454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55375" y="3428454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76056" y="342900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513708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034450" y="3949298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55253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76056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81649" y="186208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0503" y="238439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8449" y="186208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4294" y="186117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9254" y="186117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0320" y="290761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0076" y="342845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9832" y="394352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4536" y="2353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35339" y="2353213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6142" y="2353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776823" y="2353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82111" y="182907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8911" y="182907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4756" y="182816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9716" y="182816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2980" y="3585150"/>
            <a:ext cx="2302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Line conflict</a:t>
            </a:r>
          </a:p>
        </p:txBody>
      </p:sp>
    </p:spTree>
    <p:extLst>
      <p:ext uri="{BB962C8B-B14F-4D97-AF65-F5344CB8AC3E}">
        <p14:creationId xmlns:p14="http://schemas.microsoft.com/office/powerpoint/2010/main" val="7627652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Queens Problem - 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4074" y="238622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34877" y="238622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55680" y="238622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076361" y="23867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513952" y="290761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034694" y="290761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55497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76300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513769" y="342845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034572" y="3428454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55375" y="3428454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76056" y="342900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513708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034450" y="3949298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55253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76056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81649" y="186208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0503" y="238439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8449" y="186208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4294" y="186117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9254" y="186117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0320" y="290761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0076" y="342845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9832" y="394352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4536" y="2353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35339" y="2353213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6142" y="2353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776823" y="2353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82111" y="182907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8911" y="182907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4756" y="182816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9716" y="182816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2980" y="3585150"/>
            <a:ext cx="3081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Diagonal conflict</a:t>
            </a:r>
          </a:p>
        </p:txBody>
      </p:sp>
    </p:spTree>
    <p:extLst>
      <p:ext uri="{BB962C8B-B14F-4D97-AF65-F5344CB8AC3E}">
        <p14:creationId xmlns:p14="http://schemas.microsoft.com/office/powerpoint/2010/main" val="38572621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Queens Problem - 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4074" y="238622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34877" y="238622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55680" y="238622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076361" y="23867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513952" y="290761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034694" y="290761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55497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76300" y="290761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513769" y="342845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034572" y="3428454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55375" y="3428454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76056" y="342900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513708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034450" y="3949298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55253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76056" y="394929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81649" y="186208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0503" y="238439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8449" y="186208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4294" y="186117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9254" y="186117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0320" y="290761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0076" y="342845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9832" y="394352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4536" y="2353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35339" y="2353213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6142" y="2353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776823" y="2353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82111" y="182907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8911" y="182907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4756" y="182816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9716" y="182816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2980" y="3585150"/>
            <a:ext cx="230063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OK.</a:t>
            </a:r>
          </a:p>
          <a:p>
            <a:endParaRPr lang="en-US" sz="2800" b="1" dirty="0"/>
          </a:p>
          <a:p>
            <a:r>
              <a:rPr lang="en-US" sz="2800" b="1" dirty="0"/>
              <a:t>And so on…</a:t>
            </a:r>
          </a:p>
        </p:txBody>
      </p:sp>
    </p:spTree>
    <p:extLst>
      <p:ext uri="{BB962C8B-B14F-4D97-AF65-F5344CB8AC3E}">
        <p14:creationId xmlns:p14="http://schemas.microsoft.com/office/powerpoint/2010/main" val="24141022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Queens Problem – Parallel Solution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26338" y="15082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7141" y="1508286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067944" y="15082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88625" y="1508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93913" y="984151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0713" y="984151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36558" y="98323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1518" y="98323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26338" y="25453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7141" y="2545383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067944" y="25453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88625" y="25459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026338" y="36444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47141" y="3644478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067944" y="36444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588625" y="364502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026338" y="49096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47141" y="4909620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067944" y="49096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588625" y="491016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8465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Queens Problem – Parallel Solution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797" y="15941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1600" y="1594197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92403" y="15941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13084" y="159474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8372" y="107006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5172" y="107006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61017" y="1069147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85977" y="1069147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0614" y="211613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1417" y="2116133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92220" y="211613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012901" y="211667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52931" y="26369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3734" y="2636977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94537" y="26369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015218" y="263752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52748" y="31589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3551" y="3158913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94354" y="31589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015035" y="31594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48663" y="42703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9466" y="4270329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490269" y="427032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2010950" y="42708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16238" y="374619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3038" y="3746194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58883" y="3745279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83843" y="3745279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8480" y="479226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9283" y="4792265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490086" y="479226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2010767" y="479281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450797" y="5313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71600" y="5313109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492403" y="5313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2013084" y="531365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50614" y="583504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71417" y="5835045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492220" y="583504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2012901" y="58355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6320130" y="15936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840933" y="1593651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61736" y="15936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7882417" y="15941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387705" y="10695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04505" y="106951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30350" y="1068601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55310" y="1068601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19947" y="211558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840750" y="2115587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361553" y="211558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7882234" y="211613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6322264" y="263643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843067" y="2636431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63870" y="263643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7884551" y="26369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6322081" y="31583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842884" y="3158367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363687" y="31583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884368" y="31589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6315679" y="426923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836482" y="4269237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357285" y="426923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7877966" y="426978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383254" y="374510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900054" y="374510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25899" y="3744187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950859" y="3744187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315496" y="479117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836299" y="4791173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357102" y="479117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877783" y="479171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6317813" y="531201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838616" y="5312017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359419" y="531201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7880100" y="5312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6317630" y="58339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838433" y="5833953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359236" y="58339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7879917" y="58344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97708" y="3679757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And so on…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1198" y="166968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581198" y="219161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79873" y="53586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79873" y="590998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579873" y="486720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464971" y="166968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464971" y="219161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464971" y="271651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464971" y="590998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464971" y="538508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6082874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1E08D-7113-4F4B-9D5F-3A36F2C0B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970212"/>
            <a:ext cx="8515350" cy="458788"/>
          </a:xfrm>
        </p:spPr>
        <p:txBody>
          <a:bodyPr/>
          <a:lstStyle/>
          <a:p>
            <a:r>
              <a:rPr lang="en-US" dirty="0" err="1"/>
              <a:t>Cautare</a:t>
            </a:r>
            <a:r>
              <a:rPr lang="en-US" dirty="0"/>
              <a:t> </a:t>
            </a:r>
            <a:r>
              <a:rPr lang="en-US" dirty="0" err="1"/>
              <a:t>binara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0448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2674254" y="1268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356" y="1298622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Searching for</a:t>
            </a:r>
          </a:p>
        </p:txBody>
      </p:sp>
    </p:spTree>
    <p:extLst>
      <p:ext uri="{BB962C8B-B14F-4D97-AF65-F5344CB8AC3E}">
        <p14:creationId xmlns:p14="http://schemas.microsoft.com/office/powerpoint/2010/main" val="8404312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2674254" y="1268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356" y="1298622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Searching for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757283" y="3787948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18701" y="4476029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&lt; 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59405" y="127223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9964" y="1272237"/>
            <a:ext cx="740508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20838" y="1298621"/>
            <a:ext cx="191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Interest area</a:t>
            </a:r>
          </a:p>
        </p:txBody>
      </p:sp>
    </p:spTree>
    <p:extLst>
      <p:ext uri="{BB962C8B-B14F-4D97-AF65-F5344CB8AC3E}">
        <p14:creationId xmlns:p14="http://schemas.microsoft.com/office/powerpoint/2010/main" val="25439504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2674254" y="1268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356" y="1298622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Searching for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674254" y="3787948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35672" y="4352275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&lt; 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59405" y="127223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9964" y="1272237"/>
            <a:ext cx="740508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20838" y="1298621"/>
            <a:ext cx="191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Interest area</a:t>
            </a:r>
          </a:p>
        </p:txBody>
      </p:sp>
    </p:spTree>
    <p:extLst>
      <p:ext uri="{BB962C8B-B14F-4D97-AF65-F5344CB8AC3E}">
        <p14:creationId xmlns:p14="http://schemas.microsoft.com/office/powerpoint/2010/main" val="381092738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2674254" y="1268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356" y="1298622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Searching for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619672" y="3787948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1090" y="4281307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&gt;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59405" y="127223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9964" y="1272237"/>
            <a:ext cx="740508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20838" y="1298621"/>
            <a:ext cx="191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Interest area</a:t>
            </a:r>
          </a:p>
        </p:txBody>
      </p:sp>
    </p:spTree>
    <p:extLst>
      <p:ext uri="{BB962C8B-B14F-4D97-AF65-F5344CB8AC3E}">
        <p14:creationId xmlns:p14="http://schemas.microsoft.com/office/powerpoint/2010/main" val="13055278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2674254" y="1268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356" y="1298622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Searching for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123728" y="3787948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51805" y="4308792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=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24741" y="4706588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59405" y="127223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79964" y="1272237"/>
            <a:ext cx="740508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20838" y="1298621"/>
            <a:ext cx="191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Interest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54246" y="4851549"/>
                <a:ext cx="24496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𝒍𝒐𝒈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) time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246" y="4851549"/>
                <a:ext cx="2449645" cy="461665"/>
              </a:xfrm>
              <a:prstGeom prst="rect">
                <a:avLst/>
              </a:prstGeom>
              <a:blipFill>
                <a:blip r:embed="rId3"/>
                <a:stretch>
                  <a:fillRect l="-3731" t="-9211" r="-2985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10715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2674254" y="1268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356" y="1298622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Searching for</a:t>
            </a:r>
          </a:p>
        </p:txBody>
      </p:sp>
    </p:spTree>
    <p:extLst>
      <p:ext uri="{BB962C8B-B14F-4D97-AF65-F5344CB8AC3E}">
        <p14:creationId xmlns:p14="http://schemas.microsoft.com/office/powerpoint/2010/main" val="16418097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2674254" y="1268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356" y="1298622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Searching for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3105747" y="3808212"/>
            <a:ext cx="0" cy="10609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5724128" y="3787948"/>
            <a:ext cx="0" cy="5051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8424067" y="3787948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559405" y="127223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79964" y="1272237"/>
            <a:ext cx="740508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20838" y="1298621"/>
            <a:ext cx="191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Interest area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565134" y="3808212"/>
            <a:ext cx="0" cy="10609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3275856" y="3808212"/>
            <a:ext cx="0" cy="5051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5940152" y="3787948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30946" y="4891864"/>
            <a:ext cx="3300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The element is in my area</a:t>
            </a:r>
          </a:p>
        </p:txBody>
      </p:sp>
    </p:spTree>
    <p:extLst>
      <p:ext uri="{BB962C8B-B14F-4D97-AF65-F5344CB8AC3E}">
        <p14:creationId xmlns:p14="http://schemas.microsoft.com/office/powerpoint/2010/main" val="30990861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2674254" y="1268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356" y="1298622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Searching for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1492939" y="3787948"/>
            <a:ext cx="0" cy="52541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1997242" y="3787948"/>
            <a:ext cx="422" cy="108365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2699792" y="3808212"/>
            <a:ext cx="0" cy="108365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559405" y="127223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79964" y="1272237"/>
            <a:ext cx="740508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20838" y="1298621"/>
            <a:ext cx="191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Interest area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1043608" y="3808212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1691680" y="3787948"/>
            <a:ext cx="0" cy="108365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2275681" y="3787948"/>
            <a:ext cx="0" cy="108365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30946" y="4891864"/>
            <a:ext cx="2533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I found the element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6272" y="5300111"/>
            <a:ext cx="2533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I found the element</a:t>
            </a:r>
          </a:p>
        </p:txBody>
      </p:sp>
    </p:spTree>
    <p:extLst>
      <p:ext uri="{BB962C8B-B14F-4D97-AF65-F5344CB8AC3E}">
        <p14:creationId xmlns:p14="http://schemas.microsoft.com/office/powerpoint/2010/main" val="21134008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Search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75589" y="3113149"/>
            <a:ext cx="6086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Operations </a:t>
            </a:r>
            <a:r>
              <a:rPr lang="en-GB" sz="2400" dirty="0" err="1"/>
              <a:t>can</a:t>
            </a:r>
            <a:r>
              <a:rPr lang="en-GB" sz="2400" b="1" dirty="0" err="1"/>
              <a:t>NOT</a:t>
            </a:r>
            <a:r>
              <a:rPr lang="en-US" sz="2400" dirty="0"/>
              <a:t> be executed in parallel</a:t>
            </a:r>
          </a:p>
        </p:txBody>
      </p:sp>
      <p:cxnSp>
        <p:nvCxnSpPr>
          <p:cNvPr id="99" name="Straight Arrow Connector 98"/>
          <p:cNvCxnSpPr/>
          <p:nvPr/>
        </p:nvCxnSpPr>
        <p:spPr>
          <a:xfrm flipV="1">
            <a:off x="3559346" y="2708920"/>
            <a:ext cx="312906" cy="4042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flipH="1">
            <a:off x="1476287" y="3709538"/>
            <a:ext cx="553326" cy="4871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363439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84242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405045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25726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46285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967027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487830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008633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29314" y="141604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49873" y="141604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70188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90930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11733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32536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653217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173776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7448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118" name="TextBox 117"/>
          <p:cNvSpPr txBox="1"/>
          <p:nvPr/>
        </p:nvSpPr>
        <p:spPr>
          <a:xfrm>
            <a:off x="988251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119" name="TextBox 118"/>
          <p:cNvSpPr txBox="1"/>
          <p:nvPr/>
        </p:nvSpPr>
        <p:spPr>
          <a:xfrm>
            <a:off x="1509054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120" name="TextBox 119"/>
          <p:cNvSpPr txBox="1"/>
          <p:nvPr/>
        </p:nvSpPr>
        <p:spPr>
          <a:xfrm>
            <a:off x="2029735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121" name="TextBox 120"/>
          <p:cNvSpPr txBox="1"/>
          <p:nvPr/>
        </p:nvSpPr>
        <p:spPr>
          <a:xfrm>
            <a:off x="2550294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122" name="TextBox 121"/>
          <p:cNvSpPr txBox="1"/>
          <p:nvPr/>
        </p:nvSpPr>
        <p:spPr>
          <a:xfrm>
            <a:off x="3070853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123" name="TextBox 122"/>
          <p:cNvSpPr txBox="1"/>
          <p:nvPr/>
        </p:nvSpPr>
        <p:spPr>
          <a:xfrm>
            <a:off x="3591839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124" name="TextBox 123"/>
          <p:cNvSpPr txBox="1"/>
          <p:nvPr/>
        </p:nvSpPr>
        <p:spPr>
          <a:xfrm>
            <a:off x="4112642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125" name="TextBox 124"/>
          <p:cNvSpPr txBox="1"/>
          <p:nvPr/>
        </p:nvSpPr>
        <p:spPr>
          <a:xfrm>
            <a:off x="4633323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126" name="TextBox 125"/>
          <p:cNvSpPr txBox="1"/>
          <p:nvPr/>
        </p:nvSpPr>
        <p:spPr>
          <a:xfrm>
            <a:off x="5154004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127" name="TextBox 126"/>
          <p:cNvSpPr txBox="1"/>
          <p:nvPr/>
        </p:nvSpPr>
        <p:spPr>
          <a:xfrm>
            <a:off x="5610077" y="9108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6139378" y="910895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129" name="TextBox 128"/>
          <p:cNvSpPr txBox="1"/>
          <p:nvPr/>
        </p:nvSpPr>
        <p:spPr>
          <a:xfrm>
            <a:off x="6651560" y="9108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130" name="TextBox 129"/>
          <p:cNvSpPr txBox="1"/>
          <p:nvPr/>
        </p:nvSpPr>
        <p:spPr>
          <a:xfrm>
            <a:off x="7172425" y="9108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131" name="TextBox 130"/>
          <p:cNvSpPr txBox="1"/>
          <p:nvPr/>
        </p:nvSpPr>
        <p:spPr>
          <a:xfrm>
            <a:off x="7693106" y="9108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132" name="TextBox 131"/>
          <p:cNvSpPr txBox="1"/>
          <p:nvPr/>
        </p:nvSpPr>
        <p:spPr>
          <a:xfrm>
            <a:off x="8213787" y="9108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cxnSp>
        <p:nvCxnSpPr>
          <p:cNvPr id="133" name="Straight Arrow Connector 132"/>
          <p:cNvCxnSpPr/>
          <p:nvPr/>
        </p:nvCxnSpPr>
        <p:spPr>
          <a:xfrm flipV="1">
            <a:off x="3138240" y="1956605"/>
            <a:ext cx="0" cy="48488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/>
          <p:nvPr/>
        </p:nvCxnSpPr>
        <p:spPr>
          <a:xfrm flipV="1">
            <a:off x="5756621" y="1936341"/>
            <a:ext cx="0" cy="5051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/>
          <p:nvPr/>
        </p:nvCxnSpPr>
        <p:spPr>
          <a:xfrm flipV="1">
            <a:off x="8456560" y="1936341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 flipV="1">
            <a:off x="597627" y="1956605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/>
          <p:nvPr/>
        </p:nvCxnSpPr>
        <p:spPr>
          <a:xfrm flipV="1">
            <a:off x="3308349" y="1956605"/>
            <a:ext cx="0" cy="5051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flipV="1">
            <a:off x="5972645" y="1936341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363439" y="4657918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84242" y="465791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405045" y="465791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925726" y="465846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446285" y="465846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967027" y="4658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487830" y="4658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008633" y="4658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529314" y="465901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49873" y="465901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70188" y="4657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090930" y="4657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11733" y="4657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132536" y="4657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653217" y="4658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173776" y="4658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67448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156" name="TextBox 155"/>
          <p:cNvSpPr txBox="1"/>
          <p:nvPr/>
        </p:nvSpPr>
        <p:spPr>
          <a:xfrm>
            <a:off x="988251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157" name="TextBox 156"/>
          <p:cNvSpPr txBox="1"/>
          <p:nvPr/>
        </p:nvSpPr>
        <p:spPr>
          <a:xfrm>
            <a:off x="1509054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158" name="TextBox 157"/>
          <p:cNvSpPr txBox="1"/>
          <p:nvPr/>
        </p:nvSpPr>
        <p:spPr>
          <a:xfrm>
            <a:off x="2029735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159" name="TextBox 158"/>
          <p:cNvSpPr txBox="1"/>
          <p:nvPr/>
        </p:nvSpPr>
        <p:spPr>
          <a:xfrm>
            <a:off x="2550294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160" name="TextBox 159"/>
          <p:cNvSpPr txBox="1"/>
          <p:nvPr/>
        </p:nvSpPr>
        <p:spPr>
          <a:xfrm>
            <a:off x="3070853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161" name="TextBox 160"/>
          <p:cNvSpPr txBox="1"/>
          <p:nvPr/>
        </p:nvSpPr>
        <p:spPr>
          <a:xfrm>
            <a:off x="3591839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162" name="TextBox 161"/>
          <p:cNvSpPr txBox="1"/>
          <p:nvPr/>
        </p:nvSpPr>
        <p:spPr>
          <a:xfrm>
            <a:off x="4112642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163" name="TextBox 162"/>
          <p:cNvSpPr txBox="1"/>
          <p:nvPr/>
        </p:nvSpPr>
        <p:spPr>
          <a:xfrm>
            <a:off x="4633323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164" name="TextBox 163"/>
          <p:cNvSpPr txBox="1"/>
          <p:nvPr/>
        </p:nvSpPr>
        <p:spPr>
          <a:xfrm>
            <a:off x="5154004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165" name="TextBox 164"/>
          <p:cNvSpPr txBox="1"/>
          <p:nvPr/>
        </p:nvSpPr>
        <p:spPr>
          <a:xfrm>
            <a:off x="5610077" y="4153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166" name="TextBox 165"/>
          <p:cNvSpPr txBox="1"/>
          <p:nvPr/>
        </p:nvSpPr>
        <p:spPr>
          <a:xfrm>
            <a:off x="6139378" y="415386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167" name="TextBox 166"/>
          <p:cNvSpPr txBox="1"/>
          <p:nvPr/>
        </p:nvSpPr>
        <p:spPr>
          <a:xfrm>
            <a:off x="6651560" y="4153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168" name="TextBox 167"/>
          <p:cNvSpPr txBox="1"/>
          <p:nvPr/>
        </p:nvSpPr>
        <p:spPr>
          <a:xfrm>
            <a:off x="7172425" y="4153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169" name="TextBox 168"/>
          <p:cNvSpPr txBox="1"/>
          <p:nvPr/>
        </p:nvSpPr>
        <p:spPr>
          <a:xfrm>
            <a:off x="7693106" y="4153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170" name="TextBox 169"/>
          <p:cNvSpPr txBox="1"/>
          <p:nvPr/>
        </p:nvSpPr>
        <p:spPr>
          <a:xfrm>
            <a:off x="8213787" y="4153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cxnSp>
        <p:nvCxnSpPr>
          <p:cNvPr id="171" name="Straight Arrow Connector 170"/>
          <p:cNvCxnSpPr/>
          <p:nvPr/>
        </p:nvCxnSpPr>
        <p:spPr>
          <a:xfrm flipV="1">
            <a:off x="1525432" y="5179308"/>
            <a:ext cx="0" cy="52541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/>
          <p:nvPr/>
        </p:nvCxnSpPr>
        <p:spPr>
          <a:xfrm flipV="1">
            <a:off x="2030157" y="5179308"/>
            <a:ext cx="0" cy="57524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/>
          <p:nvPr/>
        </p:nvCxnSpPr>
        <p:spPr>
          <a:xfrm flipV="1">
            <a:off x="2732285" y="5199572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/>
          <p:nvPr/>
        </p:nvCxnSpPr>
        <p:spPr>
          <a:xfrm flipV="1">
            <a:off x="1076101" y="5199572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/>
          <p:nvPr/>
        </p:nvCxnSpPr>
        <p:spPr>
          <a:xfrm flipV="1">
            <a:off x="1724173" y="5179308"/>
            <a:ext cx="0" cy="57524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 flipV="1">
            <a:off x="2308174" y="5179309"/>
            <a:ext cx="0" cy="57524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802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Search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3439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84242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405045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25726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46285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967027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487830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008633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29314" y="141604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49873" y="141604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70188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90930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11733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32536" y="14149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653217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173776" y="141549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7448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118" name="TextBox 117"/>
          <p:cNvSpPr txBox="1"/>
          <p:nvPr/>
        </p:nvSpPr>
        <p:spPr>
          <a:xfrm>
            <a:off x="988251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119" name="TextBox 118"/>
          <p:cNvSpPr txBox="1"/>
          <p:nvPr/>
        </p:nvSpPr>
        <p:spPr>
          <a:xfrm>
            <a:off x="1509054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120" name="TextBox 119"/>
          <p:cNvSpPr txBox="1"/>
          <p:nvPr/>
        </p:nvSpPr>
        <p:spPr>
          <a:xfrm>
            <a:off x="2029735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121" name="TextBox 120"/>
          <p:cNvSpPr txBox="1"/>
          <p:nvPr/>
        </p:nvSpPr>
        <p:spPr>
          <a:xfrm>
            <a:off x="2550294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122" name="TextBox 121"/>
          <p:cNvSpPr txBox="1"/>
          <p:nvPr/>
        </p:nvSpPr>
        <p:spPr>
          <a:xfrm>
            <a:off x="3070853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123" name="TextBox 122"/>
          <p:cNvSpPr txBox="1"/>
          <p:nvPr/>
        </p:nvSpPr>
        <p:spPr>
          <a:xfrm>
            <a:off x="3591839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124" name="TextBox 123"/>
          <p:cNvSpPr txBox="1"/>
          <p:nvPr/>
        </p:nvSpPr>
        <p:spPr>
          <a:xfrm>
            <a:off x="4112642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125" name="TextBox 124"/>
          <p:cNvSpPr txBox="1"/>
          <p:nvPr/>
        </p:nvSpPr>
        <p:spPr>
          <a:xfrm>
            <a:off x="4633323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126" name="TextBox 125"/>
          <p:cNvSpPr txBox="1"/>
          <p:nvPr/>
        </p:nvSpPr>
        <p:spPr>
          <a:xfrm>
            <a:off x="5154004" y="9108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127" name="TextBox 126"/>
          <p:cNvSpPr txBox="1"/>
          <p:nvPr/>
        </p:nvSpPr>
        <p:spPr>
          <a:xfrm>
            <a:off x="5610077" y="9108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6139378" y="910895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129" name="TextBox 128"/>
          <p:cNvSpPr txBox="1"/>
          <p:nvPr/>
        </p:nvSpPr>
        <p:spPr>
          <a:xfrm>
            <a:off x="6651560" y="9108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130" name="TextBox 129"/>
          <p:cNvSpPr txBox="1"/>
          <p:nvPr/>
        </p:nvSpPr>
        <p:spPr>
          <a:xfrm>
            <a:off x="7172425" y="9108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131" name="TextBox 130"/>
          <p:cNvSpPr txBox="1"/>
          <p:nvPr/>
        </p:nvSpPr>
        <p:spPr>
          <a:xfrm>
            <a:off x="7693106" y="9108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132" name="TextBox 131"/>
          <p:cNvSpPr txBox="1"/>
          <p:nvPr/>
        </p:nvSpPr>
        <p:spPr>
          <a:xfrm>
            <a:off x="8213787" y="9108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cxnSp>
        <p:nvCxnSpPr>
          <p:cNvPr id="133" name="Straight Arrow Connector 132"/>
          <p:cNvCxnSpPr/>
          <p:nvPr/>
        </p:nvCxnSpPr>
        <p:spPr>
          <a:xfrm flipV="1">
            <a:off x="3138240" y="1956605"/>
            <a:ext cx="0" cy="48488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/>
          <p:nvPr/>
        </p:nvCxnSpPr>
        <p:spPr>
          <a:xfrm flipV="1">
            <a:off x="5756621" y="1936341"/>
            <a:ext cx="0" cy="5051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/>
          <p:nvPr/>
        </p:nvCxnSpPr>
        <p:spPr>
          <a:xfrm flipV="1">
            <a:off x="8456560" y="1936341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 flipV="1">
            <a:off x="597627" y="1956605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/>
          <p:nvPr/>
        </p:nvCxnSpPr>
        <p:spPr>
          <a:xfrm flipV="1">
            <a:off x="3308349" y="1956605"/>
            <a:ext cx="0" cy="5051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flipV="1">
            <a:off x="5972645" y="1936341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363439" y="4657918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84242" y="465791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405045" y="465791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925726" y="465846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446285" y="465846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967027" y="4658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487830" y="4658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008633" y="4658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529314" y="465901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49873" y="465901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70188" y="4657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090930" y="4657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11733" y="4657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132536" y="4657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653217" y="4658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173776" y="4658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67448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156" name="TextBox 155"/>
          <p:cNvSpPr txBox="1"/>
          <p:nvPr/>
        </p:nvSpPr>
        <p:spPr>
          <a:xfrm>
            <a:off x="988251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157" name="TextBox 156"/>
          <p:cNvSpPr txBox="1"/>
          <p:nvPr/>
        </p:nvSpPr>
        <p:spPr>
          <a:xfrm>
            <a:off x="1509054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158" name="TextBox 157"/>
          <p:cNvSpPr txBox="1"/>
          <p:nvPr/>
        </p:nvSpPr>
        <p:spPr>
          <a:xfrm>
            <a:off x="2029735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159" name="TextBox 158"/>
          <p:cNvSpPr txBox="1"/>
          <p:nvPr/>
        </p:nvSpPr>
        <p:spPr>
          <a:xfrm>
            <a:off x="2550294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160" name="TextBox 159"/>
          <p:cNvSpPr txBox="1"/>
          <p:nvPr/>
        </p:nvSpPr>
        <p:spPr>
          <a:xfrm>
            <a:off x="3070853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161" name="TextBox 160"/>
          <p:cNvSpPr txBox="1"/>
          <p:nvPr/>
        </p:nvSpPr>
        <p:spPr>
          <a:xfrm>
            <a:off x="3591839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162" name="TextBox 161"/>
          <p:cNvSpPr txBox="1"/>
          <p:nvPr/>
        </p:nvSpPr>
        <p:spPr>
          <a:xfrm>
            <a:off x="4112642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163" name="TextBox 162"/>
          <p:cNvSpPr txBox="1"/>
          <p:nvPr/>
        </p:nvSpPr>
        <p:spPr>
          <a:xfrm>
            <a:off x="4633323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164" name="TextBox 163"/>
          <p:cNvSpPr txBox="1"/>
          <p:nvPr/>
        </p:nvSpPr>
        <p:spPr>
          <a:xfrm>
            <a:off x="5154004" y="4153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165" name="TextBox 164"/>
          <p:cNvSpPr txBox="1"/>
          <p:nvPr/>
        </p:nvSpPr>
        <p:spPr>
          <a:xfrm>
            <a:off x="5610077" y="4153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166" name="TextBox 165"/>
          <p:cNvSpPr txBox="1"/>
          <p:nvPr/>
        </p:nvSpPr>
        <p:spPr>
          <a:xfrm>
            <a:off x="6139378" y="415386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167" name="TextBox 166"/>
          <p:cNvSpPr txBox="1"/>
          <p:nvPr/>
        </p:nvSpPr>
        <p:spPr>
          <a:xfrm>
            <a:off x="6651560" y="4153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168" name="TextBox 167"/>
          <p:cNvSpPr txBox="1"/>
          <p:nvPr/>
        </p:nvSpPr>
        <p:spPr>
          <a:xfrm>
            <a:off x="7172425" y="4153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169" name="TextBox 168"/>
          <p:cNvSpPr txBox="1"/>
          <p:nvPr/>
        </p:nvSpPr>
        <p:spPr>
          <a:xfrm>
            <a:off x="7693106" y="4153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170" name="TextBox 169"/>
          <p:cNvSpPr txBox="1"/>
          <p:nvPr/>
        </p:nvSpPr>
        <p:spPr>
          <a:xfrm>
            <a:off x="8213787" y="4153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cxnSp>
        <p:nvCxnSpPr>
          <p:cNvPr id="171" name="Straight Arrow Connector 170"/>
          <p:cNvCxnSpPr/>
          <p:nvPr/>
        </p:nvCxnSpPr>
        <p:spPr>
          <a:xfrm flipV="1">
            <a:off x="1525432" y="5179308"/>
            <a:ext cx="0" cy="52541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/>
          <p:nvPr/>
        </p:nvCxnSpPr>
        <p:spPr>
          <a:xfrm flipV="1">
            <a:off x="2030157" y="5179308"/>
            <a:ext cx="0" cy="57524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/>
          <p:nvPr/>
        </p:nvCxnSpPr>
        <p:spPr>
          <a:xfrm flipV="1">
            <a:off x="2732285" y="5199572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/>
          <p:nvPr/>
        </p:nvCxnSpPr>
        <p:spPr>
          <a:xfrm flipV="1">
            <a:off x="1076101" y="5199572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/>
          <p:nvPr/>
        </p:nvCxnSpPr>
        <p:spPr>
          <a:xfrm flipV="1">
            <a:off x="1724173" y="5179308"/>
            <a:ext cx="0" cy="57524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 flipV="1">
            <a:off x="2308174" y="5179309"/>
            <a:ext cx="0" cy="57524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Parallelogram 82"/>
          <p:cNvSpPr/>
          <p:nvPr/>
        </p:nvSpPr>
        <p:spPr>
          <a:xfrm>
            <a:off x="2450557" y="329097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Parallelogram 83"/>
          <p:cNvSpPr/>
          <p:nvPr/>
        </p:nvSpPr>
        <p:spPr>
          <a:xfrm>
            <a:off x="2899078" y="329222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Parallelogram 84"/>
          <p:cNvSpPr/>
          <p:nvPr/>
        </p:nvSpPr>
        <p:spPr>
          <a:xfrm>
            <a:off x="3347599" y="329097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Parallelogram 85"/>
          <p:cNvSpPr/>
          <p:nvPr/>
        </p:nvSpPr>
        <p:spPr>
          <a:xfrm>
            <a:off x="3796120" y="3288364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Parallelogram 86"/>
          <p:cNvSpPr/>
          <p:nvPr/>
        </p:nvSpPr>
        <p:spPr>
          <a:xfrm>
            <a:off x="4245565" y="3294832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Parallelogram 87"/>
          <p:cNvSpPr/>
          <p:nvPr/>
        </p:nvSpPr>
        <p:spPr>
          <a:xfrm>
            <a:off x="4694086" y="3296088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Parallelogram 88"/>
          <p:cNvSpPr/>
          <p:nvPr/>
        </p:nvSpPr>
        <p:spPr>
          <a:xfrm>
            <a:off x="5142607" y="3294832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Parallelogram 89"/>
          <p:cNvSpPr/>
          <p:nvPr/>
        </p:nvSpPr>
        <p:spPr>
          <a:xfrm>
            <a:off x="5591128" y="329222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Parallelogram 90"/>
          <p:cNvSpPr/>
          <p:nvPr/>
        </p:nvSpPr>
        <p:spPr>
          <a:xfrm>
            <a:off x="6039649" y="3287537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848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4325" y="2707132"/>
            <a:ext cx="8515350" cy="458788"/>
          </a:xfrm>
        </p:spPr>
        <p:txBody>
          <a:bodyPr/>
          <a:lstStyle/>
          <a:p>
            <a:r>
              <a:rPr lang="en-US" dirty="0"/>
              <a:t>Parallel Search – </a:t>
            </a:r>
            <a:r>
              <a:rPr lang="en-US" dirty="0" err="1"/>
              <a:t>solutia</a:t>
            </a:r>
            <a:r>
              <a:rPr lang="en-US" dirty="0"/>
              <a:t> 2 (cu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putine</a:t>
            </a:r>
            <a:r>
              <a:rPr lang="en-US" dirty="0"/>
              <a:t> </a:t>
            </a:r>
            <a:r>
              <a:rPr lang="en-US" dirty="0" err="1"/>
              <a:t>threaduri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3473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Search – solution 2 (fewer threads)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2674254" y="1268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356" y="1298622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Searching for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2674254" y="3787948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4788024" y="3787948"/>
            <a:ext cx="0" cy="5051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6868318" y="3787948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235672" y="4319383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&lt;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8701" y="4319383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&lt;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29736" y="4313360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&lt; 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59405" y="127223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79964" y="1272237"/>
            <a:ext cx="740508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20838" y="1298621"/>
            <a:ext cx="191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Interest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6889" y="5176072"/>
            <a:ext cx="5442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Operations can be executed in parallel</a:t>
            </a:r>
          </a:p>
        </p:txBody>
      </p:sp>
    </p:spTree>
    <p:extLst>
      <p:ext uri="{BB962C8B-B14F-4D97-AF65-F5344CB8AC3E}">
        <p14:creationId xmlns:p14="http://schemas.microsoft.com/office/powerpoint/2010/main" val="359289098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2674254" y="1268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356" y="1298622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Searching for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1112211" y="3808212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1633014" y="3808212"/>
            <a:ext cx="0" cy="10609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2153695" y="3782761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75642" y="4333624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&gt;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94432" y="4879300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&gt;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15113" y="4298049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= 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59405" y="127223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79964" y="1272237"/>
            <a:ext cx="740508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20838" y="1298621"/>
            <a:ext cx="191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Interest area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17801" y="4417635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554246" y="4851549"/>
                <a:ext cx="2521781" cy="4947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𝒍𝒐𝒈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) time</a:t>
                </a: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246" y="4851549"/>
                <a:ext cx="2521781" cy="494751"/>
              </a:xfrm>
              <a:prstGeom prst="rect">
                <a:avLst/>
              </a:prstGeom>
              <a:blipFill>
                <a:blip r:embed="rId3"/>
                <a:stretch>
                  <a:fillRect l="-3623" t="-9877" r="-242" b="-20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0790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749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2552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233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3792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534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5337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6140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6821" y="15578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7380" y="15578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7695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8437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9240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0043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724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1283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955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10527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1052736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10527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10527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10527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10527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2674254" y="2078182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4788024" y="2078182"/>
            <a:ext cx="0" cy="5051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6868318" y="2078182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235672" y="2609617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&lt;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8701" y="2609617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&lt;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29736" y="2603594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&lt;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5589" y="3113149"/>
            <a:ext cx="6086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Operations </a:t>
            </a:r>
            <a:r>
              <a:rPr lang="en-GB" sz="2400" dirty="0" err="1"/>
              <a:t>can</a:t>
            </a:r>
            <a:r>
              <a:rPr lang="en-GB" sz="2400" b="1" dirty="0" err="1"/>
              <a:t>NOT</a:t>
            </a:r>
            <a:r>
              <a:rPr lang="en-US" sz="2400" dirty="0"/>
              <a:t> be executed in parallel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1422" y="428091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2225" y="428091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33028" y="428091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53709" y="428146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74268" y="4281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95010" y="4281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15813" y="4281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36616" y="4281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57297" y="428201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77856" y="428201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98171" y="4280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18913" y="4280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9716" y="4280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60519" y="4280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1200" y="4281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01759" y="4281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5431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916234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1437037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1957718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2478277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2998836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3519822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4040625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4561306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5081987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538060" y="3776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6067361" y="377686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6579543" y="3776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7100408" y="3776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7621089" y="3776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8141770" y="3776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cxnSp>
        <p:nvCxnSpPr>
          <p:cNvPr id="91" name="Straight Arrow Connector 90"/>
          <p:cNvCxnSpPr/>
          <p:nvPr/>
        </p:nvCxnSpPr>
        <p:spPr>
          <a:xfrm flipV="1">
            <a:off x="1072687" y="4822572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V="1">
            <a:off x="1593490" y="4822572"/>
            <a:ext cx="0" cy="10609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V="1">
            <a:off x="2114171" y="4797121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36118" y="5347984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&gt; 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54908" y="5893660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&gt; 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75589" y="5312409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= 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78277" y="5431995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end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559346" y="2708920"/>
            <a:ext cx="312906" cy="4042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 flipH="1">
            <a:off x="1476286" y="3495961"/>
            <a:ext cx="273657" cy="2473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5270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749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2552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233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3792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534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5337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6140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6821" y="15578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7380" y="15578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7695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8437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9240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0043" y="155679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724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1283" y="155733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955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10527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10527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1052736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10527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10527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10527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10527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2674254" y="2078182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4788024" y="2078182"/>
            <a:ext cx="0" cy="5051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6868318" y="2078182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235672" y="2609617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&lt;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8701" y="2609617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&lt;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29736" y="2603594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&lt; 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1422" y="428091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2225" y="428091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33028" y="428091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53709" y="428146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74268" y="4281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95010" y="4281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15813" y="4281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36616" y="4281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57297" y="428201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77856" y="4282010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98171" y="4280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18913" y="4280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9716" y="4280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60519" y="4280918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1200" y="4281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01759" y="4281464"/>
            <a:ext cx="520925" cy="521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5431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916234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1437037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1957718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2478277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2998836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3519822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4040625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4561306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5081987" y="37768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538060" y="3776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6067361" y="377686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6579543" y="3776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7100408" y="3776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7621089" y="3776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8141770" y="37768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cxnSp>
        <p:nvCxnSpPr>
          <p:cNvPr id="91" name="Straight Arrow Connector 90"/>
          <p:cNvCxnSpPr/>
          <p:nvPr/>
        </p:nvCxnSpPr>
        <p:spPr>
          <a:xfrm flipV="1">
            <a:off x="1072687" y="4822572"/>
            <a:ext cx="0" cy="5051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V="1">
            <a:off x="1593490" y="4822572"/>
            <a:ext cx="0" cy="10609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V="1">
            <a:off x="2114171" y="4797121"/>
            <a:ext cx="0" cy="5051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36118" y="5347984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&gt; 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54908" y="5893660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&gt; 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75589" y="5312409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= 3</a:t>
            </a:r>
          </a:p>
        </p:txBody>
      </p:sp>
      <p:sp>
        <p:nvSpPr>
          <p:cNvPr id="98" name="Parallelogram 97"/>
          <p:cNvSpPr/>
          <p:nvPr/>
        </p:nvSpPr>
        <p:spPr>
          <a:xfrm>
            <a:off x="2450557" y="329097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Parallelogram 99"/>
          <p:cNvSpPr/>
          <p:nvPr/>
        </p:nvSpPr>
        <p:spPr>
          <a:xfrm>
            <a:off x="2899078" y="329222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Parallelogram 100"/>
          <p:cNvSpPr/>
          <p:nvPr/>
        </p:nvSpPr>
        <p:spPr>
          <a:xfrm>
            <a:off x="3347599" y="329097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Parallelogram 101"/>
          <p:cNvSpPr/>
          <p:nvPr/>
        </p:nvSpPr>
        <p:spPr>
          <a:xfrm>
            <a:off x="3796120" y="3288364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Parallelogram 102"/>
          <p:cNvSpPr/>
          <p:nvPr/>
        </p:nvSpPr>
        <p:spPr>
          <a:xfrm>
            <a:off x="4245565" y="3294832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Parallelogram 103"/>
          <p:cNvSpPr/>
          <p:nvPr/>
        </p:nvSpPr>
        <p:spPr>
          <a:xfrm>
            <a:off x="4694086" y="3296088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Parallelogram 104"/>
          <p:cNvSpPr/>
          <p:nvPr/>
        </p:nvSpPr>
        <p:spPr>
          <a:xfrm>
            <a:off x="5142607" y="3294832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Parallelogram 105"/>
          <p:cNvSpPr/>
          <p:nvPr/>
        </p:nvSpPr>
        <p:spPr>
          <a:xfrm>
            <a:off x="5591128" y="329222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Parallelogram 106"/>
          <p:cNvSpPr/>
          <p:nvPr/>
        </p:nvSpPr>
        <p:spPr>
          <a:xfrm>
            <a:off x="6039649" y="3287537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7977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731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628800"/>
                <a:ext cx="8763000" cy="5334000"/>
              </a:xfrm>
            </p:spPr>
            <p:txBody>
              <a:bodyPr/>
              <a:lstStyle/>
              <a:p>
                <a:pPr>
                  <a:lnSpc>
                    <a:spcPct val="80000"/>
                  </a:lnSpc>
                </a:pPr>
                <a:endParaRPr lang="en-US" sz="2000" dirty="0"/>
              </a:p>
              <a:p>
                <a:pPr>
                  <a:lnSpc>
                    <a:spcPct val="80000"/>
                  </a:lnSpc>
                </a:pPr>
                <a:r>
                  <a:rPr lang="ro-RO" sz="2000" dirty="0"/>
                  <a:t>A</a:t>
                </a:r>
                <a:r>
                  <a:rPr lang="pt-BR" sz="2000" dirty="0"/>
                  <a:t>lgoritmul: 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pt-BR" sz="20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16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16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16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16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16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1600" dirty="0"/>
              </a:p>
              <a:p>
                <a:pPr lvl="1">
                  <a:lnSpc>
                    <a:spcPct val="80000"/>
                  </a:lnSpc>
                </a:pPr>
                <a:r>
                  <a:rPr lang="pt-BR" sz="1600" b="1" dirty="0"/>
                  <a:t>g</a:t>
                </a:r>
                <a:r>
                  <a:rPr lang="pt-BR" sz="1600" dirty="0"/>
                  <a:t> </a:t>
                </a:r>
                <a:r>
                  <a:rPr lang="ro-RO" sz="1600" dirty="0"/>
                  <a:t>:</a:t>
                </a:r>
                <a:r>
                  <a:rPr lang="pt-BR" sz="1600" dirty="0"/>
                  <a:t> num</a:t>
                </a:r>
                <a:r>
                  <a:rPr lang="ro-RO" sz="1600" dirty="0"/>
                  <a:t>ărul de pași</a:t>
                </a:r>
                <a:endParaRPr lang="pt-BR" sz="1600" i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sz="1600" b="1" dirty="0"/>
                  <a:t>P</a:t>
                </a:r>
                <a:r>
                  <a:rPr lang="ro-RO" sz="1600" b="1" dirty="0"/>
                  <a:t> </a:t>
                </a:r>
                <a:r>
                  <a:rPr lang="ro-RO" sz="1600" dirty="0"/>
                  <a:t>: numărul de procesoare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ro-RO" sz="1600" b="1" dirty="0"/>
                  <a:t>n</a:t>
                </a:r>
                <a:r>
                  <a:rPr lang="ro-RO" sz="1600" dirty="0"/>
                  <a:t> : numărul de elemente ale vectorului</a:t>
                </a: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1" i="1" smtClean="0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ro-RO" sz="1600" b="1" i="1" smtClean="0"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ro-RO" sz="1600" b="1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ro-RO" sz="1600" dirty="0"/>
                  <a:t>: procesorul cu indicele i</a:t>
                </a:r>
              </a:p>
              <a:p>
                <a:pPr>
                  <a:lnSpc>
                    <a:spcPct val="80000"/>
                  </a:lnSpc>
                </a:pPr>
                <a:r>
                  <a:rPr lang="pt-BR" sz="2000" dirty="0"/>
                  <a:t>Deoarece fiecare etapă se aplică unei secvenţe de </a:t>
                </a:r>
                <a:r>
                  <a:rPr lang="ro-RO" sz="2000" dirty="0"/>
                  <a:t>d</a:t>
                </a:r>
                <a:r>
                  <a:rPr lang="pt-BR" sz="2000" dirty="0"/>
                  <a:t>imensiune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ro-RO" b="0" i="1" smtClean="0">
                            <a:latin typeface="Cambria Math"/>
                          </a:rPr>
                          <m:t>+1</m:t>
                        </m:r>
                      </m:den>
                    </m:f>
                  </m:oMath>
                </a14:m>
                <a:r>
                  <a:rPr lang="pt-BR" sz="2000" dirty="0"/>
                  <a:t> din secvenţa  precedentă, sunt necesare:</a:t>
                </a:r>
              </a:p>
              <a:p>
                <a:pPr>
                  <a:spcBef>
                    <a:spcPts val="600"/>
                  </a:spcBef>
                  <a:buFontTx/>
                  <a:buNone/>
                </a:pPr>
                <a:r>
                  <a:rPr lang="pt-BR" sz="2000" dirty="0"/>
                  <a:t>                            </a:t>
                </a:r>
                <a14:m>
                  <m:oMath xmlns:m="http://schemas.openxmlformats.org/officeDocument/2006/math">
                    <m:r>
                      <a:rPr lang="ro-RO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ro-RO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o-RO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ro-RO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2000" b="1" i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𝐥𝐨𝐠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𝑷</m:t>
                                </m:r>
                                <m:r>
                                  <a:rPr lang="ro-RO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ro-RO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ro-RO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  <m:r>
                                  <a:rPr lang="ro-RO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ro-RO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pt-BR" sz="2000" dirty="0">
                    <a:solidFill>
                      <a:srgbClr val="C00000"/>
                    </a:solidFill>
                  </a:rPr>
                  <a:t> </a:t>
                </a:r>
                <a:r>
                  <a:rPr lang="pt-BR" sz="2000" dirty="0"/>
                  <a:t>etape.</a:t>
                </a:r>
                <a:endParaRPr lang="en-US" sz="2000" dirty="0"/>
              </a:p>
            </p:txBody>
          </p:sp>
        </mc:Choice>
        <mc:Fallback xmlns="">
          <p:sp>
            <p:nvSpPr>
              <p:cNvPr id="3973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628800"/>
                <a:ext cx="8763000" cy="5334000"/>
              </a:xfrm>
              <a:blipFill>
                <a:blip r:embed="rId3"/>
                <a:stretch>
                  <a:fillRect l="-1590" b="-238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/>
          <p:cNvSpPr txBox="1"/>
          <p:nvPr/>
        </p:nvSpPr>
        <p:spPr>
          <a:xfrm>
            <a:off x="3490165" y="3072439"/>
            <a:ext cx="2019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rgbClr val="FFFFFF"/>
                </a:solidFill>
              </a:rPr>
              <a:t>Vector cu date</a:t>
            </a:r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67544" y="2759937"/>
            <a:ext cx="8064896" cy="432048"/>
            <a:chOff x="467544" y="3068960"/>
            <a:chExt cx="8064896" cy="432048"/>
          </a:xfrm>
          <a:solidFill>
            <a:schemeClr val="accent3">
              <a:lumMod val="25000"/>
            </a:schemeClr>
          </a:solidFill>
        </p:grpSpPr>
        <p:grpSp>
          <p:nvGrpSpPr>
            <p:cNvPr id="5" name="Group 4"/>
            <p:cNvGrpSpPr/>
            <p:nvPr/>
          </p:nvGrpSpPr>
          <p:grpSpPr>
            <a:xfrm>
              <a:off x="467544" y="3068960"/>
              <a:ext cx="4032448" cy="432048"/>
              <a:chOff x="467544" y="3068960"/>
              <a:chExt cx="4032448" cy="432048"/>
            </a:xfrm>
            <a:grpFill/>
          </p:grpSpPr>
          <p:grpSp>
            <p:nvGrpSpPr>
              <p:cNvPr id="4" name="Group 3"/>
              <p:cNvGrpSpPr/>
              <p:nvPr/>
            </p:nvGrpSpPr>
            <p:grpSpPr>
              <a:xfrm>
                <a:off x="467544" y="3068960"/>
                <a:ext cx="2016224" cy="432048"/>
                <a:chOff x="467544" y="3068960"/>
                <a:chExt cx="2016224" cy="432048"/>
              </a:xfrm>
              <a:grpFill/>
            </p:grpSpPr>
            <p:grpSp>
              <p:nvGrpSpPr>
                <p:cNvPr id="3" name="Group 2"/>
                <p:cNvGrpSpPr/>
                <p:nvPr/>
              </p:nvGrpSpPr>
              <p:grpSpPr>
                <a:xfrm>
                  <a:off x="467544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2" name="Rectangle 1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7" name="Rectangle 6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9" name="Rectangle 8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  <p:grpSp>
              <p:nvGrpSpPr>
                <p:cNvPr id="11" name="Group 10"/>
                <p:cNvGrpSpPr/>
                <p:nvPr/>
              </p:nvGrpSpPr>
              <p:grpSpPr>
                <a:xfrm>
                  <a:off x="1475656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12" name="Rectangle 11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13" name="Rectangle 12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14" name="Rectangle 13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15" name="Rectangle 14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</p:grpSp>
          <p:grpSp>
            <p:nvGrpSpPr>
              <p:cNvPr id="17" name="Group 16"/>
              <p:cNvGrpSpPr/>
              <p:nvPr/>
            </p:nvGrpSpPr>
            <p:grpSpPr>
              <a:xfrm>
                <a:off x="2483768" y="3068960"/>
                <a:ext cx="2016224" cy="432048"/>
                <a:chOff x="467544" y="3068960"/>
                <a:chExt cx="2016224" cy="432048"/>
              </a:xfrm>
              <a:grpFill/>
            </p:grpSpPr>
            <p:grpSp>
              <p:nvGrpSpPr>
                <p:cNvPr id="18" name="Group 17"/>
                <p:cNvGrpSpPr/>
                <p:nvPr/>
              </p:nvGrpSpPr>
              <p:grpSpPr>
                <a:xfrm>
                  <a:off x="467544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24" name="Rectangle 23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26" name="Rectangle 25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27" name="Rectangle 26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  <p:grpSp>
              <p:nvGrpSpPr>
                <p:cNvPr id="19" name="Group 18"/>
                <p:cNvGrpSpPr/>
                <p:nvPr/>
              </p:nvGrpSpPr>
              <p:grpSpPr>
                <a:xfrm>
                  <a:off x="1475656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20" name="Rectangle 19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21" name="Rectangle 20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22" name="Rectangle 21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23" name="Rectangle 22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</p:grpSp>
        </p:grpSp>
        <p:grpSp>
          <p:nvGrpSpPr>
            <p:cNvPr id="29" name="Group 28"/>
            <p:cNvGrpSpPr/>
            <p:nvPr/>
          </p:nvGrpSpPr>
          <p:grpSpPr>
            <a:xfrm>
              <a:off x="4499992" y="3068960"/>
              <a:ext cx="4032448" cy="432048"/>
              <a:chOff x="467544" y="3068960"/>
              <a:chExt cx="4032448" cy="432048"/>
            </a:xfrm>
            <a:grpFill/>
          </p:grpSpPr>
          <p:grpSp>
            <p:nvGrpSpPr>
              <p:cNvPr id="30" name="Group 29"/>
              <p:cNvGrpSpPr/>
              <p:nvPr/>
            </p:nvGrpSpPr>
            <p:grpSpPr>
              <a:xfrm>
                <a:off x="467544" y="3068960"/>
                <a:ext cx="2016224" cy="432048"/>
                <a:chOff x="467544" y="3068960"/>
                <a:chExt cx="2016224" cy="432048"/>
              </a:xfrm>
              <a:grpFill/>
            </p:grpSpPr>
            <p:grpSp>
              <p:nvGrpSpPr>
                <p:cNvPr id="42" name="Group 41"/>
                <p:cNvGrpSpPr/>
                <p:nvPr/>
              </p:nvGrpSpPr>
              <p:grpSpPr>
                <a:xfrm>
                  <a:off x="467544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48" name="Rectangle 47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49" name="Rectangle 48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50" name="Rectangle 49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51" name="Rectangle 50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  <p:grpSp>
              <p:nvGrpSpPr>
                <p:cNvPr id="43" name="Group 42"/>
                <p:cNvGrpSpPr/>
                <p:nvPr/>
              </p:nvGrpSpPr>
              <p:grpSpPr>
                <a:xfrm>
                  <a:off x="1475656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44" name="Rectangle 43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46" name="Rectangle 45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47" name="Rectangle 46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</p:grpSp>
          <p:grpSp>
            <p:nvGrpSpPr>
              <p:cNvPr id="31" name="Group 30"/>
              <p:cNvGrpSpPr/>
              <p:nvPr/>
            </p:nvGrpSpPr>
            <p:grpSpPr>
              <a:xfrm>
                <a:off x="2483768" y="3068960"/>
                <a:ext cx="2016224" cy="432048"/>
                <a:chOff x="467544" y="3068960"/>
                <a:chExt cx="2016224" cy="432048"/>
              </a:xfrm>
              <a:grpFill/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467544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38" name="Rectangle 37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40" name="Rectangle 39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1475656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34" name="Rectangle 33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35" name="Rectangle 34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36" name="Rectangle 35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37" name="Rectangle 36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Down Arrow Callout 27"/>
              <p:cNvSpPr/>
              <p:nvPr/>
            </p:nvSpPr>
            <p:spPr bwMode="auto">
              <a:xfrm>
                <a:off x="1585182" y="2204864"/>
                <a:ext cx="533028" cy="533028"/>
              </a:xfrm>
              <a:prstGeom prst="down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28" name="Down Arrow Callout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5182" y="2204864"/>
                <a:ext cx="533028" cy="533028"/>
              </a:xfrm>
              <a:prstGeom prst="downArrowCallou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Down Arrow Callout 54"/>
              <p:cNvSpPr/>
              <p:nvPr/>
            </p:nvSpPr>
            <p:spPr bwMode="auto">
              <a:xfrm>
                <a:off x="3857438" y="2204864"/>
                <a:ext cx="533028" cy="533028"/>
              </a:xfrm>
              <a:prstGeom prst="down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55" name="Down Arrow Callout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7438" y="2204864"/>
                <a:ext cx="533028" cy="533028"/>
              </a:xfrm>
              <a:prstGeom prst="downArrowCallou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Down Arrow Callout 55"/>
              <p:cNvSpPr/>
              <p:nvPr/>
            </p:nvSpPr>
            <p:spPr bwMode="auto">
              <a:xfrm>
                <a:off x="5617630" y="2230388"/>
                <a:ext cx="533028" cy="533028"/>
              </a:xfrm>
              <a:prstGeom prst="down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𝒊</m:t>
                          </m:r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+</m:t>
                          </m:r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56" name="Down Arrow Callout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7630" y="2230388"/>
                <a:ext cx="533028" cy="533028"/>
              </a:xfrm>
              <a:prstGeom prst="downArrowCallou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Down Arrow Callout 56"/>
              <p:cNvSpPr/>
              <p:nvPr/>
            </p:nvSpPr>
            <p:spPr bwMode="auto">
              <a:xfrm>
                <a:off x="7129798" y="2204864"/>
                <a:ext cx="533028" cy="533028"/>
              </a:xfrm>
              <a:prstGeom prst="down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sub>
                      </m:sSub>
                    </m:oMath>
                  </m:oMathPara>
                </a14:m>
                <a:endPara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57" name="Down Arrow Callout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29798" y="2204864"/>
                <a:ext cx="533028" cy="533028"/>
              </a:xfrm>
              <a:prstGeom prst="downArrowCallou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Up Arrow Callout 53"/>
              <p:cNvSpPr/>
              <p:nvPr/>
            </p:nvSpPr>
            <p:spPr bwMode="auto">
              <a:xfrm>
                <a:off x="5162066" y="3235449"/>
                <a:ext cx="1444156" cy="530352"/>
              </a:xfrm>
              <a:prstGeom prst="upArrowCallout">
                <a:avLst/>
              </a:prstGeom>
              <a:solidFill>
                <a:schemeClr val="accent3">
                  <a:lumMod val="25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ro-RO" sz="12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ro-RO" sz="12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𝒊</m:t>
                          </m:r>
                          <m:r>
                            <a:rPr kumimoji="0" lang="ro-RO" sz="12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+</m:t>
                          </m:r>
                          <m:r>
                            <a:rPr kumimoji="0" lang="ro-RO" sz="12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𝟏</m:t>
                          </m:r>
                        </m:e>
                      </m:d>
                      <m:sSup>
                        <m:sSupPr>
                          <m:ctrlPr>
                            <a:rPr kumimoji="0" lang="ro-RO" sz="12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ro-RO" sz="12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sz="12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𝑷</m:t>
                              </m:r>
                              <m:r>
                                <a:rPr kumimoji="0" lang="ro-RO" sz="12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+</m:t>
                              </m:r>
                              <m:r>
                                <a:rPr kumimoji="0" lang="ro-RO" sz="12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kumimoji="0" lang="ro-RO" sz="12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𝒈</m:t>
                          </m:r>
                          <m:r>
                            <a:rPr kumimoji="0" lang="ro-RO" sz="12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−</m:t>
                          </m:r>
                          <m:r>
                            <a:rPr kumimoji="0" lang="ro-RO" sz="12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kumimoji="0" lang="en-US" sz="1200" b="1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54" name="Up Arrow Callout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62066" y="3235449"/>
                <a:ext cx="1444156" cy="530352"/>
              </a:xfrm>
              <a:prstGeom prst="upArrowCallou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Up Arrow Callout 62"/>
              <p:cNvSpPr/>
              <p:nvPr/>
            </p:nvSpPr>
            <p:spPr bwMode="auto">
              <a:xfrm>
                <a:off x="3401576" y="3235449"/>
                <a:ext cx="1444752" cy="530352"/>
              </a:xfrm>
              <a:prstGeom prst="upArrowCallout">
                <a:avLst/>
              </a:prstGeom>
              <a:solidFill>
                <a:schemeClr val="accent3">
                  <a:lumMod val="25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o-RO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mbria Math"/>
                        </a:rPr>
                        <m:t>𝒊</m:t>
                      </m:r>
                      <m:sSup>
                        <m:sSupPr>
                          <m:ctrlPr>
                            <a:rPr kumimoji="0" lang="ro-RO" sz="12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ro-RO" sz="12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sz="12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𝑷</m:t>
                              </m:r>
                              <m:r>
                                <a:rPr kumimoji="0" lang="ro-RO" sz="12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+</m:t>
                              </m:r>
                              <m:r>
                                <a:rPr kumimoji="0" lang="ro-RO" sz="12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kumimoji="0" lang="ro-RO" sz="12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𝒈</m:t>
                          </m:r>
                          <m:r>
                            <a:rPr kumimoji="0" lang="ro-RO" sz="12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−</m:t>
                          </m:r>
                          <m:r>
                            <a:rPr kumimoji="0" lang="ro-RO" sz="12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kumimoji="0" lang="en-US" sz="1200" b="1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63" name="Up Arrow Callout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1576" y="3235449"/>
                <a:ext cx="1444752" cy="530352"/>
              </a:xfrm>
              <a:prstGeom prst="upArrowCallou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Connector 59"/>
          <p:cNvCxnSpPr/>
          <p:nvPr/>
        </p:nvCxnSpPr>
        <p:spPr bwMode="auto">
          <a:xfrm>
            <a:off x="4123952" y="3765801"/>
            <a:ext cx="0" cy="29028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 bwMode="auto">
          <a:xfrm>
            <a:off x="5884144" y="3773061"/>
            <a:ext cx="0" cy="29028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264" name="Straight Arrow Connector 11263"/>
          <p:cNvCxnSpPr/>
          <p:nvPr/>
        </p:nvCxnSpPr>
        <p:spPr bwMode="auto">
          <a:xfrm>
            <a:off x="4123952" y="3910941"/>
            <a:ext cx="1760192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65" name="TextBox 11264"/>
              <p:cNvSpPr txBox="1"/>
              <p:nvPr/>
            </p:nvSpPr>
            <p:spPr>
              <a:xfrm>
                <a:off x="4281935" y="3912065"/>
                <a:ext cx="1496115" cy="3125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 i="1" smtClean="0">
                                  <a:latin typeface="Cambria Math"/>
                                </a:rPr>
                                <m:t>𝑷</m:t>
                              </m:r>
                              <m:r>
                                <a:rPr lang="ro-RO" sz="14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ro-RO" sz="14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ro-RO" sz="1400" b="1" i="1" smtClean="0">
                              <a:latin typeface="Cambria Math"/>
                            </a:rPr>
                            <m:t>𝒈</m:t>
                          </m:r>
                          <m:r>
                            <a:rPr lang="ro-RO" sz="1400" b="1" i="1" smtClean="0">
                              <a:latin typeface="Cambria Math"/>
                            </a:rPr>
                            <m:t> −</m:t>
                          </m:r>
                          <m:r>
                            <a:rPr lang="ro-RO" sz="1400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ro-RO" sz="1400" b="1" i="1" smtClean="0">
                          <a:latin typeface="Cambria Math"/>
                        </a:rPr>
                        <m:t> −</m:t>
                      </m:r>
                      <m:r>
                        <a:rPr lang="ro-RO" sz="14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11265" name="TextBox 112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935" y="3912065"/>
                <a:ext cx="1496115" cy="312586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9" name="TextBox 11268"/>
          <p:cNvSpPr txBox="1"/>
          <p:nvPr/>
        </p:nvSpPr>
        <p:spPr>
          <a:xfrm>
            <a:off x="467544" y="3403729"/>
            <a:ext cx="226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800" dirty="0"/>
              <a:t>Pozițiile procesoarelor</a:t>
            </a:r>
            <a:endParaRPr lang="en-US" sz="1800" dirty="0"/>
          </a:p>
        </p:txBody>
      </p:sp>
      <p:sp>
        <p:nvSpPr>
          <p:cNvPr id="72" name="TextBox 71"/>
          <p:cNvSpPr txBox="1"/>
          <p:nvPr/>
        </p:nvSpPr>
        <p:spPr>
          <a:xfrm>
            <a:off x="467544" y="3789040"/>
            <a:ext cx="2383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800" dirty="0"/>
              <a:t>Dimensiune subinterval</a:t>
            </a:r>
            <a:endParaRPr lang="en-US" sz="1800" dirty="0"/>
          </a:p>
        </p:txBody>
      </p:sp>
      <p:sp>
        <p:nvSpPr>
          <p:cNvPr id="73" name="TextBox 72"/>
          <p:cNvSpPr txBox="1"/>
          <p:nvPr/>
        </p:nvSpPr>
        <p:spPr>
          <a:xfrm>
            <a:off x="3637493" y="2751311"/>
            <a:ext cx="2019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rgbClr val="FFFFFF"/>
                </a:solidFill>
              </a:rPr>
              <a:t>Vector cu date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271" name="Title 1127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2800" dirty="0"/>
              <a:t>Performanta?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394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5" grpId="0" animBg="1"/>
      <p:bldP spid="56" grpId="0" animBg="1"/>
      <p:bldP spid="57" grpId="0" animBg="1"/>
      <p:bldP spid="54" grpId="0" animBg="1"/>
      <p:bldP spid="63" grpId="0" animBg="1"/>
      <p:bldP spid="11265" grpId="0"/>
      <p:bldP spid="11269" grpId="0"/>
      <p:bldP spid="7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3475002" y="3577022"/>
                <a:ext cx="2338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b="0" i="1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r>
                            <a:rPr lang="ro-RO" sz="1800" b="0" i="1" smtClean="0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ro-RO" sz="1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ro-R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r>
                            <a:rPr lang="ro-RO" sz="1800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ro-RO" sz="1800" b="0" i="1" smtClean="0">
                          <a:latin typeface="Cambria Math"/>
                        </a:rPr>
                        <m:t>(</m:t>
                      </m:r>
                      <m:r>
                        <a:rPr lang="en-US" sz="1800" b="0" i="1" smtClean="0">
                          <a:latin typeface="Cambria Math"/>
                        </a:rPr>
                        <m:t>𝑃</m:t>
                      </m:r>
                      <m:r>
                        <a:rPr lang="ro-RO" sz="1800" b="0" i="1" smtClean="0">
                          <a:latin typeface="Cambria Math"/>
                        </a:rPr>
                        <m:t>+1)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002" y="3577022"/>
                <a:ext cx="2338012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/>
          <p:cNvCxnSpPr/>
          <p:nvPr/>
        </p:nvCxnSpPr>
        <p:spPr bwMode="auto">
          <a:xfrm>
            <a:off x="5940152" y="2830891"/>
            <a:ext cx="0" cy="74107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 bwMode="auto">
          <a:xfrm>
            <a:off x="7724352" y="2806328"/>
            <a:ext cx="0" cy="74107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408113"/>
                <a:ext cx="8382000" cy="5334000"/>
              </a:xfrm>
            </p:spPr>
            <p:txBody>
              <a:bodyPr/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20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20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20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20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20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20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ro-RO" sz="20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18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ro-RO" sz="1800" dirty="0"/>
                  <a:t>în ultimul pas </a:t>
                </a:r>
                <a:r>
                  <a:rPr lang="en-US" sz="1800" dirty="0"/>
                  <a:t>P</a:t>
                </a:r>
                <a:r>
                  <a:rPr lang="ro-RO" sz="1800" dirty="0"/>
                  <a:t> procesoare acoperă </a:t>
                </a:r>
                <a:r>
                  <a:rPr lang="en-US" sz="1800" dirty="0"/>
                  <a:t>P</a:t>
                </a:r>
                <a:r>
                  <a:rPr lang="ro-RO" sz="1800" dirty="0"/>
                  <a:t> elemente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ro-RO" sz="1800" dirty="0"/>
                  <a:t>în pasul anterior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𝑃</m:t>
                            </m:r>
                            <m:r>
                              <a:rPr lang="ro-RO" sz="1800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ro-RO" sz="18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ro-RO" sz="1800" b="0" i="1" smtClean="0">
                        <a:latin typeface="Cambria Math"/>
                      </a:rPr>
                      <m:t>−1</m:t>
                    </m:r>
                  </m:oMath>
                </a14:m>
                <a:endParaRPr lang="en-US" sz="18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ro-RO" sz="1800" dirty="0"/>
                  <a:t>în g paşi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𝑃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ro-RO" sz="1800" b="0" i="1" smtClean="0">
                            <a:latin typeface="Cambria Math"/>
                          </a:rPr>
                          <m:t>𝑔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−1</m:t>
                    </m:r>
                  </m:oMath>
                </a14:m>
                <a:endParaRPr lang="ro-RO" sz="18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1800" dirty="0"/>
              </a:p>
              <a:p>
                <a:pPr>
                  <a:lnSpc>
                    <a:spcPct val="80000"/>
                  </a:lnSpc>
                  <a:buNone/>
                </a:pPr>
                <a:r>
                  <a:rPr lang="ro-RO" sz="1800" dirty="0"/>
                  <a:t>din 		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𝑃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𝑔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−1</m:t>
                    </m:r>
                    <m:r>
                      <a:rPr lang="ro-RO" sz="1800" b="0" i="1" smtClean="0">
                        <a:latin typeface="Cambria Math"/>
                      </a:rPr>
                      <m:t>≥</m:t>
                    </m:r>
                    <m:r>
                      <a:rPr lang="ro-RO" sz="18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ro-RO" sz="1800" dirty="0"/>
                  <a:t>             </a:t>
                </a:r>
                <a:r>
                  <a:rPr lang="en-US" sz="18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(n = nr elemente </a:t>
                </a:r>
                <a:r>
                  <a:rPr lang="ro-RO" sz="18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ş</a:t>
                </a:r>
                <a:r>
                  <a:rPr lang="en-US" sz="1800" i="1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ir</a:t>
                </a:r>
                <a:r>
                  <a:rPr lang="en-US" sz="18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)</a:t>
                </a:r>
                <a:r>
                  <a:rPr lang="en-US" sz="1800" dirty="0"/>
                  <a:t>		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1800" dirty="0" err="1"/>
                  <a:t>rezult</a:t>
                </a:r>
                <a:r>
                  <a:rPr lang="ro-RO" sz="1800" dirty="0"/>
                  <a:t>ă</a:t>
                </a:r>
                <a:r>
                  <a:rPr lang="en-US" sz="1800" dirty="0"/>
                  <a:t>			</a:t>
                </a:r>
                <a14:m>
                  <m:oMath xmlns:m="http://schemas.openxmlformats.org/officeDocument/2006/math"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𝒈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𝒔𝒖𝒑</m:t>
                    </m:r>
                    <m:d>
                      <m:dPr>
                        <m:ctrlPr>
                          <a:rPr lang="ro-RO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sz="1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ro-RO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ro-RO" sz="1800" b="1" i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𝐥𝐨𝐠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ro-RO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o-RO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𝒏</m:t>
                                    </m:r>
                                    <m:r>
                                      <a:rPr lang="ro-RO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ro-RO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</m:d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ro-RO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ro-RO" sz="1800" b="1" i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𝐥𝐨𝐠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ro-RO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𝑷</m:t>
                                    </m:r>
                                    <m:r>
                                      <a:rPr lang="ro-RO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ro-RO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sz="1800" b="1" dirty="0"/>
              </a:p>
              <a:p>
                <a:pPr>
                  <a:lnSpc>
                    <a:spcPct val="80000"/>
                  </a:lnSpc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122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408113"/>
                <a:ext cx="8382000" cy="5334000"/>
              </a:xfrm>
              <a:blipFill>
                <a:blip r:embed="rId4"/>
                <a:stretch>
                  <a:fillRect l="-1815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539552" y="2377852"/>
            <a:ext cx="8064896" cy="432048"/>
            <a:chOff x="467544" y="3068960"/>
            <a:chExt cx="8064896" cy="432048"/>
          </a:xfrm>
          <a:solidFill>
            <a:schemeClr val="accent3">
              <a:lumMod val="25000"/>
            </a:schemeClr>
          </a:solidFill>
        </p:grpSpPr>
        <p:grpSp>
          <p:nvGrpSpPr>
            <p:cNvPr id="6" name="Group 5"/>
            <p:cNvGrpSpPr/>
            <p:nvPr/>
          </p:nvGrpSpPr>
          <p:grpSpPr>
            <a:xfrm>
              <a:off x="467544" y="3068960"/>
              <a:ext cx="4032448" cy="432048"/>
              <a:chOff x="467544" y="3068960"/>
              <a:chExt cx="4032448" cy="432048"/>
            </a:xfrm>
            <a:grpFill/>
          </p:grpSpPr>
          <p:grpSp>
            <p:nvGrpSpPr>
              <p:cNvPr id="30" name="Group 29"/>
              <p:cNvGrpSpPr/>
              <p:nvPr/>
            </p:nvGrpSpPr>
            <p:grpSpPr>
              <a:xfrm>
                <a:off x="467544" y="3068960"/>
                <a:ext cx="2016224" cy="432048"/>
                <a:chOff x="467544" y="3068960"/>
                <a:chExt cx="2016224" cy="432048"/>
              </a:xfrm>
              <a:grpFill/>
            </p:grpSpPr>
            <p:grpSp>
              <p:nvGrpSpPr>
                <p:cNvPr id="42" name="Group 41"/>
                <p:cNvGrpSpPr/>
                <p:nvPr/>
              </p:nvGrpSpPr>
              <p:grpSpPr>
                <a:xfrm>
                  <a:off x="467544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48" name="Rectangle 47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49" name="Rectangle 48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50" name="Rectangle 49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51" name="Rectangle 50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  <p:grpSp>
              <p:nvGrpSpPr>
                <p:cNvPr id="43" name="Group 42"/>
                <p:cNvGrpSpPr/>
                <p:nvPr/>
              </p:nvGrpSpPr>
              <p:grpSpPr>
                <a:xfrm>
                  <a:off x="1475656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44" name="Rectangle 43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46" name="Rectangle 45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47" name="Rectangle 46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</p:grpSp>
          <p:grpSp>
            <p:nvGrpSpPr>
              <p:cNvPr id="31" name="Group 30"/>
              <p:cNvGrpSpPr/>
              <p:nvPr/>
            </p:nvGrpSpPr>
            <p:grpSpPr>
              <a:xfrm>
                <a:off x="2483768" y="3068960"/>
                <a:ext cx="2016224" cy="432048"/>
                <a:chOff x="467544" y="3068960"/>
                <a:chExt cx="2016224" cy="432048"/>
              </a:xfrm>
              <a:grpFill/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467544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38" name="Rectangle 37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40" name="Rectangle 39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1475656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34" name="Rectangle 33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35" name="Rectangle 34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36" name="Rectangle 35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37" name="Rectangle 36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</p:grpSp>
        </p:grpSp>
        <p:grpSp>
          <p:nvGrpSpPr>
            <p:cNvPr id="7" name="Group 6"/>
            <p:cNvGrpSpPr/>
            <p:nvPr/>
          </p:nvGrpSpPr>
          <p:grpSpPr>
            <a:xfrm>
              <a:off x="4499992" y="3068960"/>
              <a:ext cx="4032448" cy="432048"/>
              <a:chOff x="467544" y="3068960"/>
              <a:chExt cx="4032448" cy="432048"/>
            </a:xfrm>
            <a:grpFill/>
          </p:grpSpPr>
          <p:grpSp>
            <p:nvGrpSpPr>
              <p:cNvPr id="8" name="Group 7"/>
              <p:cNvGrpSpPr/>
              <p:nvPr/>
            </p:nvGrpSpPr>
            <p:grpSpPr>
              <a:xfrm>
                <a:off x="467544" y="3068960"/>
                <a:ext cx="2016224" cy="432048"/>
                <a:chOff x="467544" y="3068960"/>
                <a:chExt cx="2016224" cy="432048"/>
              </a:xfrm>
              <a:grpFill/>
            </p:grpSpPr>
            <p:grpSp>
              <p:nvGrpSpPr>
                <p:cNvPr id="20" name="Group 19"/>
                <p:cNvGrpSpPr/>
                <p:nvPr/>
              </p:nvGrpSpPr>
              <p:grpSpPr>
                <a:xfrm>
                  <a:off x="467544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26" name="Rectangle 25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27" name="Rectangle 26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29" name="Rectangle 28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  <p:grpSp>
              <p:nvGrpSpPr>
                <p:cNvPr id="21" name="Group 20"/>
                <p:cNvGrpSpPr/>
                <p:nvPr/>
              </p:nvGrpSpPr>
              <p:grpSpPr>
                <a:xfrm>
                  <a:off x="1475656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22" name="Rectangle 21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23" name="Rectangle 22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24" name="Rectangle 23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</p:grpSp>
          <p:grpSp>
            <p:nvGrpSpPr>
              <p:cNvPr id="9" name="Group 8"/>
              <p:cNvGrpSpPr/>
              <p:nvPr/>
            </p:nvGrpSpPr>
            <p:grpSpPr>
              <a:xfrm>
                <a:off x="2483768" y="3068960"/>
                <a:ext cx="2016224" cy="432048"/>
                <a:chOff x="467544" y="3068960"/>
                <a:chExt cx="2016224" cy="432048"/>
              </a:xfrm>
              <a:grpFill/>
            </p:grpSpPr>
            <p:grpSp>
              <p:nvGrpSpPr>
                <p:cNvPr id="10" name="Group 9"/>
                <p:cNvGrpSpPr/>
                <p:nvPr/>
              </p:nvGrpSpPr>
              <p:grpSpPr>
                <a:xfrm>
                  <a:off x="467544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16" name="Rectangle 15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17" name="Rectangle 16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18" name="Rectangle 17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  <p:grpSp>
              <p:nvGrpSpPr>
                <p:cNvPr id="11" name="Group 10"/>
                <p:cNvGrpSpPr/>
                <p:nvPr/>
              </p:nvGrpSpPr>
              <p:grpSpPr>
                <a:xfrm>
                  <a:off x="1475656" y="3068960"/>
                  <a:ext cx="1008112" cy="432048"/>
                  <a:chOff x="467544" y="3068960"/>
                  <a:chExt cx="1008112" cy="432048"/>
                </a:xfrm>
                <a:grpFill/>
              </p:grpSpPr>
              <p:sp>
                <p:nvSpPr>
                  <p:cNvPr id="12" name="Rectangle 11"/>
                  <p:cNvSpPr/>
                  <p:nvPr/>
                </p:nvSpPr>
                <p:spPr bwMode="auto">
                  <a:xfrm>
                    <a:off x="46754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13" name="Rectangle 12"/>
                  <p:cNvSpPr/>
                  <p:nvPr/>
                </p:nvSpPr>
                <p:spPr bwMode="auto">
                  <a:xfrm>
                    <a:off x="715568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14" name="Rectangle 13"/>
                  <p:cNvSpPr/>
                  <p:nvPr/>
                </p:nvSpPr>
                <p:spPr bwMode="auto">
                  <a:xfrm>
                    <a:off x="971600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  <p:sp>
                <p:nvSpPr>
                  <p:cNvPr id="15" name="Rectangle 14"/>
                  <p:cNvSpPr/>
                  <p:nvPr/>
                </p:nvSpPr>
                <p:spPr bwMode="auto">
                  <a:xfrm>
                    <a:off x="1219624" y="3068960"/>
                    <a:ext cx="256032" cy="432048"/>
                  </a:xfrm>
                  <a:prstGeom prst="rect">
                    <a:avLst/>
                  </a:prstGeom>
                  <a:grpFill/>
                  <a:ln>
                    <a:solidFill>
                      <a:srgbClr val="FFFFFF"/>
                    </a:solidFill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charset="0"/>
                    </a:endParaRPr>
                  </a:p>
                </p:txBody>
              </p:sp>
            </p:grp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Down Arrow Callout 51"/>
              <p:cNvSpPr/>
              <p:nvPr/>
            </p:nvSpPr>
            <p:spPr bwMode="auto">
              <a:xfrm>
                <a:off x="3174876" y="1844824"/>
                <a:ext cx="533028" cy="533028"/>
              </a:xfrm>
              <a:prstGeom prst="down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52" name="Down Arrow Callout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4876" y="1844824"/>
                <a:ext cx="533028" cy="533028"/>
              </a:xfrm>
              <a:prstGeom prst="downArrowCallou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Up Arrow Callout 1"/>
              <p:cNvSpPr/>
              <p:nvPr/>
            </p:nvSpPr>
            <p:spPr bwMode="auto">
              <a:xfrm>
                <a:off x="3419872" y="2809900"/>
                <a:ext cx="530352" cy="530352"/>
              </a:xfrm>
              <a:prstGeom prst="up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2" name="Up Arrow Callou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872" y="2809900"/>
                <a:ext cx="530352" cy="530352"/>
              </a:xfrm>
              <a:prstGeom prst="upArrowCallou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Down Arrow Callout 54"/>
              <p:cNvSpPr/>
              <p:nvPr/>
            </p:nvSpPr>
            <p:spPr bwMode="auto">
              <a:xfrm>
                <a:off x="3678932" y="1844824"/>
                <a:ext cx="533028" cy="533028"/>
              </a:xfrm>
              <a:prstGeom prst="down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55" name="Down Arrow Callout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8932" y="1844824"/>
                <a:ext cx="533028" cy="533028"/>
              </a:xfrm>
              <a:prstGeom prst="downArrowCallou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57914" y="3547399"/>
                <a:ext cx="9721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b="0" i="1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r>
                            <a:rPr lang="ro-RO" sz="1800" b="0" i="1" smtClean="0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ro-RO" sz="1800" b="0" i="1" smtClean="0">
                          <a:latin typeface="Cambria Math"/>
                        </a:rPr>
                        <m:t>=</m:t>
                      </m:r>
                      <m:r>
                        <a:rPr lang="en-US" sz="1800" b="0" i="1" smtClean="0">
                          <a:latin typeface="Cambria Math"/>
                        </a:rPr>
                        <m:t>𝑃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14" y="3547399"/>
                <a:ext cx="972189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/>
          <p:nvPr/>
        </p:nvCxnSpPr>
        <p:spPr bwMode="auto">
          <a:xfrm>
            <a:off x="3347864" y="2809900"/>
            <a:ext cx="0" cy="74107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 bwMode="auto">
          <a:xfrm>
            <a:off x="3347864" y="3550971"/>
            <a:ext cx="259228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 bwMode="auto">
          <a:xfrm>
            <a:off x="1419648" y="2806328"/>
            <a:ext cx="0" cy="74107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 bwMode="auto">
          <a:xfrm>
            <a:off x="1419648" y="3547399"/>
            <a:ext cx="6304704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Up Arrow Callout 55"/>
              <p:cNvSpPr/>
              <p:nvPr/>
            </p:nvSpPr>
            <p:spPr bwMode="auto">
              <a:xfrm>
                <a:off x="5690976" y="2809900"/>
                <a:ext cx="530352" cy="530352"/>
              </a:xfrm>
              <a:prstGeom prst="up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sub>
                      </m:sSub>
                    </m:oMath>
                  </m:oMathPara>
                </a14:m>
                <a:endPara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56" name="Up Arrow Callout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90976" y="2809900"/>
                <a:ext cx="530352" cy="530352"/>
              </a:xfrm>
              <a:prstGeom prst="upArrowCallou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itle 7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2800" dirty="0"/>
              <a:t>Justificare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7187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59259E-6 L -0.21493 -0.00023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4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-0.13924 -0.00417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62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6 0.00023 L -0.0552 4.07407E-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8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33333E-6 L 0.19496 -0.00417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40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52" grpId="0" animBg="1"/>
      <p:bldP spid="52" grpId="1" animBg="1"/>
      <p:bldP spid="2" grpId="0" animBg="1"/>
      <p:bldP spid="2" grpId="1" animBg="1"/>
      <p:bldP spid="55" grpId="0" animBg="1"/>
      <p:bldP spid="55" grpId="1" animBg="1"/>
      <p:bldP spid="3" grpId="0"/>
      <p:bldP spid="3" grpId="1"/>
      <p:bldP spid="56" grpId="0" animBg="1"/>
      <p:bldP spid="56" grpId="1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87238" y="2330600"/>
            <a:ext cx="1678713" cy="864096"/>
            <a:chOff x="522956" y="3140968"/>
            <a:chExt cx="1129908" cy="550564"/>
          </a:xfrm>
        </p:grpSpPr>
        <p:sp>
          <p:nvSpPr>
            <p:cNvPr id="4" name="Rectangle 3"/>
            <p:cNvSpPr/>
            <p:nvPr/>
          </p:nvSpPr>
          <p:spPr bwMode="auto">
            <a:xfrm>
              <a:off x="522956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899592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4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276228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6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053931" y="2330600"/>
            <a:ext cx="1678713" cy="864096"/>
            <a:chOff x="522956" y="3140968"/>
            <a:chExt cx="1129908" cy="550564"/>
          </a:xfrm>
        </p:grpSpPr>
        <p:sp>
          <p:nvSpPr>
            <p:cNvPr id="10" name="Rectangle 9"/>
            <p:cNvSpPr/>
            <p:nvPr/>
          </p:nvSpPr>
          <p:spPr bwMode="auto">
            <a:xfrm>
              <a:off x="522956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9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899592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10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1276228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11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732644" y="2330600"/>
            <a:ext cx="1678713" cy="864096"/>
            <a:chOff x="522956" y="3140968"/>
            <a:chExt cx="1129908" cy="550564"/>
          </a:xfrm>
        </p:grpSpPr>
        <p:sp>
          <p:nvSpPr>
            <p:cNvPr id="14" name="Rectangle 13"/>
            <p:cNvSpPr/>
            <p:nvPr/>
          </p:nvSpPr>
          <p:spPr bwMode="auto">
            <a:xfrm>
              <a:off x="522956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13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899592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14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1276228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15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399337" y="2330600"/>
            <a:ext cx="1678713" cy="864096"/>
            <a:chOff x="522956" y="3140968"/>
            <a:chExt cx="1129908" cy="550564"/>
          </a:xfrm>
        </p:grpSpPr>
        <p:sp>
          <p:nvSpPr>
            <p:cNvPr id="18" name="Rectangle 17"/>
            <p:cNvSpPr/>
            <p:nvPr/>
          </p:nvSpPr>
          <p:spPr bwMode="auto">
            <a:xfrm>
              <a:off x="522956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18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899592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20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276228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25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</p:grpSp>
      <p:sp>
        <p:nvSpPr>
          <p:cNvPr id="22" name="Rectangle 21"/>
          <p:cNvSpPr/>
          <p:nvPr/>
        </p:nvSpPr>
        <p:spPr bwMode="auto">
          <a:xfrm>
            <a:off x="7078049" y="2330600"/>
            <a:ext cx="559571" cy="864096"/>
          </a:xfrm>
          <a:prstGeom prst="rect">
            <a:avLst/>
          </a:prstGeom>
          <a:solidFill>
            <a:schemeClr val="accent3">
              <a:lumMod val="25000"/>
            </a:schemeClr>
          </a:solidFill>
          <a:ln>
            <a:solidFill>
              <a:srgbClr val="FFFFFF"/>
            </a:solidFill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32</a:t>
            </a:r>
            <a:endParaRPr kumimoji="0" lang="en-US" sz="29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7637620" y="2330600"/>
            <a:ext cx="559571" cy="864096"/>
          </a:xfrm>
          <a:prstGeom prst="rect">
            <a:avLst/>
          </a:prstGeom>
          <a:solidFill>
            <a:schemeClr val="accent3">
              <a:lumMod val="25000"/>
            </a:schemeClr>
          </a:solidFill>
          <a:ln>
            <a:solidFill>
              <a:srgbClr val="FFFFFF"/>
            </a:solidFill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45</a:t>
            </a:r>
            <a:endParaRPr kumimoji="0" lang="en-US" sz="29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8197191" y="2330600"/>
            <a:ext cx="559571" cy="864096"/>
          </a:xfrm>
          <a:prstGeom prst="rect">
            <a:avLst/>
          </a:prstGeom>
          <a:solidFill>
            <a:schemeClr val="accent3">
              <a:lumMod val="25000"/>
            </a:schemeClr>
          </a:solidFill>
          <a:ln>
            <a:solidFill>
              <a:srgbClr val="FFFFFF"/>
            </a:solidFill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51</a:t>
            </a:r>
            <a:endParaRPr kumimoji="0" lang="en-US" sz="29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Down Arrow Callout 29"/>
              <p:cNvSpPr/>
              <p:nvPr/>
            </p:nvSpPr>
            <p:spPr bwMode="auto">
              <a:xfrm>
                <a:off x="2054824" y="1772816"/>
                <a:ext cx="557784" cy="557784"/>
              </a:xfrm>
              <a:prstGeom prst="down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30" name="Down Arrow Callout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4824" y="1772816"/>
                <a:ext cx="557784" cy="557784"/>
              </a:xfrm>
              <a:prstGeom prst="downArrowCallou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Down Arrow Callout 30"/>
              <p:cNvSpPr/>
              <p:nvPr/>
            </p:nvSpPr>
            <p:spPr bwMode="auto">
              <a:xfrm>
                <a:off x="4292215" y="1772816"/>
                <a:ext cx="557784" cy="557784"/>
              </a:xfrm>
              <a:prstGeom prst="down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31" name="Down Arrow Callout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2215" y="1772816"/>
                <a:ext cx="557784" cy="557784"/>
              </a:xfrm>
              <a:prstGeom prst="downArrowCallou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own Arrow Callout 31"/>
              <p:cNvSpPr/>
              <p:nvPr/>
            </p:nvSpPr>
            <p:spPr bwMode="auto">
              <a:xfrm>
                <a:off x="6520266" y="1772816"/>
                <a:ext cx="557784" cy="557784"/>
              </a:xfrm>
              <a:prstGeom prst="down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32" name="Down Arrow Callou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0266" y="1772816"/>
                <a:ext cx="557784" cy="557784"/>
              </a:xfrm>
              <a:prstGeom prst="downArrowCallou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496852" y="3213261"/>
            <a:ext cx="8230602" cy="461665"/>
            <a:chOff x="496852" y="4023629"/>
            <a:chExt cx="8230602" cy="461665"/>
          </a:xfrm>
        </p:grpSpPr>
        <p:sp>
          <p:nvSpPr>
            <p:cNvPr id="25" name="TextBox 24"/>
            <p:cNvSpPr txBox="1"/>
            <p:nvPr/>
          </p:nvSpPr>
          <p:spPr>
            <a:xfrm>
              <a:off x="496852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99495" y="4023629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615994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63546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730125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282687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844045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401829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926139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9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32007" y="4023629"/>
              <a:ext cx="4924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995499" y="4023629"/>
              <a:ext cx="4810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11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552936" y="4023629"/>
              <a:ext cx="4924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110719" y="4023629"/>
              <a:ext cx="4924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13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671183" y="4023629"/>
              <a:ext cx="4924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14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235010" y="4023629"/>
              <a:ext cx="4924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15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402886" y="4077072"/>
                <a:ext cx="8561602" cy="1421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pt-BR" dirty="0"/>
                  <a:t>X</a:t>
                </a:r>
                <a:r>
                  <a:rPr lang="ro-RO" dirty="0"/>
                  <a:t> </a:t>
                </a:r>
                <a:r>
                  <a:rPr lang="pt-BR" dirty="0"/>
                  <a:t>=</a:t>
                </a:r>
                <a:r>
                  <a:rPr lang="ro-RO" dirty="0"/>
                  <a:t> </a:t>
                </a:r>
                <a:r>
                  <a:rPr lang="pt-BR" dirty="0"/>
                  <a:t>45</a:t>
                </a:r>
                <a:r>
                  <a:rPr lang="ro-RO" dirty="0"/>
                  <a:t> </a:t>
                </a:r>
                <a:r>
                  <a:rPr lang="ro-RO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(numărul căutat)</a:t>
                </a:r>
              </a:p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en-US" dirty="0"/>
                  <a:t>P</a:t>
                </a:r>
                <a:r>
                  <a:rPr lang="ro-RO" dirty="0"/>
                  <a:t> </a:t>
                </a:r>
                <a:r>
                  <a:rPr lang="pt-BR" dirty="0"/>
                  <a:t>=</a:t>
                </a:r>
                <a:r>
                  <a:rPr lang="ro-RO" dirty="0"/>
                  <a:t> </a:t>
                </a:r>
                <a:r>
                  <a:rPr lang="pt-BR" dirty="0"/>
                  <a:t>3</a:t>
                </a:r>
                <a:r>
                  <a:rPr lang="ro-RO" dirty="0"/>
                  <a:t>   </a:t>
                </a:r>
                <a:r>
                  <a:rPr lang="ro-RO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(numărul de procesoare)</a:t>
                </a:r>
              </a:p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ro-RO" dirty="0"/>
                  <a:t>n </a:t>
                </a:r>
                <a:r>
                  <a:rPr lang="pt-BR" dirty="0"/>
                  <a:t>=</a:t>
                </a:r>
                <a:r>
                  <a:rPr lang="ro-RO" dirty="0"/>
                  <a:t> </a:t>
                </a:r>
                <a:r>
                  <a:rPr lang="pt-BR" dirty="0"/>
                  <a:t>15</a:t>
                </a:r>
                <a:r>
                  <a:rPr lang="ro-RO" dirty="0"/>
                  <a:t>  </a:t>
                </a:r>
                <a:r>
                  <a:rPr lang="ro-RO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(dimensiunea vectorului)</a:t>
                </a:r>
              </a:p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endParaRPr lang="pt-BR" i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ro-RO" dirty="0"/>
                  <a:t>D</a:t>
                </a:r>
                <a:r>
                  <a:rPr lang="pt-BR" dirty="0"/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ro-RO" b="0" i="1" smtClean="0">
                            <a:latin typeface="Cambria Math"/>
                          </a:rPr>
                          <m:t>+1)</m:t>
                        </m:r>
                      </m:e>
                      <m:sup>
                        <m:r>
                          <a:rPr lang="ro-RO" b="0" i="1" smtClean="0">
                            <a:latin typeface="Cambria Math"/>
                          </a:rPr>
                          <m:t>𝑔</m:t>
                        </m:r>
                      </m:sup>
                    </m:sSup>
                    <m:r>
                      <a:rPr lang="ro-RO" b="0" i="1" smtClean="0">
                        <a:latin typeface="Cambria Math"/>
                      </a:rPr>
                      <m:t>≥</m:t>
                    </m:r>
                    <m:r>
                      <a:rPr lang="ro-RO" b="0" i="1" smtClean="0">
                        <a:latin typeface="Cambria Math"/>
                      </a:rPr>
                      <m:t>𝑛</m:t>
                    </m:r>
                    <m:r>
                      <a:rPr lang="ro-RO" b="0" i="1" smtClean="0">
                        <a:latin typeface="Cambria Math"/>
                      </a:rPr>
                      <m:t>+1 →</m:t>
                    </m:r>
                    <m:r>
                      <a:rPr lang="ro-RO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𝒈</m:t>
                    </m:r>
                    <m:r>
                      <a:rPr lang="ro-RO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ro-RO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𝟐</m:t>
                    </m:r>
                  </m:oMath>
                </a14:m>
                <a:r>
                  <a:rPr lang="pt-BR" dirty="0"/>
                  <a:t>. </a:t>
                </a:r>
              </a:p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pt-BR" dirty="0"/>
                  <a:t>Lungimea unei subsecvenţe </a:t>
                </a:r>
                <a:r>
                  <a:rPr lang="ro-RO" dirty="0"/>
                  <a:t>î</a:t>
                </a:r>
                <a:r>
                  <a:rPr lang="pt-BR" dirty="0"/>
                  <a:t>n primul pas este</a:t>
                </a:r>
                <a14:m>
                  <m:oMath xmlns:m="http://schemas.openxmlformats.org/officeDocument/2006/math">
                    <m:r>
                      <a:rPr lang="ro-RO" b="0" i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ro-RO" b="0" i="1" smtClean="0">
                            <a:latin typeface="Cambria Math"/>
                          </a:rPr>
                          <m:t>+1)</m:t>
                        </m:r>
                      </m:e>
                      <m:sup>
                        <m:r>
                          <a:rPr lang="ro-RO" b="0" i="1" smtClean="0">
                            <a:latin typeface="Cambria Math"/>
                          </a:rPr>
                          <m:t>𝑔</m:t>
                        </m:r>
                        <m:r>
                          <a:rPr lang="ro-RO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ro-RO" b="0" i="1" smtClean="0">
                        <a:latin typeface="Cambria Math"/>
                      </a:rPr>
                      <m:t>=</m:t>
                    </m:r>
                    <m:r>
                      <a:rPr lang="ro-RO" b="1" i="1" smtClean="0">
                        <a:solidFill>
                          <a:srgbClr val="FF000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pt-BR" dirty="0"/>
                  <a:t>.  </a:t>
                </a:r>
                <a:endParaRPr lang="en-US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86" y="4077072"/>
                <a:ext cx="8561602" cy="1421928"/>
              </a:xfrm>
              <a:prstGeom prst="rect">
                <a:avLst/>
              </a:prstGeom>
              <a:blipFill>
                <a:blip r:embed="rId5"/>
                <a:stretch>
                  <a:fillRect l="-444" t="-7143" b="-6250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02336" y="4078224"/>
                <a:ext cx="6531727" cy="387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14:m>
                  <m:oMath xmlns:m="http://schemas.openxmlformats.org/officeDocument/2006/math">
                    <m:r>
                      <a:rPr lang="ro-RO" i="1" smtClean="0">
                        <a:latin typeface="Cambria Math"/>
                      </a:rPr>
                      <m:t>𝑔</m:t>
                    </m:r>
                    <m:r>
                      <a:rPr lang="ro-RO" i="1" smtClean="0">
                        <a:latin typeface="Cambria Math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36" y="4078224"/>
                <a:ext cx="6531727" cy="387798"/>
              </a:xfrm>
              <a:prstGeom prst="rect">
                <a:avLst/>
              </a:prstGeom>
              <a:blipFill rotWithShape="1">
                <a:blip r:embed="rId6"/>
                <a:stretch>
                  <a:fillRect l="-1214" t="-25000" b="-29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itle 5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2800" dirty="0"/>
              <a:t>Exemplu 1</a:t>
            </a:r>
            <a:endParaRPr lang="en-US" sz="2800" dirty="0"/>
          </a:p>
        </p:txBody>
      </p:sp>
      <p:cxnSp>
        <p:nvCxnSpPr>
          <p:cNvPr id="7" name="Mod1"/>
          <p:cNvCxnSpPr/>
          <p:nvPr/>
        </p:nvCxnSpPr>
        <p:spPr bwMode="auto">
          <a:xfrm>
            <a:off x="402886" y="3674926"/>
            <a:ext cx="8324568" cy="0"/>
          </a:xfrm>
          <a:prstGeom prst="line">
            <a:avLst/>
          </a:prstGeom>
          <a:ln>
            <a:headEnd type="triangle" w="lg" len="med"/>
            <a:tailEnd type="triangle" w="lg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9" name="Mod2"/>
          <p:cNvCxnSpPr/>
          <p:nvPr/>
        </p:nvCxnSpPr>
        <p:spPr bwMode="auto">
          <a:xfrm>
            <a:off x="7110719" y="3675600"/>
            <a:ext cx="1617049" cy="0"/>
          </a:xfrm>
          <a:prstGeom prst="line">
            <a:avLst/>
          </a:prstGeom>
          <a:ln>
            <a:headEnd type="triangle" w="lg" len="med"/>
            <a:tailEnd type="triangle" w="lg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68073" y="4077072"/>
                <a:ext cx="8561602" cy="2456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14:m>
                  <m:oMath xmlns:m="http://schemas.openxmlformats.org/officeDocument/2006/math">
                    <m:r>
                      <a:rPr lang="ro-RO" i="1" smtClean="0">
                        <a:latin typeface="Cambria Math"/>
                      </a:rPr>
                      <m:t>𝑔</m:t>
                    </m:r>
                    <m:r>
                      <a:rPr lang="ro-RO" i="1" smtClean="0">
                        <a:latin typeface="Cambria Math"/>
                      </a:rPr>
                      <m:t>=2</m:t>
                    </m:r>
                  </m:oMath>
                </a14:m>
                <a:endParaRPr lang="ro-RO" dirty="0"/>
              </a:p>
              <a:p>
                <a:pPr marL="800100" lvl="1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14:m>
                  <m:oMath xmlns:m="http://schemas.openxmlformats.org/officeDocument/2006/math">
                    <m:r>
                      <a:rPr lang="ro-RO" b="0" i="1" smtClean="0">
                        <a:latin typeface="Cambria Math"/>
                      </a:rPr>
                      <m:t>𝑖</m:t>
                    </m:r>
                    <m:r>
                      <a:rPr lang="ro-RO" b="0" i="1" smtClean="0">
                        <a:latin typeface="Cambria Math"/>
                      </a:rPr>
                      <m:t>=1</m:t>
                    </m:r>
                  </m:oMath>
                </a14:m>
                <a:endParaRPr lang="ro-RO" b="0" dirty="0"/>
              </a:p>
              <a:p>
                <a:pPr marL="1257300" lvl="2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ro-RO" dirty="0"/>
                  <a:t>Din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b="0" i="1" smtClean="0">
                            <a:latin typeface="Cambria Math"/>
                          </a:rPr>
                          <m:t>𝑖</m:t>
                        </m:r>
                        <m:r>
                          <a:rPr lang="ro-RO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ro-RO" b="0" i="1" smtClean="0">
                            <a:latin typeface="Cambria Math"/>
                          </a:rPr>
                          <m:t>+1)</m:t>
                        </m:r>
                      </m:e>
                      <m:sup>
                        <m:r>
                          <a:rPr lang="ro-RO" b="0" i="1" smtClean="0">
                            <a:latin typeface="Cambria Math"/>
                          </a:rPr>
                          <m:t>𝑔</m:t>
                        </m:r>
                        <m:r>
                          <a:rPr lang="ro-RO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ro-RO" b="0" i="1" smtClean="0">
                        <a:latin typeface="Cambria Math"/>
                      </a:rPr>
                      <m:t>⇒ </m:t>
                    </m:r>
                    <m:sSub>
                      <m:sSubPr>
                        <m:ctrlPr>
                          <a:rPr lang="ro-R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ro-RO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dirty="0"/>
                  <a:t> va</a:t>
                </a:r>
                <a:r>
                  <a:rPr lang="pt-BR" dirty="0"/>
                  <a:t> </a:t>
                </a:r>
                <a:r>
                  <a:rPr lang="ro-RO" dirty="0"/>
                  <a:t>ocupa poziția 4 din vector</a:t>
                </a:r>
                <a:r>
                  <a:rPr lang="pt-BR" dirty="0"/>
                  <a:t> </a:t>
                </a:r>
                <a:endParaRPr lang="ro-RO" dirty="0"/>
              </a:p>
              <a:p>
                <a:pPr marL="800100" lvl="1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14:m>
                  <m:oMath xmlns:m="http://schemas.openxmlformats.org/officeDocument/2006/math">
                    <m:r>
                      <a:rPr lang="ro-RO" i="1">
                        <a:latin typeface="Cambria Math"/>
                      </a:rPr>
                      <m:t>𝑖</m:t>
                    </m:r>
                    <m:r>
                      <a:rPr lang="ro-RO" i="1">
                        <a:latin typeface="Cambria Math"/>
                      </a:rPr>
                      <m:t>=2</m:t>
                    </m:r>
                  </m:oMath>
                </a14:m>
                <a:endParaRPr lang="ro-RO" dirty="0"/>
              </a:p>
              <a:p>
                <a:pPr marL="1257300" lvl="2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ro-RO" dirty="0"/>
                  <a:t>Din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b="0" i="1" smtClean="0">
                            <a:latin typeface="Cambria Math"/>
                          </a:rPr>
                          <m:t>𝑖</m:t>
                        </m:r>
                        <m:r>
                          <a:rPr lang="ro-RO" i="1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ro-RO" i="1">
                            <a:latin typeface="Cambria Math"/>
                          </a:rPr>
                          <m:t>+1)</m:t>
                        </m:r>
                      </m:e>
                      <m:sup>
                        <m:r>
                          <a:rPr lang="ro-RO" i="1">
                            <a:latin typeface="Cambria Math"/>
                          </a:rPr>
                          <m:t>𝑔</m:t>
                        </m:r>
                        <m:r>
                          <a:rPr lang="ro-RO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ro-RO" i="1">
                        <a:latin typeface="Cambria Math"/>
                      </a:rPr>
                      <m:t>⇒ </m:t>
                    </m:r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ro-RO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dirty="0"/>
                  <a:t> va</a:t>
                </a:r>
                <a:r>
                  <a:rPr lang="pt-BR" dirty="0"/>
                  <a:t> </a:t>
                </a:r>
                <a:r>
                  <a:rPr lang="ro-RO" dirty="0"/>
                  <a:t>ocupa poziția 8 din vector</a:t>
                </a:r>
                <a:r>
                  <a:rPr lang="pt-BR" dirty="0"/>
                  <a:t> </a:t>
                </a:r>
                <a:endParaRPr lang="ro-RO" dirty="0"/>
              </a:p>
              <a:p>
                <a:pPr marL="800100" lvl="1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14:m>
                  <m:oMath xmlns:m="http://schemas.openxmlformats.org/officeDocument/2006/math">
                    <m:r>
                      <a:rPr lang="ro-RO" i="1">
                        <a:latin typeface="Cambria Math"/>
                      </a:rPr>
                      <m:t>𝑖</m:t>
                    </m:r>
                    <m:r>
                      <a:rPr lang="ro-RO" i="1">
                        <a:latin typeface="Cambria Math"/>
                      </a:rPr>
                      <m:t>=3</m:t>
                    </m:r>
                  </m:oMath>
                </a14:m>
                <a:endParaRPr lang="ro-RO" dirty="0"/>
              </a:p>
              <a:p>
                <a:pPr marL="1257300" lvl="2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ro-RO" dirty="0"/>
                  <a:t>Din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i="1">
                            <a:latin typeface="Cambria Math"/>
                          </a:rPr>
                          <m:t>𝑖</m:t>
                        </m:r>
                        <m:r>
                          <a:rPr lang="ro-RO" i="1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ro-RO" i="1">
                            <a:latin typeface="Cambria Math"/>
                          </a:rPr>
                          <m:t>+1)</m:t>
                        </m:r>
                      </m:e>
                      <m:sup>
                        <m:r>
                          <a:rPr lang="ro-RO" i="1">
                            <a:latin typeface="Cambria Math"/>
                          </a:rPr>
                          <m:t>𝑔</m:t>
                        </m:r>
                        <m:r>
                          <a:rPr lang="ro-RO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ro-RO" i="1">
                        <a:latin typeface="Cambria Math"/>
                      </a:rPr>
                      <m:t>⇒ </m:t>
                    </m:r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ro-RO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ro-RO" dirty="0"/>
                  <a:t> va</a:t>
                </a:r>
                <a:r>
                  <a:rPr lang="pt-BR" dirty="0"/>
                  <a:t> </a:t>
                </a:r>
                <a:r>
                  <a:rPr lang="ro-RO" dirty="0"/>
                  <a:t>ocupa poziția 12 din vector</a:t>
                </a:r>
                <a:endParaRPr lang="en-US" dirty="0"/>
              </a:p>
              <a:p>
                <a:pPr marL="800100" lvl="1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73" y="4077072"/>
                <a:ext cx="8561602" cy="2456057"/>
              </a:xfrm>
              <a:prstGeom prst="rect">
                <a:avLst/>
              </a:prstGeom>
              <a:blipFill>
                <a:blip r:embed="rId7"/>
                <a:stretch>
                  <a:fillRect l="-444" t="-2577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60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4.07407E-6 L 0.18159 0.00139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80" y="69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4.07407E-6 L 0.3625 0.00139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25" y="6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0.5441 0.00139 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0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50" grpId="0" uiExpand="1" build="allAtOnce"/>
      <p:bldP spid="54" grpId="0"/>
      <p:bldP spid="55" grpId="0" uiExpand="1" build="allAtOnce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5" name="g3"/>
              <p:cNvSpPr txBox="1"/>
              <p:nvPr/>
            </p:nvSpPr>
            <p:spPr>
              <a:xfrm>
                <a:off x="402336" y="4078224"/>
                <a:ext cx="856160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14:m>
                  <m:oMath xmlns:m="http://schemas.openxmlformats.org/officeDocument/2006/math">
                    <m:r>
                      <a:rPr lang="ro-RO" i="1" smtClean="0">
                        <a:latin typeface="Cambria Math"/>
                      </a:rPr>
                      <m:t>𝑔</m:t>
                    </m:r>
                    <m:r>
                      <a:rPr lang="ro-RO" i="1" smtClean="0">
                        <a:latin typeface="Cambria Math"/>
                      </a:rPr>
                      <m:t>=3</m:t>
                    </m:r>
                  </m:oMath>
                </a14:m>
                <a:endParaRPr lang="ro-RO" dirty="0"/>
              </a:p>
              <a:p>
                <a:pPr marL="800100" lvl="1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14:m>
                  <m:oMath xmlns:m="http://schemas.openxmlformats.org/officeDocument/2006/math">
                    <m:r>
                      <a:rPr lang="ro-RO" b="0" i="1" smtClean="0">
                        <a:latin typeface="Cambria Math"/>
                      </a:rPr>
                      <m:t>𝑖</m:t>
                    </m:r>
                    <m:r>
                      <a:rPr lang="ro-RO" b="0" i="1" smtClean="0">
                        <a:latin typeface="Cambria Math"/>
                      </a:rPr>
                      <m:t>=1</m:t>
                    </m:r>
                  </m:oMath>
                </a14:m>
                <a:endParaRPr lang="ro-RO" b="0" dirty="0"/>
              </a:p>
              <a:p>
                <a:pPr marL="1257300" lvl="2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ro-RO" dirty="0"/>
                  <a:t>Din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b="0" i="1" smtClean="0">
                            <a:latin typeface="Cambria Math"/>
                          </a:rPr>
                          <m:t>𝑖</m:t>
                        </m:r>
                        <m:r>
                          <a:rPr lang="ro-RO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ro-RO" b="0" i="1" smtClean="0">
                            <a:latin typeface="Cambria Math"/>
                          </a:rPr>
                          <m:t>+1)</m:t>
                        </m:r>
                      </m:e>
                      <m:sup>
                        <m:r>
                          <a:rPr lang="ro-RO" b="0" i="1" smtClean="0">
                            <a:latin typeface="Cambria Math"/>
                          </a:rPr>
                          <m:t>𝑔</m:t>
                        </m:r>
                        <m:r>
                          <a:rPr lang="ro-RO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ro-RO" b="0" i="1" smtClean="0">
                        <a:latin typeface="Cambria Math"/>
                      </a:rPr>
                      <m:t>⇒ </m:t>
                    </m:r>
                    <m:sSub>
                      <m:sSubPr>
                        <m:ctrlPr>
                          <a:rPr lang="ro-R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ro-RO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dirty="0"/>
                  <a:t> va</a:t>
                </a:r>
                <a:r>
                  <a:rPr lang="pt-BR" dirty="0"/>
                  <a:t> </a:t>
                </a:r>
                <a:r>
                  <a:rPr lang="ro-RO" dirty="0"/>
                  <a:t>ocupa poziția 9 din vector</a:t>
                </a:r>
                <a:r>
                  <a:rPr lang="pt-BR" dirty="0"/>
                  <a:t> </a:t>
                </a:r>
                <a:endParaRPr lang="ro-RO" dirty="0"/>
              </a:p>
              <a:p>
                <a:pPr marL="800100" lvl="1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14:m>
                  <m:oMath xmlns:m="http://schemas.openxmlformats.org/officeDocument/2006/math">
                    <m:r>
                      <a:rPr lang="ro-RO" i="1">
                        <a:latin typeface="Cambria Math"/>
                      </a:rPr>
                      <m:t>𝑖</m:t>
                    </m:r>
                    <m:r>
                      <a:rPr lang="ro-RO" i="1">
                        <a:latin typeface="Cambria Math"/>
                      </a:rPr>
                      <m:t>=2</m:t>
                    </m:r>
                  </m:oMath>
                </a14:m>
                <a:endParaRPr lang="ro-RO" dirty="0"/>
              </a:p>
              <a:p>
                <a:pPr marL="1257300" lvl="2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ro-RO" dirty="0"/>
                  <a:t>Din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b="0" i="1" smtClean="0">
                            <a:latin typeface="Cambria Math"/>
                          </a:rPr>
                          <m:t>𝑖</m:t>
                        </m:r>
                        <m:r>
                          <a:rPr lang="ro-RO" i="1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ro-RO" i="1">
                            <a:latin typeface="Cambria Math"/>
                          </a:rPr>
                          <m:t>+1)</m:t>
                        </m:r>
                      </m:e>
                      <m:sup>
                        <m:r>
                          <a:rPr lang="ro-RO" i="1">
                            <a:latin typeface="Cambria Math"/>
                          </a:rPr>
                          <m:t>𝑔</m:t>
                        </m:r>
                        <m:r>
                          <a:rPr lang="ro-RO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ro-RO" i="1">
                        <a:latin typeface="Cambria Math"/>
                      </a:rPr>
                      <m:t>⇒ </m:t>
                    </m:r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ro-RO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dirty="0"/>
                  <a:t> va</a:t>
                </a:r>
                <a:r>
                  <a:rPr lang="pt-BR" dirty="0"/>
                  <a:t> </a:t>
                </a:r>
                <a:r>
                  <a:rPr lang="ro-RO" dirty="0"/>
                  <a:t>ocupa poziția </a:t>
                </a:r>
                <a:r>
                  <a:rPr lang="ro-RO" b="1" dirty="0">
                    <a:solidFill>
                      <a:srgbClr val="FF0000"/>
                    </a:solidFill>
                  </a:rPr>
                  <a:t>18</a:t>
                </a:r>
                <a:r>
                  <a:rPr lang="ro-RO" dirty="0"/>
                  <a:t> din vector</a:t>
                </a:r>
                <a:endParaRPr lang="en-US" dirty="0"/>
              </a:p>
            </p:txBody>
          </p:sp>
        </mc:Choice>
        <mc:Fallback xmlns="">
          <p:sp>
            <p:nvSpPr>
              <p:cNvPr id="55" name="g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36" y="4078224"/>
                <a:ext cx="8561602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926" t="-6226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402886" y="4077072"/>
                <a:ext cx="8561602" cy="1421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pt-BR" dirty="0"/>
                  <a:t>X</a:t>
                </a:r>
                <a:r>
                  <a:rPr lang="ro-RO" dirty="0"/>
                  <a:t> </a:t>
                </a:r>
                <a:r>
                  <a:rPr lang="pt-BR" dirty="0"/>
                  <a:t>=</a:t>
                </a:r>
                <a:r>
                  <a:rPr lang="ro-RO" dirty="0"/>
                  <a:t> 21 </a:t>
                </a:r>
                <a:r>
                  <a:rPr lang="ro-RO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(numărul căutat)</a:t>
                </a:r>
              </a:p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en-US" dirty="0"/>
                  <a:t>P</a:t>
                </a:r>
                <a:r>
                  <a:rPr lang="ro-RO" dirty="0"/>
                  <a:t> </a:t>
                </a:r>
                <a:r>
                  <a:rPr lang="pt-BR" dirty="0"/>
                  <a:t>=</a:t>
                </a:r>
                <a:r>
                  <a:rPr lang="ro-RO" dirty="0"/>
                  <a:t> 2   </a:t>
                </a:r>
                <a:r>
                  <a:rPr lang="ro-RO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(numărul de procesoare)</a:t>
                </a:r>
              </a:p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ro-RO" dirty="0"/>
                  <a:t>n </a:t>
                </a:r>
                <a:r>
                  <a:rPr lang="pt-BR" dirty="0"/>
                  <a:t>=</a:t>
                </a:r>
                <a:r>
                  <a:rPr lang="ro-RO" dirty="0"/>
                  <a:t> </a:t>
                </a:r>
                <a:r>
                  <a:rPr lang="pt-BR" dirty="0"/>
                  <a:t>15</a:t>
                </a:r>
                <a:r>
                  <a:rPr lang="ro-RO" dirty="0"/>
                  <a:t>  </a:t>
                </a:r>
                <a:r>
                  <a:rPr lang="ro-RO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(dimensiunea vectorului)</a:t>
                </a:r>
              </a:p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endParaRPr lang="pt-BR" i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ro-RO" dirty="0"/>
                  <a:t>D</a:t>
                </a:r>
                <a:r>
                  <a:rPr lang="pt-BR" dirty="0"/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ro-RO" b="0" i="1" smtClean="0">
                            <a:latin typeface="Cambria Math"/>
                          </a:rPr>
                          <m:t>+1)</m:t>
                        </m:r>
                      </m:e>
                      <m:sup>
                        <m:r>
                          <a:rPr lang="ro-RO" b="0" i="1" smtClean="0">
                            <a:latin typeface="Cambria Math"/>
                          </a:rPr>
                          <m:t>𝑔</m:t>
                        </m:r>
                      </m:sup>
                    </m:sSup>
                    <m:r>
                      <a:rPr lang="ro-RO" b="0" i="1" smtClean="0">
                        <a:latin typeface="Cambria Math"/>
                      </a:rPr>
                      <m:t>≥</m:t>
                    </m:r>
                    <m:r>
                      <a:rPr lang="ro-RO" b="0" i="1" smtClean="0">
                        <a:latin typeface="Cambria Math"/>
                      </a:rPr>
                      <m:t>𝑛</m:t>
                    </m:r>
                    <m:r>
                      <a:rPr lang="ro-RO" b="0" i="1" smtClean="0">
                        <a:latin typeface="Cambria Math"/>
                      </a:rPr>
                      <m:t>+1 →</m:t>
                    </m:r>
                    <m:r>
                      <a:rPr lang="ro-RO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𝒈</m:t>
                    </m:r>
                    <m:r>
                      <a:rPr lang="ro-RO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ro-RO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𝟑</m:t>
                    </m:r>
                  </m:oMath>
                </a14:m>
                <a:r>
                  <a:rPr lang="pt-BR" dirty="0"/>
                  <a:t>. </a:t>
                </a:r>
              </a:p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:r>
                  <a:rPr lang="pt-BR" dirty="0"/>
                  <a:t>Lungimea unei subsecvenţe </a:t>
                </a:r>
                <a:r>
                  <a:rPr lang="ro-RO" dirty="0"/>
                  <a:t>î</a:t>
                </a:r>
                <a:r>
                  <a:rPr lang="pt-BR" dirty="0"/>
                  <a:t>n primul pas este</a:t>
                </a:r>
                <a14:m>
                  <m:oMath xmlns:m="http://schemas.openxmlformats.org/officeDocument/2006/math">
                    <m:r>
                      <a:rPr lang="ro-RO" b="0" i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ro-RO" b="0" i="1" smtClean="0">
                            <a:latin typeface="Cambria Math"/>
                          </a:rPr>
                          <m:t>+1)</m:t>
                        </m:r>
                      </m:e>
                      <m:sup>
                        <m:r>
                          <a:rPr lang="ro-RO" b="0" i="1" smtClean="0">
                            <a:latin typeface="Cambria Math"/>
                          </a:rPr>
                          <m:t>𝑔</m:t>
                        </m:r>
                        <m:r>
                          <a:rPr lang="ro-RO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ro-RO" b="0" i="1" smtClean="0">
                        <a:latin typeface="Cambria Math"/>
                      </a:rPr>
                      <m:t>=</m:t>
                    </m:r>
                    <m:r>
                      <a:rPr lang="ro-RO" b="1" i="1" smtClean="0">
                        <a:solidFill>
                          <a:srgbClr val="FF000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pt-BR" dirty="0"/>
                  <a:t>.  </a:t>
                </a:r>
                <a:endParaRPr lang="en-US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86" y="4077072"/>
                <a:ext cx="8561602" cy="1421928"/>
              </a:xfrm>
              <a:prstGeom prst="rect">
                <a:avLst/>
              </a:prstGeom>
              <a:blipFill>
                <a:blip r:embed="rId4"/>
                <a:stretch>
                  <a:fillRect l="-444" t="-7143" b="-6250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387238" y="2330600"/>
            <a:ext cx="1678713" cy="864096"/>
            <a:chOff x="522956" y="3140968"/>
            <a:chExt cx="1129908" cy="550564"/>
          </a:xfrm>
        </p:grpSpPr>
        <p:sp>
          <p:nvSpPr>
            <p:cNvPr id="4" name="Rectangle 3"/>
            <p:cNvSpPr/>
            <p:nvPr/>
          </p:nvSpPr>
          <p:spPr bwMode="auto">
            <a:xfrm>
              <a:off x="522956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899592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4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276228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6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053931" y="2330600"/>
            <a:ext cx="1678713" cy="864096"/>
            <a:chOff x="522956" y="3140968"/>
            <a:chExt cx="1129908" cy="550564"/>
          </a:xfrm>
        </p:grpSpPr>
        <p:sp>
          <p:nvSpPr>
            <p:cNvPr id="10" name="Rectangle 9"/>
            <p:cNvSpPr/>
            <p:nvPr/>
          </p:nvSpPr>
          <p:spPr bwMode="auto">
            <a:xfrm>
              <a:off x="522956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9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899592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10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1276228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11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732644" y="2330600"/>
            <a:ext cx="1678713" cy="864096"/>
            <a:chOff x="522956" y="3140968"/>
            <a:chExt cx="1129908" cy="550564"/>
          </a:xfrm>
        </p:grpSpPr>
        <p:sp>
          <p:nvSpPr>
            <p:cNvPr id="14" name="Rectangle 13"/>
            <p:cNvSpPr/>
            <p:nvPr/>
          </p:nvSpPr>
          <p:spPr bwMode="auto">
            <a:xfrm>
              <a:off x="522956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13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899592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14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1276228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15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399337" y="2330600"/>
            <a:ext cx="1678713" cy="864096"/>
            <a:chOff x="522956" y="3140968"/>
            <a:chExt cx="1129908" cy="550564"/>
          </a:xfrm>
        </p:grpSpPr>
        <p:sp>
          <p:nvSpPr>
            <p:cNvPr id="18" name="Rectangle 17"/>
            <p:cNvSpPr/>
            <p:nvPr/>
          </p:nvSpPr>
          <p:spPr bwMode="auto">
            <a:xfrm>
              <a:off x="522956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18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899592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20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276228" y="3140968"/>
              <a:ext cx="376636" cy="550564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solidFill>
                <a:srgbClr val="FFFFFF"/>
              </a:solidFill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o-RO" sz="2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rPr>
                <a:t>25</a:t>
              </a:r>
              <a:endParaRPr kumimoji="0" lang="en-US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endParaRPr>
            </a:p>
          </p:txBody>
        </p:sp>
      </p:grpSp>
      <p:sp>
        <p:nvSpPr>
          <p:cNvPr id="22" name="Rectangle 21"/>
          <p:cNvSpPr/>
          <p:nvPr/>
        </p:nvSpPr>
        <p:spPr bwMode="auto">
          <a:xfrm>
            <a:off x="7078049" y="2330600"/>
            <a:ext cx="559571" cy="864096"/>
          </a:xfrm>
          <a:prstGeom prst="rect">
            <a:avLst/>
          </a:prstGeom>
          <a:solidFill>
            <a:schemeClr val="accent3">
              <a:lumMod val="25000"/>
            </a:schemeClr>
          </a:solidFill>
          <a:ln>
            <a:solidFill>
              <a:srgbClr val="FFFFFF"/>
            </a:solidFill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32</a:t>
            </a:r>
            <a:endParaRPr kumimoji="0" lang="en-US" sz="29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7637620" y="2330600"/>
            <a:ext cx="559571" cy="864096"/>
          </a:xfrm>
          <a:prstGeom prst="rect">
            <a:avLst/>
          </a:prstGeom>
          <a:solidFill>
            <a:schemeClr val="accent3">
              <a:lumMod val="25000"/>
            </a:schemeClr>
          </a:solidFill>
          <a:ln>
            <a:solidFill>
              <a:srgbClr val="FFFFFF"/>
            </a:solidFill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45</a:t>
            </a:r>
            <a:endParaRPr kumimoji="0" lang="en-US" sz="29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8197191" y="2330600"/>
            <a:ext cx="559571" cy="864096"/>
          </a:xfrm>
          <a:prstGeom prst="rect">
            <a:avLst/>
          </a:prstGeom>
          <a:solidFill>
            <a:schemeClr val="accent3">
              <a:lumMod val="25000"/>
            </a:schemeClr>
          </a:solidFill>
          <a:ln>
            <a:solidFill>
              <a:srgbClr val="FFFFFF"/>
            </a:solidFill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51</a:t>
            </a:r>
            <a:endParaRPr kumimoji="0" lang="en-US" sz="29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Down Arrow Callout 29"/>
              <p:cNvSpPr/>
              <p:nvPr/>
            </p:nvSpPr>
            <p:spPr bwMode="auto">
              <a:xfrm>
                <a:off x="4853573" y="1772816"/>
                <a:ext cx="557784" cy="557784"/>
              </a:xfrm>
              <a:prstGeom prst="down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30" name="Down Arrow Callout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3573" y="1772816"/>
                <a:ext cx="557784" cy="557784"/>
              </a:xfrm>
              <a:prstGeom prst="downArrowCallou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Down Arrow Callout 30"/>
              <p:cNvSpPr/>
              <p:nvPr/>
            </p:nvSpPr>
            <p:spPr bwMode="auto">
              <a:xfrm>
                <a:off x="8503469" y="1772816"/>
                <a:ext cx="557784" cy="557784"/>
              </a:xfrm>
              <a:prstGeom prst="downArrowCallou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kumimoji="0" lang="ro-RO" sz="18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mc:Choice>
        <mc:Fallback xmlns="">
          <p:sp>
            <p:nvSpPr>
              <p:cNvPr id="31" name="Down Arrow Callout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03469" y="1772816"/>
                <a:ext cx="557784" cy="557784"/>
              </a:xfrm>
              <a:prstGeom prst="downArrowCallou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496852" y="3213261"/>
            <a:ext cx="8230602" cy="461665"/>
            <a:chOff x="496852" y="4023629"/>
            <a:chExt cx="8230602" cy="461665"/>
          </a:xfrm>
        </p:grpSpPr>
        <p:sp>
          <p:nvSpPr>
            <p:cNvPr id="25" name="TextBox 24"/>
            <p:cNvSpPr txBox="1"/>
            <p:nvPr/>
          </p:nvSpPr>
          <p:spPr>
            <a:xfrm>
              <a:off x="496852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99495" y="4023629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615994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63546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730125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282687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844045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401829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926139" y="4023629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9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32007" y="4023629"/>
              <a:ext cx="4924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995499" y="4023629"/>
              <a:ext cx="4810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11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552936" y="4023629"/>
              <a:ext cx="4924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110719" y="4023629"/>
              <a:ext cx="4924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13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671183" y="4023629"/>
              <a:ext cx="4924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14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235010" y="4023629"/>
              <a:ext cx="4924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o-R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15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g2"/>
              <p:cNvSpPr txBox="1"/>
              <p:nvPr/>
            </p:nvSpPr>
            <p:spPr>
              <a:xfrm>
                <a:off x="402336" y="4078224"/>
                <a:ext cx="6531727" cy="387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14:m>
                  <m:oMath xmlns:m="http://schemas.openxmlformats.org/officeDocument/2006/math">
                    <m:r>
                      <a:rPr lang="ro-RO" i="1" smtClean="0">
                        <a:latin typeface="Cambria Math"/>
                      </a:rPr>
                      <m:t>𝑔</m:t>
                    </m:r>
                    <m:r>
                      <a:rPr lang="ro-RO" i="1" smtClean="0">
                        <a:latin typeface="Cambria Math"/>
                      </a:rPr>
                      <m:t>=2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4" name="g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36" y="4078224"/>
                <a:ext cx="6531727" cy="387798"/>
              </a:xfrm>
              <a:prstGeom prst="rect">
                <a:avLst/>
              </a:prstGeom>
              <a:blipFill rotWithShape="1">
                <a:blip r:embed="rId7"/>
                <a:stretch>
                  <a:fillRect l="-1214" t="-25000" b="-29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g1"/>
              <p:cNvSpPr txBox="1"/>
              <p:nvPr/>
            </p:nvSpPr>
            <p:spPr>
              <a:xfrm>
                <a:off x="402336" y="4078224"/>
                <a:ext cx="6531727" cy="387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80000"/>
                  </a:lnSpc>
                  <a:buClr>
                    <a:srgbClr val="C00000"/>
                  </a:buClr>
                  <a:buFont typeface="Wingdings" pitchFamily="2" charset="2"/>
                  <a:buChar char="w"/>
                </a:pPr>
                <a14:m>
                  <m:oMath xmlns:m="http://schemas.openxmlformats.org/officeDocument/2006/math">
                    <m:r>
                      <a:rPr lang="ro-RO" i="1" smtClean="0">
                        <a:latin typeface="Cambria Math"/>
                      </a:rPr>
                      <m:t>𝑔</m:t>
                    </m:r>
                    <m:r>
                      <a:rPr lang="ro-RO" i="1" smtClean="0">
                        <a:latin typeface="Cambria Math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g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36" y="4078224"/>
                <a:ext cx="6531727" cy="387798"/>
              </a:xfrm>
              <a:prstGeom prst="rect">
                <a:avLst/>
              </a:prstGeom>
              <a:blipFill rotWithShape="1">
                <a:blip r:embed="rId8"/>
                <a:stretch>
                  <a:fillRect l="-1214" t="-25000" b="-29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2800" dirty="0"/>
              <a:t>Exemplu 2</a:t>
            </a:r>
            <a:endParaRPr lang="en-US" sz="2800" dirty="0"/>
          </a:p>
        </p:txBody>
      </p:sp>
      <p:cxnSp>
        <p:nvCxnSpPr>
          <p:cNvPr id="51" name="Mod1"/>
          <p:cNvCxnSpPr/>
          <p:nvPr/>
        </p:nvCxnSpPr>
        <p:spPr bwMode="auto">
          <a:xfrm>
            <a:off x="402886" y="3674926"/>
            <a:ext cx="8324568" cy="0"/>
          </a:xfrm>
          <a:prstGeom prst="line">
            <a:avLst/>
          </a:prstGeom>
          <a:ln>
            <a:headEnd type="triangle" w="lg" len="med"/>
            <a:tailEnd type="triangle" w="lg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2" name="Mod2"/>
          <p:cNvCxnSpPr/>
          <p:nvPr/>
        </p:nvCxnSpPr>
        <p:spPr bwMode="auto">
          <a:xfrm>
            <a:off x="5432007" y="3675600"/>
            <a:ext cx="3316457" cy="0"/>
          </a:xfrm>
          <a:prstGeom prst="line">
            <a:avLst/>
          </a:prstGeom>
          <a:ln>
            <a:headEnd type="triangle" w="lg" len="med"/>
            <a:tailEnd type="triangle" w="lg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Mod3"/>
          <p:cNvCxnSpPr/>
          <p:nvPr/>
        </p:nvCxnSpPr>
        <p:spPr bwMode="auto">
          <a:xfrm>
            <a:off x="5399337" y="3675600"/>
            <a:ext cx="1119142" cy="0"/>
          </a:xfrm>
          <a:prstGeom prst="line">
            <a:avLst/>
          </a:prstGeom>
          <a:ln>
            <a:headEnd type="triangle" w="lg" len="med"/>
            <a:tailEnd type="triangle" w="lg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2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4.07407E-6 L 0.18282 -0.00231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32" y="-116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6 -0.00138 L -0.03108 -4.07407E-6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82 -0.00231 L 0.05678 -0.00231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2" y="0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08 -2.96296E-6 L -0.27518 0.00139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0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uiExpand="1" build="allAtOnce"/>
      <p:bldP spid="50" grpId="0" uiExpand="1" build="allAtOnce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54" grpId="0"/>
      <p:bldP spid="54" grpId="1"/>
      <p:bldP spid="49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764704"/>
            <a:ext cx="9144000" cy="100811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2252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1371600" y="6553200"/>
            <a:ext cx="7162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eaLnBrk="1" hangingPunct="1">
              <a:buFont typeface="Arial" pitchFamily="34" charset="0"/>
              <a:buNone/>
            </a:pPr>
            <a:endParaRPr lang="en-US" altLang="en-US" sz="100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57CAA22-1DB7-4B88-A0E7-1CA446316244}" type="slidenum">
              <a:rPr lang="en-US" altLang="en-US" sz="900">
                <a:solidFill>
                  <a:srgbClr val="FFFFFF"/>
                </a:solidFill>
              </a:rPr>
              <a:pPr eaLnBrk="1" hangingPunct="1"/>
              <a:t>90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915400" cy="459904"/>
          </a:xfrm>
        </p:spPr>
        <p:txBody>
          <a:bodyPr/>
          <a:lstStyle/>
          <a:p>
            <a:r>
              <a:rPr lang="pt-BR" altLang="en-US" b="1" dirty="0"/>
              <a:t>Algoritm</a:t>
            </a:r>
            <a:r>
              <a:rPr lang="en-US" altLang="en-US" dirty="0"/>
              <a:t> 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8763000" cy="57912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pt-BR" altLang="en-US" sz="2000" b="1" dirty="0">
                <a:solidFill>
                  <a:schemeClr val="accent2"/>
                </a:solidFill>
              </a:rPr>
              <a:t>/1/  /* Initializarea indicilor secventei de cautat */</a:t>
            </a:r>
            <a:endParaRPr lang="sv-SE" altLang="en-US" sz="2000" b="1" dirty="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sv-SE" altLang="en-US" sz="2000" dirty="0"/>
              <a:t>	 </a:t>
            </a:r>
            <a:r>
              <a:rPr lang="sv-SE" altLang="en-US" sz="2000" b="1" dirty="0"/>
              <a:t>int</a:t>
            </a:r>
            <a:r>
              <a:rPr lang="sv-SE" altLang="en-US" sz="2000" dirty="0"/>
              <a:t> </a:t>
            </a:r>
            <a:r>
              <a:rPr lang="sv-SE" altLang="en-US" sz="2000" b="1" dirty="0">
                <a:solidFill>
                  <a:srgbClr val="FF0000"/>
                </a:solidFill>
              </a:rPr>
              <a:t>q = 1;</a:t>
            </a:r>
            <a:r>
              <a:rPr lang="sv-SE" altLang="en-US" sz="2000" dirty="0"/>
              <a:t>                 </a:t>
            </a:r>
            <a:r>
              <a:rPr lang="sv-SE" altLang="en-US" sz="2000" b="1" dirty="0">
                <a:solidFill>
                  <a:schemeClr val="accent2"/>
                </a:solidFill>
              </a:rPr>
              <a:t>/* limita stg interval crt */</a:t>
            </a:r>
            <a:endParaRPr lang="sv-SE" altLang="en-US" sz="2000" b="1" dirty="0"/>
          </a:p>
          <a:p>
            <a:pPr>
              <a:spcBef>
                <a:spcPct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sv-SE" altLang="en-US" sz="2000" dirty="0"/>
              <a:t>	 </a:t>
            </a:r>
            <a:r>
              <a:rPr lang="sv-SE" altLang="en-US" sz="2000" b="1" dirty="0"/>
              <a:t>int</a:t>
            </a:r>
            <a:r>
              <a:rPr lang="sv-SE" altLang="en-US" sz="2000" dirty="0"/>
              <a:t> </a:t>
            </a:r>
            <a:r>
              <a:rPr lang="sv-SE" altLang="en-US" sz="2000" b="1" dirty="0">
                <a:solidFill>
                  <a:srgbClr val="FF0000"/>
                </a:solidFill>
              </a:rPr>
              <a:t>r = n;</a:t>
            </a:r>
            <a:r>
              <a:rPr lang="sv-SE" altLang="en-US" sz="2000" dirty="0"/>
              <a:t>                 </a:t>
            </a:r>
            <a:r>
              <a:rPr lang="sv-SE" altLang="en-US" sz="2000" b="1" dirty="0">
                <a:solidFill>
                  <a:srgbClr val="0000FF"/>
                </a:solidFill>
              </a:rPr>
              <a:t>/* limita dr interval crt */</a:t>
            </a:r>
            <a:endParaRPr lang="pt-BR" altLang="en-US" sz="2000" b="1" dirty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pt-BR" altLang="en-US" sz="2000" b="1" dirty="0">
                <a:solidFill>
                  <a:schemeClr val="accent2"/>
                </a:solidFill>
              </a:rPr>
              <a:t>/2/  /* Initializarea rezultatului k si a numarului de pasi g */</a:t>
            </a:r>
            <a:endParaRPr lang="sv-SE" altLang="en-US" sz="2000" b="1" dirty="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sv-SE" altLang="en-US" sz="2000" dirty="0"/>
              <a:t>	 </a:t>
            </a:r>
            <a:r>
              <a:rPr lang="sv-SE" altLang="en-US" sz="2000" b="1" dirty="0"/>
              <a:t>int</a:t>
            </a:r>
            <a:r>
              <a:rPr lang="sv-SE" altLang="en-US" sz="2000" dirty="0"/>
              <a:t> </a:t>
            </a:r>
            <a:r>
              <a:rPr lang="sv-SE" altLang="en-US" sz="2000" b="1" dirty="0">
                <a:solidFill>
                  <a:srgbClr val="FF0000"/>
                </a:solidFill>
              </a:rPr>
              <a:t>x, k = 0;</a:t>
            </a:r>
            <a:r>
              <a:rPr lang="sv-SE" altLang="en-US" sz="2000" dirty="0"/>
              <a:t>			</a:t>
            </a:r>
            <a:r>
              <a:rPr lang="sv-SE" altLang="en-US" sz="2000" b="1" dirty="0">
                <a:solidFill>
                  <a:schemeClr val="accent2"/>
                </a:solidFill>
              </a:rPr>
              <a:t>/* x = numar cautat, k = pozitia lui in sir */</a:t>
            </a:r>
          </a:p>
          <a:p>
            <a:pPr>
              <a:spcBef>
                <a:spcPct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sv-SE" altLang="en-US" sz="2000" dirty="0"/>
              <a:t>	 </a:t>
            </a:r>
            <a:r>
              <a:rPr lang="sv-SE" altLang="en-US" sz="2000" b="1" dirty="0"/>
              <a:t>int</a:t>
            </a:r>
            <a:r>
              <a:rPr lang="sv-SE" altLang="en-US" sz="2000" dirty="0"/>
              <a:t> </a:t>
            </a:r>
            <a:r>
              <a:rPr lang="sv-SE" altLang="en-US" sz="2000" b="1" dirty="0">
                <a:solidFill>
                  <a:srgbClr val="FF0000"/>
                </a:solidFill>
              </a:rPr>
              <a:t>g = sup(log(n+1)/log(P+1))</a:t>
            </a:r>
          </a:p>
          <a:p>
            <a:pPr>
              <a:spcBef>
                <a:spcPct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 altLang="en-US" sz="2000" b="1" dirty="0">
                <a:solidFill>
                  <a:srgbClr val="FF0000"/>
                </a:solidFill>
              </a:rPr>
              <a:t>	 </a:t>
            </a:r>
            <a:r>
              <a:rPr lang="en-US" altLang="en-US" sz="2000" b="1" dirty="0" err="1"/>
              <a:t>enum</a:t>
            </a:r>
            <a:r>
              <a:rPr lang="en-US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</a:rPr>
              <a:t>sens</a:t>
            </a:r>
            <a:r>
              <a:rPr lang="en-US" altLang="en-US" sz="2000" b="1" dirty="0">
                <a:solidFill>
                  <a:srgbClr val="FF0000"/>
                </a:solidFill>
              </a:rPr>
              <a:t> {</a:t>
            </a:r>
            <a:r>
              <a:rPr lang="en-US" altLang="en-US" sz="2000" b="1" dirty="0" err="1">
                <a:solidFill>
                  <a:srgbClr val="FF0000"/>
                </a:solidFill>
              </a:rPr>
              <a:t>stg,dr</a:t>
            </a:r>
            <a:r>
              <a:rPr lang="en-US" altLang="en-US" sz="2000" b="1" dirty="0">
                <a:solidFill>
                  <a:srgbClr val="FF0000"/>
                </a:solidFill>
              </a:rPr>
              <a:t>};</a:t>
            </a:r>
          </a:p>
          <a:p>
            <a:pPr>
              <a:spcBef>
                <a:spcPct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 altLang="en-US" sz="2000" dirty="0"/>
              <a:t>	 </a:t>
            </a:r>
            <a:r>
              <a:rPr lang="en-US" altLang="en-US" sz="2000" b="1" dirty="0" err="1"/>
              <a:t>sens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c[0:P+1];  </a:t>
            </a:r>
            <a:r>
              <a:rPr lang="en-US" altLang="en-US" sz="2000" b="1" dirty="0">
                <a:solidFill>
                  <a:srgbClr val="0000FF"/>
                </a:solidFill>
              </a:rPr>
              <a:t>	/*c[</a:t>
            </a:r>
            <a:r>
              <a:rPr lang="en-US" altLang="en-US" sz="2000" b="1" dirty="0" err="1">
                <a:solidFill>
                  <a:srgbClr val="0000FF"/>
                </a:solidFill>
              </a:rPr>
              <a:t>i</a:t>
            </a:r>
            <a:r>
              <a:rPr lang="en-US" altLang="en-US" sz="2000" b="1" dirty="0">
                <a:solidFill>
                  <a:srgbClr val="0000FF"/>
                </a:solidFill>
              </a:rPr>
              <a:t>] – x </a:t>
            </a:r>
            <a:r>
              <a:rPr lang="en-US" altLang="en-US" sz="2000" b="1" dirty="0" err="1">
                <a:solidFill>
                  <a:srgbClr val="0000FF"/>
                </a:solidFill>
              </a:rPr>
              <a:t>este</a:t>
            </a:r>
            <a:r>
              <a:rPr lang="en-US" altLang="en-US" sz="2000" b="1" dirty="0">
                <a:solidFill>
                  <a:srgbClr val="0000FF"/>
                </a:solidFill>
              </a:rPr>
              <a:t> la stg / </a:t>
            </a:r>
            <a:r>
              <a:rPr lang="en-US" altLang="en-US" sz="2000" b="1" dirty="0" err="1">
                <a:solidFill>
                  <a:srgbClr val="0000FF"/>
                </a:solidFill>
              </a:rPr>
              <a:t>dr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</a:rPr>
              <a:t>pozitiei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</a:rPr>
              <a:t>procesului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</a:rPr>
              <a:t>i</a:t>
            </a:r>
            <a:r>
              <a:rPr lang="en-US" altLang="en-US" sz="2000" b="1" dirty="0">
                <a:solidFill>
                  <a:srgbClr val="0000FF"/>
                </a:solidFill>
              </a:rPr>
              <a:t>*/</a:t>
            </a:r>
          </a:p>
          <a:p>
            <a:pPr>
              <a:spcBef>
                <a:spcPct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 altLang="en-US" sz="2000" dirty="0"/>
              <a:t>      </a:t>
            </a:r>
            <a:r>
              <a:rPr lang="pt-BR" altLang="en-US" sz="2000" b="1" dirty="0">
                <a:solidFill>
                  <a:srgbClr val="FF0000"/>
                </a:solidFill>
              </a:rPr>
              <a:t>c[0] = dr; c[P+1] = stg;</a:t>
            </a:r>
            <a:r>
              <a:rPr lang="en-US" altLang="en-US" sz="2000" dirty="0"/>
              <a:t> </a:t>
            </a:r>
          </a:p>
          <a:p>
            <a:pPr>
              <a:spcBef>
                <a:spcPct val="0"/>
              </a:spcBef>
              <a:spcAft>
                <a:spcPts val="2000"/>
              </a:spcAft>
              <a:buFont typeface="Arial" pitchFamily="34" charset="0"/>
              <a:buNone/>
            </a:pPr>
            <a:r>
              <a:rPr lang="en-US" altLang="en-US" sz="1600" dirty="0"/>
              <a:t>       </a:t>
            </a:r>
            <a:r>
              <a:rPr lang="en-US" altLang="en-US" sz="2000" b="1" dirty="0" err="1"/>
              <a:t>int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j[1:P];</a:t>
            </a:r>
            <a:r>
              <a:rPr lang="en-US" altLang="en-US" sz="2000" b="1" dirty="0">
                <a:solidFill>
                  <a:srgbClr val="0000FF"/>
                </a:solidFill>
              </a:rPr>
              <a:t>  		     /* j[</a:t>
            </a:r>
            <a:r>
              <a:rPr lang="en-US" altLang="en-US" sz="2000" b="1" dirty="0" err="1">
                <a:solidFill>
                  <a:srgbClr val="0000FF"/>
                </a:solidFill>
              </a:rPr>
              <a:t>i</a:t>
            </a:r>
            <a:r>
              <a:rPr lang="en-US" altLang="en-US" sz="2000" b="1" dirty="0">
                <a:solidFill>
                  <a:srgbClr val="0000FF"/>
                </a:solidFill>
              </a:rPr>
              <a:t>] = </a:t>
            </a:r>
            <a:r>
              <a:rPr lang="en-US" altLang="en-US" sz="2000" b="1" dirty="0" err="1">
                <a:solidFill>
                  <a:srgbClr val="0000FF"/>
                </a:solidFill>
              </a:rPr>
              <a:t>pozitia</a:t>
            </a:r>
            <a:r>
              <a:rPr lang="en-US" altLang="en-US" sz="2000" b="1" dirty="0">
                <a:solidFill>
                  <a:srgbClr val="0000FF"/>
                </a:solidFill>
              </a:rPr>
              <a:t> din sir </a:t>
            </a:r>
            <a:r>
              <a:rPr lang="en-US" altLang="en-US" sz="2000" b="1" dirty="0" err="1">
                <a:solidFill>
                  <a:srgbClr val="0000FF"/>
                </a:solidFill>
              </a:rPr>
              <a:t>inspectata</a:t>
            </a:r>
            <a:r>
              <a:rPr lang="en-US" altLang="en-US" sz="2000" b="1" dirty="0">
                <a:solidFill>
                  <a:srgbClr val="0000FF"/>
                </a:solidFill>
              </a:rPr>
              <a:t> de </a:t>
            </a:r>
            <a:r>
              <a:rPr lang="en-US" altLang="en-US" sz="2000" b="1" dirty="0" err="1">
                <a:solidFill>
                  <a:srgbClr val="0000FF"/>
                </a:solidFill>
              </a:rPr>
              <a:t>proces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</a:rPr>
              <a:t>i</a:t>
            </a:r>
            <a:r>
              <a:rPr lang="en-US" altLang="en-US" sz="2000" b="1" dirty="0">
                <a:solidFill>
                  <a:srgbClr val="0000FF"/>
                </a:solidFill>
              </a:rPr>
              <a:t>*/</a:t>
            </a:r>
            <a:endParaRPr lang="pt-BR" altLang="en-US" sz="2000" b="1" dirty="0"/>
          </a:p>
          <a:p>
            <a:pPr>
              <a:spcBef>
                <a:spcPct val="0"/>
              </a:spcBef>
              <a:spcAft>
                <a:spcPts val="2000"/>
              </a:spcAft>
              <a:buFont typeface="Arial" pitchFamily="34" charset="0"/>
              <a:buNone/>
            </a:pPr>
            <a:r>
              <a:rPr lang="pt-BR" altLang="en-US" sz="1600" b="1" dirty="0">
                <a:latin typeface="Courier New" pitchFamily="49" charset="0"/>
              </a:rPr>
              <a:t> +-----------------------------------------------------------------+</a:t>
            </a:r>
          </a:p>
          <a:p>
            <a:pPr>
              <a:spcBef>
                <a:spcPct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pt-BR" alt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600" b="1" dirty="0">
                <a:latin typeface="Courier New" pitchFamily="49" charset="0"/>
              </a:rPr>
              <a:t>| | | | |</a:t>
            </a:r>
            <a:r>
              <a:rPr lang="pt-BR" alt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600" b="1" dirty="0">
                <a:latin typeface="Courier New" pitchFamily="49" charset="0"/>
              </a:rPr>
              <a:t>| | | | |</a:t>
            </a:r>
            <a:r>
              <a:rPr lang="pt-BR" alt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600" b="1" dirty="0">
                <a:latin typeface="Courier New" pitchFamily="49" charset="0"/>
              </a:rPr>
              <a:t>| | | | | |</a:t>
            </a:r>
            <a:r>
              <a:rPr lang="pt-BR" alt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600" b="1" dirty="0">
                <a:latin typeface="Courier New" pitchFamily="49" charset="0"/>
              </a:rPr>
              <a:t>| | | | |</a:t>
            </a:r>
            <a:r>
              <a:rPr lang="pt-BR" alt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600" b="1" dirty="0">
                <a:latin typeface="Courier New" pitchFamily="49" charset="0"/>
              </a:rPr>
              <a:t>| | | | | | | |</a:t>
            </a:r>
            <a:r>
              <a:rPr lang="pt-BR" alt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600" b="1" dirty="0">
                <a:latin typeface="Courier New" pitchFamily="49" charset="0"/>
              </a:rPr>
              <a:t>| | | | |</a:t>
            </a:r>
            <a:r>
              <a:rPr lang="pt-BR" alt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600" b="1" dirty="0">
                <a:latin typeface="Courier New" pitchFamily="49" charset="0"/>
              </a:rPr>
              <a:t> </a:t>
            </a:r>
          </a:p>
          <a:p>
            <a:pPr>
              <a:spcBef>
                <a:spcPct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pt-BR" altLang="en-US" sz="1600" b="1" dirty="0">
                <a:latin typeface="Courier New" pitchFamily="49" charset="0"/>
              </a:rPr>
              <a:t> +-----------------------------------------------------------------+</a:t>
            </a:r>
          </a:p>
          <a:p>
            <a:pPr>
              <a:spcBef>
                <a:spcPct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pt-BR" altLang="en-US" sz="2000" b="1" dirty="0">
                <a:solidFill>
                  <a:srgbClr val="FF0000"/>
                </a:solidFill>
              </a:rPr>
              <a:t>c[0]</a:t>
            </a:r>
            <a:r>
              <a:rPr lang="pt-BR" altLang="en-US" sz="2000" b="1" dirty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pt-BR" altLang="en-US" sz="2000" b="1" dirty="0">
                <a:solidFill>
                  <a:srgbClr val="FF0000"/>
                </a:solidFill>
              </a:rPr>
              <a:t>				c[i]			          </a:t>
            </a:r>
            <a:r>
              <a:rPr lang="pt-BR" altLang="en-US" sz="2000" b="1" dirty="0">
                <a:solidFill>
                  <a:srgbClr val="FF0000"/>
                </a:solidFill>
                <a:sym typeface="Wingdings" pitchFamily="2" charset="2"/>
              </a:rPr>
              <a:t> </a:t>
            </a:r>
            <a:r>
              <a:rPr lang="pt-BR" altLang="en-US" sz="2000" b="1" dirty="0">
                <a:solidFill>
                  <a:srgbClr val="FF0000"/>
                </a:solidFill>
              </a:rPr>
              <a:t>c[N+1]</a:t>
            </a:r>
            <a:endParaRPr lang="en-US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39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7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7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7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70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0" y="260648"/>
            <a:ext cx="9144000" cy="151216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2355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1371600" y="6553200"/>
            <a:ext cx="7162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eaLnBrk="1" hangingPunct="1">
              <a:buFont typeface="Arial" pitchFamily="34" charset="0"/>
              <a:buNone/>
            </a:pPr>
            <a:endParaRPr lang="en-US" altLang="en-US" sz="100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20ABEA3-AF05-4D44-A479-7668FD4F15FF}" type="slidenum">
              <a:rPr lang="en-US" altLang="en-US" sz="900">
                <a:solidFill>
                  <a:srgbClr val="FFFFFF"/>
                </a:solidFill>
              </a:rPr>
              <a:pPr eaLnBrk="1" hangingPunct="1"/>
              <a:t>91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81000"/>
            <a:ext cx="8839200" cy="60960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CC0099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itchFamily="34" charset="0"/>
              <a:buNone/>
            </a:pPr>
            <a:r>
              <a:rPr lang="pt-BR" altLang="en-US" sz="2000" b="1" dirty="0"/>
              <a:t>process P[i = 1 to P]{</a:t>
            </a:r>
          </a:p>
          <a:p>
            <a:pPr>
              <a:buFont typeface="Arial" pitchFamily="34" charset="0"/>
              <a:buNone/>
            </a:pPr>
            <a:r>
              <a:rPr lang="pt-BR" altLang="en-US" sz="2000" b="1" dirty="0">
                <a:solidFill>
                  <a:srgbClr val="0000FF"/>
                </a:solidFill>
              </a:rPr>
              <a:t>/3/ gaseste pozitia k unde se afla valoarea x</a:t>
            </a:r>
          </a:p>
          <a:p>
            <a:pPr>
              <a:buFont typeface="Arial" pitchFamily="34" charset="0"/>
              <a:buNone/>
            </a:pPr>
            <a:r>
              <a:rPr lang="pt-BR" altLang="en-US" sz="2000" b="1" dirty="0"/>
              <a:t>    while (q&lt;=r and k=0){</a:t>
            </a:r>
            <a:r>
              <a:rPr lang="pt-BR" altLang="en-US" sz="1800" b="1" dirty="0"/>
              <a:t>		</a:t>
            </a:r>
            <a:r>
              <a:rPr lang="pt-BR" altLang="en-US" sz="1800" b="1" dirty="0">
                <a:solidFill>
                  <a:srgbClr val="0000FF"/>
                </a:solidFill>
              </a:rPr>
              <a:t>/* subsir exista si valoare negasita */</a:t>
            </a:r>
          </a:p>
          <a:p>
            <a:pPr>
              <a:spcBef>
                <a:spcPts val="200"/>
              </a:spcBef>
              <a:spcAft>
                <a:spcPts val="200"/>
              </a:spcAft>
              <a:buFont typeface="Arial" pitchFamily="34" charset="0"/>
              <a:buNone/>
            </a:pPr>
            <a:r>
              <a:rPr lang="pt-BR" altLang="en-US" sz="2000" b="1" dirty="0"/>
              <a:t>        j[i] = (q-1) + </a:t>
            </a:r>
            <a:r>
              <a:rPr lang="pt-BR" altLang="en-US" sz="2000" b="1" dirty="0">
                <a:solidFill>
                  <a:srgbClr val="CC0099"/>
                </a:solidFill>
              </a:rPr>
              <a:t>i*(P+1)</a:t>
            </a:r>
            <a:r>
              <a:rPr lang="pt-BR" altLang="en-US" sz="2000" b="1" baseline="30000" dirty="0">
                <a:solidFill>
                  <a:srgbClr val="CC0099"/>
                </a:solidFill>
              </a:rPr>
              <a:t>g-1</a:t>
            </a:r>
            <a:r>
              <a:rPr lang="pt-BR" altLang="en-US" sz="2000" b="1" dirty="0"/>
              <a:t>;</a:t>
            </a:r>
            <a:endParaRPr lang="pt-BR" altLang="en-US" sz="1800" b="1" dirty="0">
              <a:solidFill>
                <a:schemeClr val="accent2"/>
              </a:solidFill>
            </a:endParaRPr>
          </a:p>
          <a:p>
            <a:pPr>
              <a:buFont typeface="Arial" pitchFamily="34" charset="0"/>
              <a:buNone/>
            </a:pPr>
            <a:r>
              <a:rPr lang="en-US" altLang="en-US" sz="1800" dirty="0"/>
              <a:t>									</a:t>
            </a:r>
            <a:r>
              <a:rPr lang="en-US" altLang="en-US" sz="1800" b="1" dirty="0">
                <a:solidFill>
                  <a:srgbClr val="0000FF"/>
                </a:solidFill>
              </a:rPr>
              <a:t> </a:t>
            </a:r>
          </a:p>
          <a:p>
            <a:pPr>
              <a:buFont typeface="Arial" pitchFamily="34" charset="0"/>
              <a:buNone/>
            </a:pPr>
            <a:endParaRPr lang="en-US" altLang="en-US" sz="1800" dirty="0"/>
          </a:p>
          <a:p>
            <a:pPr>
              <a:buFont typeface="Arial" pitchFamily="34" charset="0"/>
              <a:buNone/>
            </a:pPr>
            <a:endParaRPr lang="en-US" altLang="en-US" sz="1800" dirty="0"/>
          </a:p>
          <a:p>
            <a:pPr>
              <a:spcBef>
                <a:spcPts val="100"/>
              </a:spcBef>
              <a:spcAft>
                <a:spcPts val="100"/>
              </a:spcAft>
              <a:buFont typeface="Arial" pitchFamily="34" charset="0"/>
              <a:buNone/>
            </a:pPr>
            <a:r>
              <a:rPr lang="pt-BR" altLang="en-US" sz="1500" b="1" dirty="0">
                <a:latin typeface="Courier New" pitchFamily="49" charset="0"/>
              </a:rPr>
              <a:t>		 </a:t>
            </a:r>
            <a:r>
              <a:rPr lang="pt-BR" altLang="en-US" sz="2000" b="1" dirty="0"/>
              <a:t>P</a:t>
            </a:r>
            <a:r>
              <a:rPr lang="pt-BR" altLang="en-US" sz="2000" b="1" baseline="-25000" dirty="0"/>
              <a:t>1</a:t>
            </a:r>
            <a:r>
              <a:rPr lang="pt-BR" altLang="en-US" sz="2000" b="1" dirty="0"/>
              <a:t>           P</a:t>
            </a:r>
            <a:r>
              <a:rPr lang="pt-BR" altLang="en-US" sz="2000" b="1" baseline="-25000" dirty="0"/>
              <a:t>2</a:t>
            </a:r>
            <a:r>
              <a:rPr lang="pt-BR" altLang="en-US" sz="2000" b="1" dirty="0"/>
              <a:t>      ...       Pi            Pi+1        ...       P</a:t>
            </a:r>
            <a:r>
              <a:rPr lang="pt-BR" altLang="en-US" sz="2000" b="1" baseline="-25000" dirty="0"/>
              <a:t>P</a:t>
            </a:r>
          </a:p>
          <a:p>
            <a:pPr>
              <a:spcBef>
                <a:spcPts val="100"/>
              </a:spcBef>
              <a:spcAft>
                <a:spcPts val="100"/>
              </a:spcAft>
              <a:buFont typeface="Arial" pitchFamily="34" charset="0"/>
              <a:buNone/>
            </a:pPr>
            <a:r>
              <a:rPr lang="pt-BR" altLang="en-US" sz="1500" b="1" dirty="0">
                <a:latin typeface="Courier New" pitchFamily="49" charset="0"/>
              </a:rPr>
              <a:t>                               </a:t>
            </a:r>
            <a:r>
              <a:rPr lang="pt-BR" altLang="en-US" sz="1500" dirty="0">
                <a:latin typeface="Tahoma" pitchFamily="34" charset="0"/>
              </a:rPr>
              <a:t>V</a:t>
            </a:r>
            <a:r>
              <a:rPr lang="pt-BR" altLang="en-US" sz="1500" b="1" dirty="0">
                <a:latin typeface="Tahoma" pitchFamily="34" charset="0"/>
              </a:rPr>
              <a:t>                  </a:t>
            </a:r>
            <a:r>
              <a:rPr lang="pt-BR" altLang="en-US" sz="1500" dirty="0">
                <a:latin typeface="Tahoma" pitchFamily="34" charset="0"/>
              </a:rPr>
              <a:t>V</a:t>
            </a:r>
          </a:p>
          <a:p>
            <a:pPr>
              <a:spcBef>
                <a:spcPts val="100"/>
              </a:spcBef>
              <a:spcAft>
                <a:spcPts val="100"/>
              </a:spcAft>
              <a:buFont typeface="Arial" pitchFamily="34" charset="0"/>
              <a:buNone/>
            </a:pPr>
            <a:r>
              <a:rPr lang="pt-BR" altLang="en-US" sz="1500" b="1" dirty="0">
                <a:latin typeface="Courier New" pitchFamily="49" charset="0"/>
              </a:rPr>
              <a:t>+-----------------------------------------------------------------+</a:t>
            </a:r>
          </a:p>
          <a:p>
            <a:pPr>
              <a:spcBef>
                <a:spcPts val="100"/>
              </a:spcBef>
              <a:spcAft>
                <a:spcPts val="100"/>
              </a:spcAft>
              <a:buFont typeface="Arial" pitchFamily="34" charset="0"/>
              <a:buNone/>
            </a:pPr>
            <a:r>
              <a:rPr lang="pt-BR" altLang="en-US" sz="1500" b="1" dirty="0">
                <a:latin typeface="Courier New" pitchFamily="49" charset="0"/>
              </a:rPr>
              <a:t>| | | | |</a:t>
            </a:r>
            <a:r>
              <a:rPr lang="pt-BR" altLang="en-US" sz="15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500" b="1" dirty="0">
                <a:latin typeface="Courier New" pitchFamily="49" charset="0"/>
              </a:rPr>
              <a:t>| | | | |</a:t>
            </a:r>
            <a:r>
              <a:rPr lang="pt-BR" altLang="en-US" sz="15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500" b="1" dirty="0">
                <a:latin typeface="Courier New" pitchFamily="49" charset="0"/>
              </a:rPr>
              <a:t>| | | | | |</a:t>
            </a:r>
            <a:r>
              <a:rPr lang="pt-BR" altLang="en-US" sz="15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500" b="1" dirty="0">
                <a:latin typeface="Courier New" pitchFamily="49" charset="0"/>
              </a:rPr>
              <a:t>| | | | |</a:t>
            </a:r>
            <a:r>
              <a:rPr lang="pt-BR" altLang="en-US" sz="15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500" b="1" dirty="0">
                <a:latin typeface="Courier New" pitchFamily="49" charset="0"/>
              </a:rPr>
              <a:t>| | | | | | | |</a:t>
            </a:r>
            <a:r>
              <a:rPr lang="pt-BR" altLang="en-US" sz="15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500" b="1" dirty="0">
                <a:latin typeface="Courier New" pitchFamily="49" charset="0"/>
              </a:rPr>
              <a:t>| | | | |    </a:t>
            </a:r>
            <a:r>
              <a:rPr lang="pt-BR" altLang="en-US" sz="2000" b="1" dirty="0"/>
              <a:t>S</a:t>
            </a:r>
            <a:r>
              <a:rPr lang="pt-BR" altLang="en-US" sz="1500" b="1" dirty="0">
                <a:latin typeface="Courier New" pitchFamily="49" charset="0"/>
              </a:rPr>
              <a:t> </a:t>
            </a:r>
          </a:p>
          <a:p>
            <a:pPr>
              <a:spcBef>
                <a:spcPts val="100"/>
              </a:spcBef>
              <a:spcAft>
                <a:spcPts val="100"/>
              </a:spcAft>
              <a:buFont typeface="Arial" pitchFamily="34" charset="0"/>
              <a:buNone/>
            </a:pPr>
            <a:r>
              <a:rPr lang="pt-BR" altLang="en-US" sz="1500" b="1" dirty="0">
                <a:latin typeface="Courier New" pitchFamily="49" charset="0"/>
              </a:rPr>
              <a:t>+-----------------------------------------------------------------+</a:t>
            </a:r>
          </a:p>
          <a:p>
            <a:pPr>
              <a:spcBef>
                <a:spcPts val="100"/>
              </a:spcBef>
              <a:spcAft>
                <a:spcPts val="100"/>
              </a:spcAft>
              <a:buFont typeface="Arial" pitchFamily="34" charset="0"/>
              <a:buNone/>
            </a:pPr>
            <a:r>
              <a:rPr lang="pt-BR" altLang="en-US" sz="2000" b="1" dirty="0">
                <a:solidFill>
                  <a:srgbClr val="CC0099"/>
                </a:solidFill>
              </a:rPr>
              <a:t>q=1</a:t>
            </a:r>
            <a:r>
              <a:rPr lang="pt-BR" altLang="en-US" sz="2000" b="1" dirty="0"/>
              <a:t>                                            ^              ^                                     </a:t>
            </a:r>
            <a:r>
              <a:rPr lang="pt-BR" altLang="en-US" sz="2000" b="1" dirty="0">
                <a:solidFill>
                  <a:srgbClr val="CC0099"/>
                </a:solidFill>
              </a:rPr>
              <a:t>r=n</a:t>
            </a:r>
          </a:p>
          <a:p>
            <a:pPr>
              <a:spcBef>
                <a:spcPts val="100"/>
              </a:spcBef>
              <a:spcAft>
                <a:spcPts val="100"/>
              </a:spcAft>
              <a:buFont typeface="Arial" pitchFamily="34" charset="0"/>
              <a:buNone/>
            </a:pPr>
            <a:r>
              <a:rPr lang="pt-BR" altLang="en-US" sz="1500" b="1" dirty="0">
                <a:latin typeface="Courier New" pitchFamily="49" charset="0"/>
              </a:rPr>
              <a:t> </a:t>
            </a:r>
            <a:r>
              <a:rPr lang="pt-BR" altLang="en-US" sz="2000" b="1" dirty="0"/>
              <a:t>indici elemente  .....          </a:t>
            </a:r>
            <a:r>
              <a:rPr lang="pt-BR" altLang="en-US" sz="2000" b="1" dirty="0">
                <a:solidFill>
                  <a:srgbClr val="CC0099"/>
                </a:solidFill>
              </a:rPr>
              <a:t>i(P+1)</a:t>
            </a:r>
            <a:r>
              <a:rPr lang="pt-BR" altLang="en-US" sz="2000" b="1" baseline="30000" dirty="0">
                <a:solidFill>
                  <a:srgbClr val="CC0099"/>
                </a:solidFill>
              </a:rPr>
              <a:t>g-1</a:t>
            </a:r>
            <a:r>
              <a:rPr lang="pt-BR" altLang="en-US" sz="2000" b="1" dirty="0"/>
              <a:t>     (i+1)(P+1)</a:t>
            </a:r>
            <a:r>
              <a:rPr lang="pt-BR" altLang="en-US" sz="2000" b="1" baseline="30000" dirty="0"/>
              <a:t>g-1</a:t>
            </a:r>
            <a:r>
              <a:rPr lang="pt-BR" altLang="en-US" sz="2000" b="1" dirty="0"/>
              <a:t>   ....</a:t>
            </a:r>
          </a:p>
          <a:p>
            <a:pPr>
              <a:spcBef>
                <a:spcPts val="100"/>
              </a:spcBef>
              <a:spcAft>
                <a:spcPts val="100"/>
              </a:spcAft>
              <a:buFont typeface="Arial" pitchFamily="34" charset="0"/>
              <a:buNone/>
            </a:pPr>
            <a:endParaRPr lang="pt-BR" altLang="en-US" sz="1500" b="1" dirty="0">
              <a:latin typeface="Courier New" pitchFamily="49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Font typeface="Arial" pitchFamily="34" charset="0"/>
              <a:buNone/>
            </a:pPr>
            <a:r>
              <a:rPr lang="pt-BR" altLang="en-US" sz="1500" b="1" dirty="0">
                <a:latin typeface="Courier New" pitchFamily="49" charset="0"/>
              </a:rPr>
              <a:t> </a:t>
            </a:r>
            <a:r>
              <a:rPr lang="pt-BR" altLang="en-US" sz="2000" b="1" dirty="0"/>
              <a:t>dimensiune subinterval         </a:t>
            </a:r>
            <a:r>
              <a:rPr lang="pt-BR" altLang="en-US" sz="2000" b="1" dirty="0">
                <a:solidFill>
                  <a:srgbClr val="CC0099"/>
                </a:solidFill>
              </a:rPr>
              <a:t>(P+1)</a:t>
            </a:r>
            <a:r>
              <a:rPr lang="pt-BR" altLang="en-US" sz="2000" b="1" baseline="30000" dirty="0">
                <a:solidFill>
                  <a:srgbClr val="CC0099"/>
                </a:solidFill>
              </a:rPr>
              <a:t>g-1</a:t>
            </a:r>
            <a:r>
              <a:rPr lang="pt-BR" altLang="en-US" sz="2000" b="1" dirty="0">
                <a:solidFill>
                  <a:srgbClr val="CC0099"/>
                </a:solidFill>
              </a:rPr>
              <a:t>-1</a:t>
            </a:r>
            <a:endParaRPr lang="en-US" altLang="en-US" sz="2000" dirty="0">
              <a:solidFill>
                <a:srgbClr val="CC0099"/>
              </a:solidFill>
            </a:endParaRPr>
          </a:p>
        </p:txBody>
      </p:sp>
      <p:sp>
        <p:nvSpPr>
          <p:cNvPr id="95236" name="Line 4"/>
          <p:cNvSpPr>
            <a:spLocks noChangeShapeType="1"/>
          </p:cNvSpPr>
          <p:nvPr/>
        </p:nvSpPr>
        <p:spPr bwMode="auto">
          <a:xfrm flipH="1">
            <a:off x="2057400" y="2209800"/>
            <a:ext cx="609600" cy="1143000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 typeface="Arial" charset="0"/>
              <a:buNone/>
              <a:defRPr/>
            </a:pPr>
            <a:endParaRPr lang="en-GB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5237" name="AutoShape 5"/>
          <p:cNvSpPr>
            <a:spLocks/>
          </p:cNvSpPr>
          <p:nvPr/>
        </p:nvSpPr>
        <p:spPr bwMode="auto">
          <a:xfrm rot="5400000">
            <a:off x="1943100" y="1549400"/>
            <a:ext cx="304800" cy="3581400"/>
          </a:xfrm>
          <a:prstGeom prst="leftBrace">
            <a:avLst>
              <a:gd name="adj1" fmla="val 97917"/>
              <a:gd name="adj2" fmla="val 50000"/>
            </a:avLst>
          </a:prstGeom>
          <a:noFill/>
          <a:ln w="28575">
            <a:solidFill>
              <a:srgbClr val="CC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GB" altLang="en-US" sz="1800">
              <a:cs typeface="Arial" pitchFamily="34" charset="0"/>
            </a:endParaRPr>
          </a:p>
        </p:txBody>
      </p:sp>
      <p:sp>
        <p:nvSpPr>
          <p:cNvPr id="95239" name="AutoShape 7"/>
          <p:cNvSpPr>
            <a:spLocks/>
          </p:cNvSpPr>
          <p:nvPr/>
        </p:nvSpPr>
        <p:spPr bwMode="auto">
          <a:xfrm rot="-5400000">
            <a:off x="4292724" y="3085976"/>
            <a:ext cx="304800" cy="1117848"/>
          </a:xfrm>
          <a:prstGeom prst="leftBrace">
            <a:avLst>
              <a:gd name="adj1" fmla="val 22917"/>
              <a:gd name="adj2" fmla="val 59657"/>
            </a:avLst>
          </a:prstGeom>
          <a:noFill/>
          <a:ln w="28575">
            <a:solidFill>
              <a:srgbClr val="CC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GB" altLang="en-US" sz="1800">
              <a:cs typeface="Arial" pitchFamily="34" charset="0"/>
            </a:endParaRPr>
          </a:p>
        </p:txBody>
      </p:sp>
      <p:sp>
        <p:nvSpPr>
          <p:cNvPr id="95240" name="Line 8"/>
          <p:cNvSpPr>
            <a:spLocks noChangeShapeType="1"/>
          </p:cNvSpPr>
          <p:nvPr/>
        </p:nvSpPr>
        <p:spPr bwMode="auto">
          <a:xfrm flipH="1">
            <a:off x="4559300" y="3822700"/>
            <a:ext cx="0" cy="1295400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 typeface="Arial" charset="0"/>
              <a:buNone/>
              <a:defRPr/>
            </a:pPr>
            <a:endParaRPr lang="en-GB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 animBg="1"/>
      <p:bldP spid="9523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0" y="260648"/>
            <a:ext cx="9144000" cy="151216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2457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1371600" y="6553200"/>
            <a:ext cx="7162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eaLnBrk="1" hangingPunct="1">
              <a:buFont typeface="Arial" pitchFamily="34" charset="0"/>
              <a:buNone/>
            </a:pPr>
            <a:endParaRPr lang="en-US" altLang="en-US" sz="100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BC413C68-8414-4FDE-BE7F-ECEF428CCB29}" type="slidenum">
              <a:rPr lang="en-US" altLang="en-US" sz="900">
                <a:solidFill>
                  <a:srgbClr val="FFFFFF"/>
                </a:solidFill>
              </a:rPr>
              <a:pPr eaLnBrk="1" hangingPunct="1"/>
              <a:t>92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04800"/>
            <a:ext cx="8839200" cy="62484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2000" b="1" dirty="0"/>
              <a:t>    while (q&lt;=r and k=0){</a:t>
            </a: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2000" b="1" dirty="0"/>
              <a:t>        j[i] = (q-1) + i*(P+1)</a:t>
            </a:r>
            <a:r>
              <a:rPr lang="pt-BR" altLang="en-US" sz="2000" b="1" baseline="30000" dirty="0"/>
              <a:t>g-1</a:t>
            </a:r>
            <a:endParaRPr lang="pt-BR" altLang="en-US" sz="2000" b="1" dirty="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2000" b="1" dirty="0">
                <a:solidFill>
                  <a:schemeClr val="accent2"/>
                </a:solidFill>
              </a:rPr>
              <a:t>/* Pi compara x cu s[j[i]] si determina partea de secv acceptata */</a:t>
            </a: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2000" b="1" dirty="0"/>
              <a:t>        </a:t>
            </a:r>
            <a:r>
              <a:rPr lang="en-US" altLang="en-US" sz="2000" b="1" dirty="0">
                <a:solidFill>
                  <a:srgbClr val="FF0000"/>
                </a:solidFill>
              </a:rPr>
              <a:t>if</a:t>
            </a:r>
            <a:r>
              <a:rPr lang="en-US" altLang="en-US" sz="2000" b="1" dirty="0"/>
              <a:t> (j[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] &lt;= r)                               </a:t>
            </a:r>
            <a:r>
              <a:rPr lang="en-US" altLang="en-US" sz="2000" b="1" dirty="0">
                <a:solidFill>
                  <a:srgbClr val="0000FF"/>
                </a:solidFill>
              </a:rPr>
              <a:t>/* </a:t>
            </a:r>
            <a:r>
              <a:rPr lang="en-US" altLang="en-US" sz="2000" b="1" dirty="0" err="1">
                <a:solidFill>
                  <a:srgbClr val="0000FF"/>
                </a:solidFill>
              </a:rPr>
              <a:t>pozitie</a:t>
            </a:r>
            <a:r>
              <a:rPr lang="en-US" altLang="en-US" sz="2000" b="1" dirty="0">
                <a:solidFill>
                  <a:srgbClr val="0000FF"/>
                </a:solidFill>
              </a:rPr>
              <a:t> in interior sir */</a:t>
            </a:r>
            <a:r>
              <a:rPr lang="en-US" altLang="en-US" sz="2000" dirty="0"/>
              <a:t> </a:t>
            </a:r>
            <a:endParaRPr lang="en-US" altLang="en-US" sz="2000" b="1" dirty="0"/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en-US" sz="2000" b="1" dirty="0"/>
              <a:t>            if (s[j[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]] == x){ k = j[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];	       </a:t>
            </a:r>
            <a:r>
              <a:rPr lang="en-US" altLang="en-US" sz="2000" b="1" dirty="0">
                <a:solidFill>
                  <a:schemeClr val="accent2"/>
                </a:solidFill>
              </a:rPr>
              <a:t>/*</a:t>
            </a:r>
            <a:r>
              <a:rPr lang="en-US" altLang="en-US" sz="2000" b="1" dirty="0" err="1">
                <a:solidFill>
                  <a:schemeClr val="accent2"/>
                </a:solidFill>
              </a:rPr>
              <a:t>pozitie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b="1" dirty="0" err="1">
                <a:solidFill>
                  <a:schemeClr val="accent2"/>
                </a:solidFill>
              </a:rPr>
              <a:t>gasita</a:t>
            </a:r>
            <a:r>
              <a:rPr lang="en-US" altLang="en-US" sz="2000" b="1" dirty="0">
                <a:solidFill>
                  <a:schemeClr val="accent2"/>
                </a:solidFill>
              </a:rPr>
              <a:t>*/</a:t>
            </a: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en-US" sz="2000" b="1" dirty="0"/>
              <a:t>            else if (s[j[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]] &gt; x) c[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] = stg;</a:t>
            </a: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en-US" sz="2000" b="1" dirty="0"/>
              <a:t>            else c[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] = </a:t>
            </a:r>
            <a:r>
              <a:rPr lang="en-US" altLang="en-US" sz="2000" b="1" dirty="0" err="1"/>
              <a:t>dr</a:t>
            </a:r>
            <a:r>
              <a:rPr lang="en-US" altLang="en-US" sz="2000" b="1" dirty="0"/>
              <a:t>;</a:t>
            </a: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2000" b="1" dirty="0"/>
              <a:t>        else {j[i] = r+1;			</a:t>
            </a:r>
            <a:r>
              <a:rPr lang="pt-BR" altLang="en-US" sz="2000" b="1" dirty="0">
                <a:solidFill>
                  <a:srgbClr val="0000FF"/>
                </a:solidFill>
              </a:rPr>
              <a:t>/*j[i] indica o pozitie afara din sir*/</a:t>
            </a: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2000" b="1" dirty="0"/>
              <a:t>                c[i] = stg;}</a:t>
            </a:r>
          </a:p>
          <a:p>
            <a:pPr>
              <a:spcBef>
                <a:spcPct val="0"/>
              </a:spcBef>
              <a:spcAft>
                <a:spcPts val="1800"/>
              </a:spcAft>
              <a:buFont typeface="Arial" pitchFamily="34" charset="0"/>
              <a:buNone/>
            </a:pPr>
            <a:endParaRPr lang="pt-BR" altLang="en-US" sz="1400" b="1" dirty="0">
              <a:latin typeface="Courier New" pitchFamily="49" charset="0"/>
            </a:endParaRP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endParaRPr lang="pt-BR" altLang="en-US" sz="1400" b="1" dirty="0">
              <a:latin typeface="Courier New" pitchFamily="49" charset="0"/>
            </a:endParaRP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1400" b="1" dirty="0">
                <a:latin typeface="Courier New" pitchFamily="49" charset="0"/>
              </a:rPr>
              <a:t>		 P1        P2                                </a:t>
            </a:r>
            <a:r>
              <a:rPr lang="pt-BR" altLang="en-US" sz="1400" b="1" dirty="0">
                <a:solidFill>
                  <a:srgbClr val="CC0099"/>
                </a:solidFill>
                <a:latin typeface="Courier New" pitchFamily="49" charset="0"/>
              </a:rPr>
              <a:t>Pi</a:t>
            </a:r>
            <a:r>
              <a:rPr lang="pt-BR" altLang="en-US" sz="1400" b="1" dirty="0">
                <a:latin typeface="Courier New" pitchFamily="49" charset="0"/>
              </a:rPr>
              <a:t>	</a:t>
            </a:r>
            <a:r>
              <a:rPr lang="pt-BR" altLang="en-US" sz="1400" b="1" dirty="0">
                <a:latin typeface="Tahoma" pitchFamily="34" charset="0"/>
              </a:rPr>
              <a:t> </a:t>
            </a:r>
            <a:endParaRPr lang="pt-BR" altLang="en-US" sz="1400" dirty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1400" b="1" dirty="0">
                <a:latin typeface="Courier New" pitchFamily="49" charset="0"/>
              </a:rPr>
              <a:t>+---------------------------------------------------+</a:t>
            </a: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1400" b="1" dirty="0">
                <a:latin typeface="Courier New" pitchFamily="49" charset="0"/>
              </a:rPr>
              <a:t>| | | | |</a:t>
            </a:r>
            <a:r>
              <a:rPr lang="pt-BR" altLang="en-US" sz="1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400" b="1" dirty="0">
                <a:latin typeface="Courier New" pitchFamily="49" charset="0"/>
              </a:rPr>
              <a:t>| | | | |</a:t>
            </a:r>
            <a:r>
              <a:rPr lang="pt-BR" altLang="en-US" sz="1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400" b="1" dirty="0">
                <a:latin typeface="Courier New" pitchFamily="49" charset="0"/>
              </a:rPr>
              <a:t>| | | | | |</a:t>
            </a:r>
            <a:r>
              <a:rPr lang="pt-BR" altLang="en-US" sz="1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400" b="1" dirty="0">
                <a:latin typeface="Courier New" pitchFamily="49" charset="0"/>
              </a:rPr>
              <a:t>| | | | |</a:t>
            </a:r>
            <a:r>
              <a:rPr lang="pt-BR" altLang="en-US" sz="1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█</a:t>
            </a:r>
            <a:r>
              <a:rPr lang="pt-BR" altLang="en-US" sz="1400" b="1" dirty="0">
                <a:latin typeface="Courier New" pitchFamily="49" charset="0"/>
              </a:rPr>
              <a:t>| | | | | | S </a:t>
            </a: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1400" b="1" dirty="0">
                <a:latin typeface="Courier New" pitchFamily="49" charset="0"/>
              </a:rPr>
              <a:t>+---------------------------------------------------+</a:t>
            </a:r>
          </a:p>
          <a:p>
            <a:pPr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en-US" sz="1400" b="1" dirty="0"/>
              <a:t> </a:t>
            </a:r>
            <a:r>
              <a:rPr lang="en-US" altLang="en-US" sz="1800" b="1" dirty="0"/>
              <a:t> </a:t>
            </a:r>
            <a:r>
              <a:rPr lang="en-US" altLang="en-US" sz="1800" b="1" dirty="0">
                <a:solidFill>
                  <a:srgbClr val="CC0099"/>
                </a:solidFill>
              </a:rPr>
              <a:t>q</a:t>
            </a:r>
            <a:r>
              <a:rPr lang="en-US" altLang="en-US" sz="1800" b="1" dirty="0"/>
              <a:t>																  </a:t>
            </a:r>
            <a:r>
              <a:rPr lang="en-US" altLang="en-US" sz="1800" b="1" dirty="0">
                <a:solidFill>
                  <a:srgbClr val="CC0099"/>
                </a:solidFill>
              </a:rPr>
              <a:t>r        </a:t>
            </a:r>
            <a:r>
              <a:rPr lang="en-US" altLang="en-US" sz="1800" b="1" dirty="0" err="1">
                <a:solidFill>
                  <a:srgbClr val="CC0099"/>
                </a:solidFill>
              </a:rPr>
              <a:t>j</a:t>
            </a:r>
            <a:r>
              <a:rPr lang="en-US" altLang="en-US" sz="1800" b="1" baseline="-25000" dirty="0" err="1">
                <a:solidFill>
                  <a:srgbClr val="CC0099"/>
                </a:solidFill>
              </a:rPr>
              <a:t>i</a:t>
            </a:r>
            <a:endParaRPr lang="en-US" altLang="en-US" sz="1800" b="1" baseline="-25000" dirty="0">
              <a:solidFill>
                <a:srgbClr val="CC0099"/>
              </a:solidFill>
            </a:endParaRPr>
          </a:p>
        </p:txBody>
      </p:sp>
      <p:sp>
        <p:nvSpPr>
          <p:cNvPr id="86020" name="Line 4"/>
          <p:cNvSpPr>
            <a:spLocks noChangeShapeType="1"/>
          </p:cNvSpPr>
          <p:nvPr/>
        </p:nvSpPr>
        <p:spPr bwMode="auto">
          <a:xfrm>
            <a:off x="6400800" y="3429000"/>
            <a:ext cx="0" cy="1905000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 typeface="Arial" charset="0"/>
              <a:buNone/>
              <a:defRPr/>
            </a:pPr>
            <a:endParaRPr lang="en-GB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94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60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60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60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60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60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260648"/>
            <a:ext cx="9144000" cy="151216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2560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1371600" y="6553200"/>
            <a:ext cx="7162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eaLnBrk="1" hangingPunct="1">
              <a:buFont typeface="Arial" pitchFamily="34" charset="0"/>
              <a:buNone/>
            </a:pPr>
            <a:endParaRPr lang="en-US" altLang="en-US" sz="100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652E87D-5E02-4F6F-BD70-C21EC78EFB47}" type="slidenum">
              <a:rPr lang="en-US" altLang="en-US" sz="900">
                <a:solidFill>
                  <a:srgbClr val="FFFFFF"/>
                </a:solidFill>
              </a:rPr>
              <a:pPr eaLnBrk="1" hangingPunct="1"/>
              <a:t>93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04800"/>
            <a:ext cx="8839200" cy="6248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2000" b="1" dirty="0">
                <a:solidFill>
                  <a:schemeClr val="accent2"/>
                </a:solidFill>
              </a:rPr>
              <a:t>/* calculeaza indicii subsecventei urmatoare */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2000" b="1" dirty="0">
                <a:solidFill>
                  <a:schemeClr val="accent2"/>
                </a:solidFill>
              </a:rPr>
              <a:t>/* doar un proces poate face modificarea intervalului de cautare */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2000" b="1" dirty="0"/>
              <a:t>           </a:t>
            </a:r>
            <a:r>
              <a:rPr lang="en-US" altLang="en-US" sz="2000" b="1" dirty="0"/>
              <a:t>if (c[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] &lt;&gt; c[i-1]){	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en-US" sz="2000" b="1" dirty="0"/>
              <a:t>                        r = j[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] – 1;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en-US" sz="2000" b="1" dirty="0"/>
              <a:t>                  if (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&gt;1) q = j[i-1] + 1;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en-US" sz="2000" b="1" dirty="0"/>
              <a:t>           }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en-US" sz="2000" b="1" dirty="0">
                <a:solidFill>
                  <a:srgbClr val="0000FF"/>
                </a:solidFill>
              </a:rPr>
              <a:t>/* </a:t>
            </a:r>
            <a:r>
              <a:rPr lang="en-US" altLang="en-US" sz="2000" b="1" dirty="0" err="1">
                <a:solidFill>
                  <a:srgbClr val="0000FF"/>
                </a:solidFill>
              </a:rPr>
              <a:t>doar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</a:rPr>
              <a:t>procesul</a:t>
            </a:r>
            <a:r>
              <a:rPr lang="en-US" altLang="en-US" sz="2000" b="1" dirty="0">
                <a:solidFill>
                  <a:srgbClr val="0000FF"/>
                </a:solidFill>
              </a:rPr>
              <a:t> P </a:t>
            </a:r>
            <a:r>
              <a:rPr lang="en-US" altLang="en-US" sz="2000" b="1" dirty="0" err="1">
                <a:solidFill>
                  <a:srgbClr val="0000FF"/>
                </a:solidFill>
              </a:rPr>
              <a:t>executa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</a:rPr>
              <a:t>operatia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</a:rPr>
              <a:t>urmatoare</a:t>
            </a:r>
            <a:r>
              <a:rPr lang="en-US" altLang="en-US" sz="2000" b="1" dirty="0">
                <a:solidFill>
                  <a:srgbClr val="0000FF"/>
                </a:solidFill>
              </a:rPr>
              <a:t>*/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en-US" sz="2000" b="1" dirty="0"/>
              <a:t>           if (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==P and c[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]&lt;&gt;c[i+1]) q = j[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]</a:t>
            </a:r>
            <a:r>
              <a:rPr lang="en-US" altLang="en-US" sz="2000" b="1" baseline="-25000" dirty="0"/>
              <a:t> </a:t>
            </a:r>
            <a:r>
              <a:rPr lang="en-US" altLang="en-US" sz="2000" b="1" dirty="0"/>
              <a:t>+1;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2000" b="1" dirty="0"/>
              <a:t>           g := g-1;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2000" b="1" dirty="0"/>
              <a:t>    }		</a:t>
            </a:r>
            <a:r>
              <a:rPr lang="pt-BR" altLang="en-US" sz="2000" b="1" dirty="0">
                <a:solidFill>
                  <a:srgbClr val="0000FF"/>
                </a:solidFill>
              </a:rPr>
              <a:t>/*end while*/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pt-BR" altLang="en-US" sz="2000" b="1" dirty="0"/>
              <a:t>}           </a:t>
            </a:r>
            <a:r>
              <a:rPr lang="pt-BR" altLang="en-US" sz="2000" b="1" dirty="0">
                <a:solidFill>
                  <a:srgbClr val="0000FF"/>
                </a:solidFill>
              </a:rPr>
              <a:t>/*end process*/</a:t>
            </a:r>
            <a:endParaRPr lang="pt-B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2008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6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Observaţii</a:t>
            </a:r>
            <a:r>
              <a:rPr lang="en-US" sz="28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47675" y="1468288"/>
                <a:ext cx="8382000" cy="3456979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ro-RO" sz="2000" dirty="0"/>
                  <a:t>C</a:t>
                </a:r>
                <a:r>
                  <a:rPr lang="pt-BR" sz="2000" dirty="0"/>
                  <a:t>omplexitatea</a:t>
                </a:r>
                <a:endParaRPr lang="pt-BR" sz="1600" dirty="0"/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pt-BR" sz="2000" dirty="0"/>
                  <a:t>		</a:t>
                </a:r>
                <a14:m>
                  <m:oMath xmlns:m="http://schemas.openxmlformats.org/officeDocument/2006/math">
                    <m:r>
                      <a:rPr lang="ro-RO" sz="2000" b="0" i="1" smtClean="0">
                        <a:latin typeface="Cambria Math"/>
                      </a:rPr>
                      <m:t>𝑡</m:t>
                    </m:r>
                    <m:d>
                      <m:dPr>
                        <m:ctrlPr>
                          <a:rPr lang="ro-RO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000" b="0" i="0" smtClean="0">
                            <a:latin typeface="Cambria Math"/>
                          </a:rPr>
                          <m:t>n</m:t>
                        </m:r>
                      </m:e>
                    </m:d>
                    <m:r>
                      <a:rPr lang="ro-RO" sz="2000" b="0" i="0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ro-RO" sz="2000" b="0" i="0" smtClean="0"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ro-RO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o-RO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ro-RO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000" b="0" i="0" smtClean="0">
                                    <a:latin typeface="Cambria Math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𝑃</m:t>
                                </m:r>
                                <m:r>
                                  <a:rPr lang="ro-RO" sz="2000" b="0" i="1" smtClean="0">
                                    <a:latin typeface="Cambria Math"/>
                                  </a:rPr>
                                  <m:t>+1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ro-RO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0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ro-RO" sz="2000" b="0" i="1" smtClean="0">
                                    <a:latin typeface="Cambria Math"/>
                                  </a:rPr>
                                  <m:t>+1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ro-RO" sz="2000" b="0" i="0" smtClean="0">
                        <a:latin typeface="Cambria Math"/>
                      </a:rPr>
                      <m:t>→</m:t>
                    </m:r>
                  </m:oMath>
                </a14:m>
                <a:r>
                  <a:rPr lang="ro-RO" sz="2000" dirty="0"/>
                  <a:t> algoritmul este </a:t>
                </a:r>
                <a:r>
                  <a:rPr lang="ro-RO" sz="2000" i="1" dirty="0"/>
                  <a:t>timp </a:t>
                </a:r>
                <a:r>
                  <a:rPr lang="pt-BR" sz="2000" dirty="0"/>
                  <a:t>optimal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000" dirty="0" err="1"/>
                  <a:t>Costul</a:t>
                </a:r>
                <a:r>
                  <a:rPr lang="pt-BR" sz="2000" dirty="0"/>
                  <a:t> 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pt-BR" sz="2000" dirty="0"/>
                  <a:t>		</a:t>
                </a:r>
                <a14:m>
                  <m:oMath xmlns:m="http://schemas.openxmlformats.org/officeDocument/2006/math">
                    <m:r>
                      <a:rPr lang="ro-RO" sz="2000" b="0" i="1" smtClean="0">
                        <a:latin typeface="Cambria Math"/>
                      </a:rPr>
                      <m:t>𝑂</m:t>
                    </m:r>
                    <m:r>
                      <a:rPr lang="ro-RO" sz="2000" b="0" i="1" smtClean="0">
                        <a:latin typeface="Cambria Math"/>
                      </a:rPr>
                      <m:t>(</m:t>
                    </m:r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r>
                      <a:rPr lang="ro-RO" sz="2000" b="0" i="1" smtClean="0">
                        <a:latin typeface="Cambria Math"/>
                      </a:rPr>
                      <m:t> </m:t>
                    </m:r>
                    <m:func>
                      <m:funcPr>
                        <m:ctrlPr>
                          <a:rPr lang="ro-RO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o-RO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000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𝑃</m:t>
                            </m:r>
                            <m:r>
                              <a:rPr lang="ro-RO" sz="2000" b="0" i="1" smtClean="0"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fName>
                      <m:e>
                        <m:r>
                          <a:rPr lang="ro-RO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𝑛</m:t>
                        </m:r>
                        <m:r>
                          <a:rPr lang="ro-RO" sz="2000" b="0" i="1" smtClean="0">
                            <a:latin typeface="Cambria Math"/>
                          </a:rPr>
                          <m:t>+1))</m:t>
                        </m:r>
                      </m:e>
                    </m:func>
                    <m:r>
                      <a:rPr lang="ro-RO" sz="2000" b="0" i="1" smtClean="0">
                        <a:latin typeface="Cambria Math"/>
                      </a:rPr>
                      <m:t> →</m:t>
                    </m:r>
                  </m:oMath>
                </a14:m>
                <a:r>
                  <a:rPr lang="ro-RO" sz="2000" dirty="0"/>
                  <a:t> algoritmul nu este </a:t>
                </a:r>
                <a:r>
                  <a:rPr lang="ro-RO" sz="2000" i="1" dirty="0"/>
                  <a:t>cost</a:t>
                </a:r>
                <a:r>
                  <a:rPr lang="ro-RO" sz="2000" dirty="0"/>
                  <a:t> optimal</a:t>
                </a:r>
                <a:r>
                  <a:rPr lang="pt-BR" sz="2000" dirty="0"/>
                  <a:t> </a:t>
                </a:r>
              </a:p>
              <a:p>
                <a:pPr>
                  <a:lnSpc>
                    <a:spcPct val="90000"/>
                  </a:lnSpc>
                </a:pPr>
                <a:endParaRPr lang="pt-BR" sz="2000" dirty="0"/>
              </a:p>
              <a:p>
                <a:pPr>
                  <a:lnSpc>
                    <a:spcPct val="90000"/>
                  </a:lnSpc>
                </a:pPr>
                <a:r>
                  <a:rPr lang="pt-BR" sz="2000" dirty="0"/>
                  <a:t>Not</a:t>
                </a:r>
                <a:r>
                  <a:rPr lang="ro-RO" sz="2000" dirty="0"/>
                  <a:t>ă</a:t>
                </a:r>
                <a:r>
                  <a:rPr lang="pt-BR" sz="2000" dirty="0"/>
                  <a:t>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pt-BR" sz="2000" dirty="0"/>
                  <a:t>cerinţa este ca toate elementele secvenţei S să fie distincte</a:t>
                </a:r>
              </a:p>
              <a:p>
                <a:pPr lvl="1">
                  <a:lnSpc>
                    <a:spcPct val="90000"/>
                  </a:lnSpc>
                </a:pPr>
                <a:endParaRPr lang="pt-BR" sz="2000" dirty="0"/>
              </a:p>
              <a:p>
                <a:pPr>
                  <a:lnSpc>
                    <a:spcPct val="90000"/>
                  </a:lnSpc>
                </a:pPr>
                <a:r>
                  <a:rPr lang="ro-RO" sz="2000" dirty="0"/>
                  <a:t>Î</a:t>
                </a:r>
                <a:r>
                  <a:rPr lang="pt-BR" sz="2000" dirty="0"/>
                  <a:t>n cazul</a:t>
                </a:r>
                <a:r>
                  <a:rPr lang="ro-RO" sz="2000" dirty="0"/>
                  <a:t> </a:t>
                </a:r>
                <a:r>
                  <a:rPr lang="pt-BR" sz="2000" dirty="0"/>
                  <a:t>în care</a:t>
                </a:r>
                <a:r>
                  <a:rPr lang="ro-RO" sz="2000" dirty="0"/>
                  <a:t> șirul conține valori egale</a:t>
                </a:r>
                <a:endParaRPr lang="pt-BR" sz="2000" dirty="0"/>
              </a:p>
              <a:p>
                <a:pPr lvl="1">
                  <a:lnSpc>
                    <a:spcPct val="90000"/>
                  </a:lnSpc>
                </a:pPr>
                <a:r>
                  <a:rPr lang="pt-BR" sz="2000" dirty="0"/>
                  <a:t>Menţinerea eficienţei algoritmului </a:t>
                </a:r>
                <a14:m>
                  <m:oMath xmlns:m="http://schemas.openxmlformats.org/officeDocument/2006/math">
                    <m:r>
                      <a:rPr lang="pt-BR" sz="2000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pt-BR" sz="2000" dirty="0"/>
                  <a:t> model CRCW. </a:t>
                </a:r>
                <a:endParaRPr lang="en-US" sz="2000" dirty="0"/>
              </a:p>
            </p:txBody>
          </p:sp>
        </mc:Choice>
        <mc:Fallback xmlns="">
          <p:sp>
            <p:nvSpPr>
              <p:cNvPr id="17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47675" y="1468288"/>
                <a:ext cx="8382000" cy="3456979"/>
              </a:xfrm>
              <a:blipFill>
                <a:blip r:embed="rId3"/>
                <a:stretch>
                  <a:fillRect l="-1664" t="-2198" b="-16850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52170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1371600" y="6553200"/>
            <a:ext cx="7162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eaLnBrk="1" hangingPunct="1">
              <a:buFont typeface="Arial" pitchFamily="34" charset="0"/>
              <a:buNone/>
            </a:pPr>
            <a:endParaRPr lang="en-US" altLang="en-US" sz="100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57BB71C-672C-4C99-8353-B72129CB308C}" type="slidenum">
              <a:rPr lang="en-US" altLang="en-US" sz="900">
                <a:solidFill>
                  <a:srgbClr val="FFFFFF"/>
                </a:solidFill>
              </a:rPr>
              <a:pPr eaLnBrk="1" hangingPunct="1"/>
              <a:t>95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 sz="3600" b="1" dirty="0"/>
              <a:t>Proprietati (dorite) ale algoritmilor paraleli</a:t>
            </a:r>
            <a:r>
              <a:rPr lang="en-US" altLang="en-US" sz="3600" dirty="0"/>
              <a:t> 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844824"/>
            <a:ext cx="8353425" cy="4420344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pt-BR" altLang="en-US" sz="2000" b="1" dirty="0">
                <a:solidFill>
                  <a:schemeClr val="accent2"/>
                </a:solidFill>
              </a:rPr>
              <a:t>Număr de procesoare</a:t>
            </a:r>
          </a:p>
          <a:p>
            <a:pPr>
              <a:buFont typeface="Arial" pitchFamily="34" charset="0"/>
              <a:buNone/>
            </a:pPr>
            <a:r>
              <a:rPr lang="pt-BR" altLang="en-US" sz="2000" b="1" dirty="0"/>
              <a:t>- p(n) &lt; n 		- uzual p(n) este funcţie sublineară de n</a:t>
            </a:r>
            <a:endParaRPr lang="fr-FR" altLang="en-US" sz="2000" b="1" dirty="0"/>
          </a:p>
          <a:p>
            <a:pPr>
              <a:buFont typeface="Arial" pitchFamily="34" charset="0"/>
              <a:buNone/>
            </a:pPr>
            <a:r>
              <a:rPr lang="fr-FR" altLang="en-US" sz="2000" b="1" dirty="0"/>
              <a:t>- p(n) </a:t>
            </a:r>
            <a:r>
              <a:rPr lang="fr-FR" altLang="en-US" sz="2000" b="1" dirty="0" err="1"/>
              <a:t>adaptiv</a:t>
            </a:r>
            <a:r>
              <a:rPr lang="fr-FR" altLang="en-US" sz="2000" b="1" dirty="0"/>
              <a:t> 		- </a:t>
            </a:r>
            <a:r>
              <a:rPr lang="fr-FR" altLang="en-US" sz="2000" b="1" dirty="0" err="1"/>
              <a:t>algoritmul</a:t>
            </a:r>
            <a:r>
              <a:rPr lang="fr-FR" altLang="en-US" sz="2000" b="1" dirty="0"/>
              <a:t> sa nu </a:t>
            </a:r>
            <a:r>
              <a:rPr lang="fr-FR" altLang="en-US" sz="2000" b="1" dirty="0" err="1"/>
              <a:t>depindă</a:t>
            </a:r>
            <a:r>
              <a:rPr lang="fr-FR" altLang="en-US" sz="2000" b="1" dirty="0"/>
              <a:t> de un </a:t>
            </a:r>
            <a:r>
              <a:rPr lang="fr-FR" altLang="en-US" sz="2000" b="1" dirty="0" err="1"/>
              <a:t>număr</a:t>
            </a:r>
            <a:r>
              <a:rPr lang="fr-FR" altLang="en-US" sz="2000" b="1" dirty="0"/>
              <a:t> </a:t>
            </a:r>
            <a:r>
              <a:rPr lang="ro-RO" altLang="en-US" sz="2000" b="1" dirty="0"/>
              <a:t>			</a:t>
            </a:r>
            <a:r>
              <a:rPr lang="en-US" altLang="en-US" sz="2000" b="1" dirty="0"/>
              <a:t>	</a:t>
            </a:r>
            <a:r>
              <a:rPr lang="fr-FR" altLang="en-US" sz="2000" b="1" dirty="0" err="1"/>
              <a:t>fix</a:t>
            </a:r>
            <a:r>
              <a:rPr lang="fr-FR" altLang="en-US" sz="2000" b="1" dirty="0"/>
              <a:t> de </a:t>
            </a:r>
            <a:r>
              <a:rPr lang="pt-BR" altLang="en-US" sz="2000" b="1" dirty="0"/>
              <a:t>procesoare</a:t>
            </a:r>
          </a:p>
          <a:p>
            <a:pPr>
              <a:buFont typeface="Arial" pitchFamily="34" charset="0"/>
              <a:buNone/>
            </a:pPr>
            <a:r>
              <a:rPr lang="pt-BR" altLang="en-US" sz="2000" b="1" dirty="0">
                <a:solidFill>
                  <a:schemeClr val="accent2"/>
                </a:solidFill>
              </a:rPr>
              <a:t>Timp de execuţie</a:t>
            </a:r>
          </a:p>
          <a:p>
            <a:pPr>
              <a:buFont typeface="Arial" pitchFamily="34" charset="0"/>
              <a:buNone/>
            </a:pPr>
            <a:r>
              <a:rPr lang="pt-BR" altLang="en-US" sz="2000" b="1" dirty="0"/>
              <a:t>- t(n) mic </a:t>
            </a:r>
            <a:r>
              <a:rPr lang="ro-RO" altLang="en-US" sz="2000" b="1" dirty="0"/>
              <a:t>		</a:t>
            </a:r>
            <a:r>
              <a:rPr lang="pt-BR" altLang="en-US" sz="2000" b="1" dirty="0"/>
              <a:t>- semnificativ mai </a:t>
            </a:r>
            <a:r>
              <a:rPr lang="pt-BR" altLang="en-US" sz="2000" b="1" dirty="0" err="1"/>
              <a:t>mic</a:t>
            </a:r>
            <a:r>
              <a:rPr lang="pt-BR" altLang="en-US" sz="2000" b="1" dirty="0"/>
              <a:t> </a:t>
            </a:r>
            <a:r>
              <a:rPr lang="pt-BR" altLang="en-US" sz="2000" b="1" dirty="0" err="1"/>
              <a:t>decat</a:t>
            </a:r>
            <a:r>
              <a:rPr lang="pt-BR" altLang="en-US" sz="2000" b="1" dirty="0"/>
              <a:t> al variantei </a:t>
            </a:r>
            <a:r>
              <a:rPr lang="ro-RO" altLang="en-US" sz="2000" b="1" dirty="0"/>
              <a:t>				</a:t>
            </a:r>
            <a:r>
              <a:rPr lang="pt-BR" altLang="en-US" sz="2000" b="1" dirty="0"/>
              <a:t>secvenţiale</a:t>
            </a:r>
            <a:endParaRPr lang="fr-FR" altLang="en-US" sz="2000" b="1" dirty="0"/>
          </a:p>
          <a:p>
            <a:pPr>
              <a:buFont typeface="Arial" pitchFamily="34" charset="0"/>
              <a:buNone/>
            </a:pPr>
            <a:r>
              <a:rPr lang="fr-FR" altLang="en-US" sz="2000" b="1" dirty="0"/>
              <a:t>- t(n) </a:t>
            </a:r>
            <a:r>
              <a:rPr lang="fr-FR" altLang="en-US" sz="2000" b="1" dirty="0" err="1"/>
              <a:t>adaptiv</a:t>
            </a:r>
            <a:r>
              <a:rPr lang="fr-FR" altLang="en-US" sz="2000" b="1" dirty="0"/>
              <a:t> </a:t>
            </a:r>
            <a:r>
              <a:rPr lang="ro-RO" altLang="en-US" sz="2000" b="1" dirty="0"/>
              <a:t>	</a:t>
            </a:r>
            <a:r>
              <a:rPr lang="en-US" altLang="en-US" sz="2000" b="1" dirty="0"/>
              <a:t>	</a:t>
            </a:r>
            <a:r>
              <a:rPr lang="fr-FR" altLang="en-US" sz="2000" b="1" dirty="0"/>
              <a:t>- </a:t>
            </a:r>
            <a:r>
              <a:rPr lang="fr-FR" altLang="en-US" sz="2000" b="1" dirty="0" err="1"/>
              <a:t>invers</a:t>
            </a:r>
            <a:r>
              <a:rPr lang="fr-FR" altLang="en-US" sz="2000" b="1" dirty="0"/>
              <a:t> </a:t>
            </a:r>
            <a:r>
              <a:rPr lang="fr-FR" altLang="en-US" sz="2000" b="1" dirty="0" err="1"/>
              <a:t>proportional</a:t>
            </a:r>
            <a:r>
              <a:rPr lang="fr-FR" altLang="en-US" sz="2000" b="1" dirty="0"/>
              <a:t> </a:t>
            </a:r>
            <a:r>
              <a:rPr lang="fr-FR" altLang="en-US" sz="2000" b="1" dirty="0" err="1"/>
              <a:t>cu</a:t>
            </a:r>
            <a:r>
              <a:rPr lang="fr-FR" altLang="en-US" sz="2000" b="1" dirty="0"/>
              <a:t> p(n)</a:t>
            </a:r>
            <a:endParaRPr lang="ro-RO" altLang="en-US" sz="2000" b="1" dirty="0"/>
          </a:p>
          <a:p>
            <a:pPr>
              <a:buFont typeface="Arial" pitchFamily="34" charset="0"/>
              <a:buNone/>
            </a:pPr>
            <a:endParaRPr lang="fr-FR" altLang="en-US" sz="2000" b="1" dirty="0"/>
          </a:p>
          <a:p>
            <a:pPr>
              <a:buFont typeface="Arial" pitchFamily="34" charset="0"/>
              <a:buNone/>
            </a:pPr>
            <a:r>
              <a:rPr lang="fr-FR" altLang="en-US" sz="2000" b="1" dirty="0" err="1">
                <a:solidFill>
                  <a:schemeClr val="accent2"/>
                </a:solidFill>
              </a:rPr>
              <a:t>Cost</a:t>
            </a:r>
            <a:endParaRPr lang="fr-FR" altLang="en-US" sz="2000" b="1" dirty="0">
              <a:solidFill>
                <a:schemeClr val="accent2"/>
              </a:solidFill>
            </a:endParaRPr>
          </a:p>
          <a:p>
            <a:pPr>
              <a:buFont typeface="Arial" pitchFamily="34" charset="0"/>
              <a:buNone/>
            </a:pPr>
            <a:r>
              <a:rPr lang="fr-FR" altLang="en-US" sz="2000" b="1" dirty="0"/>
              <a:t>- c(n) sa fie </a:t>
            </a:r>
            <a:r>
              <a:rPr lang="fr-FR" altLang="en-US" sz="2000" b="1" dirty="0" err="1"/>
              <a:t>minim</a:t>
            </a:r>
            <a:r>
              <a:rPr lang="fr-FR" altLang="en-US" sz="2000" b="1" dirty="0"/>
              <a:t>, </a:t>
            </a:r>
            <a:r>
              <a:rPr lang="fr-FR" altLang="en-US" sz="2000" b="1" dirty="0" err="1"/>
              <a:t>deci</a:t>
            </a:r>
            <a:r>
              <a:rPr lang="fr-FR" altLang="en-US" sz="2000" b="1" dirty="0"/>
              <a:t> </a:t>
            </a:r>
            <a:r>
              <a:rPr lang="fr-FR" altLang="en-US" sz="2000" b="1" dirty="0" err="1"/>
              <a:t>algoritmul</a:t>
            </a:r>
            <a:r>
              <a:rPr lang="fr-FR" altLang="en-US" sz="2000" b="1" dirty="0"/>
              <a:t> sa fie </a:t>
            </a:r>
            <a:r>
              <a:rPr lang="fr-FR" altLang="en-US" sz="2000" b="1" dirty="0" err="1"/>
              <a:t>cost</a:t>
            </a:r>
            <a:r>
              <a:rPr lang="fr-FR" altLang="en-US" sz="2000" b="1" dirty="0"/>
              <a:t>-optimal</a:t>
            </a: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3270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43508" y="1404825"/>
                <a:ext cx="8856984" cy="48320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latin typeface="+mj-lt"/>
                  </a:rPr>
                  <a:t>Costul </a:t>
                </a:r>
                <a:r>
                  <a:rPr lang="en-US" sz="1400" dirty="0" err="1">
                    <a:latin typeface="+mj-lt"/>
                  </a:rPr>
                  <a:t>unui</a:t>
                </a:r>
                <a:r>
                  <a:rPr lang="en-US" sz="1400" dirty="0">
                    <a:latin typeface="+mj-lt"/>
                  </a:rPr>
                  <a:t> </a:t>
                </a:r>
                <a:r>
                  <a:rPr lang="en-US" sz="1400" dirty="0" err="1">
                    <a:latin typeface="+mj-lt"/>
                  </a:rPr>
                  <a:t>algoritm</a:t>
                </a:r>
                <a:r>
                  <a:rPr lang="en-US" sz="1400" dirty="0">
                    <a:latin typeface="+mj-lt"/>
                  </a:rPr>
                  <a:t> se define</a:t>
                </a:r>
                <a:r>
                  <a:rPr lang="ro-RO" sz="1400" dirty="0">
                    <a:latin typeface="+mj-lt"/>
                  </a:rPr>
                  <a:t>ște ca </a:t>
                </a:r>
                <a:r>
                  <a:rPr lang="ro-RO" sz="1400" dirty="0">
                    <a:solidFill>
                      <a:srgbClr val="FF0000"/>
                    </a:solidFill>
                    <a:latin typeface="+mj-lt"/>
                  </a:rPr>
                  <a:t>produsul dintre numărul de procesoare folosite și timpul de rulare</a:t>
                </a:r>
                <a:r>
                  <a:rPr lang="en-US" sz="1400" dirty="0">
                    <a:latin typeface="+mj-lt"/>
                  </a:rPr>
                  <a:t>. </a:t>
                </a:r>
                <a:endParaRPr lang="ro-RO" sz="1400" dirty="0">
                  <a:latin typeface="+mj-lt"/>
                </a:endParaRPr>
              </a:p>
              <a:p>
                <a:r>
                  <a:rPr lang="ro-RO" sz="1400" dirty="0">
                    <a:latin typeface="+mj-lt"/>
                  </a:rPr>
                  <a:t>Pe o mașină secvențială, P=1, deci costul algoritmul este timpul (asimptotic) de execuție</a:t>
                </a:r>
                <a:r>
                  <a:rPr lang="en-US" sz="1400" dirty="0">
                    <a:latin typeface="+mj-lt"/>
                  </a:rPr>
                  <a:t>.  </a:t>
                </a:r>
                <a:endParaRPr lang="ro-RO" sz="1400" dirty="0">
                  <a:latin typeface="+mj-lt"/>
                </a:endParaRPr>
              </a:p>
              <a:p>
                <a:endParaRPr lang="ro-RO" sz="1400" dirty="0">
                  <a:latin typeface="+mj-lt"/>
                </a:endParaRPr>
              </a:p>
              <a:p>
                <a:r>
                  <a:rPr lang="ro-RO" sz="1400" dirty="0">
                    <a:latin typeface="+mj-lt"/>
                  </a:rPr>
                  <a:t>Un algoritm paralel </a:t>
                </a:r>
                <a:r>
                  <a:rPr lang="en-US" sz="1400" dirty="0">
                    <a:solidFill>
                      <a:srgbClr val="FF0000"/>
                    </a:solidFill>
                    <a:latin typeface="+mj-lt"/>
                  </a:rPr>
                  <a:t>cost optimal</a:t>
                </a:r>
                <a:r>
                  <a:rPr lang="en-US" sz="1400" dirty="0">
                    <a:latin typeface="+mj-lt"/>
                  </a:rPr>
                  <a:t> </a:t>
                </a:r>
                <a:r>
                  <a:rPr lang="ro-RO" sz="1400" dirty="0">
                    <a:latin typeface="+mj-lt"/>
                  </a:rPr>
                  <a:t>este unul pentru care costul este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400" i="1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θ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1400" dirty="0">
                    <a:latin typeface="+mj-lt"/>
                  </a:rPr>
                  <a:t>(</a:t>
                </a:r>
                <a:r>
                  <a:rPr lang="ro-RO" sz="1400" dirty="0">
                    <a:latin typeface="+mj-lt"/>
                  </a:rPr>
                  <a:t>timpul de execuție secvențial</a:t>
                </a:r>
                <a:r>
                  <a:rPr lang="en-US" sz="1400" dirty="0">
                    <a:latin typeface="+mj-lt"/>
                  </a:rPr>
                  <a:t>). </a:t>
                </a:r>
                <a:endParaRPr lang="ro-RO" sz="1400" dirty="0">
                  <a:latin typeface="+mj-lt"/>
                </a:endParaRPr>
              </a:p>
              <a:p>
                <a:r>
                  <a:rPr lang="ro-RO" sz="1400" dirty="0">
                    <a:latin typeface="+mj-lt"/>
                  </a:rPr>
                  <a:t>Dacă un algoritm paralel nu este cost optimal, el poate fi făcut cost optimal fie reducând timpul asimptotic de execuție, fie reducând numărul de procesoare.</a:t>
                </a:r>
                <a:endParaRPr lang="en-US" sz="1400" dirty="0">
                  <a:latin typeface="+mj-lt"/>
                </a:endParaRPr>
              </a:p>
              <a:p>
                <a:r>
                  <a:rPr lang="en-US" sz="1400" dirty="0">
                    <a:latin typeface="+mj-lt"/>
                  </a:rPr>
                  <a:t> </a:t>
                </a:r>
              </a:p>
              <a:p>
                <a:r>
                  <a:rPr lang="ro-RO" sz="1400" dirty="0">
                    <a:latin typeface="+mj-lt"/>
                  </a:rPr>
                  <a:t>Fie timpul de execuție al</a:t>
                </a:r>
                <a:r>
                  <a:rPr lang="en-US" sz="1400" dirty="0">
                    <a:latin typeface="+mj-lt"/>
                  </a:rPr>
                  <a:t> </a:t>
                </a:r>
                <a:r>
                  <a:rPr lang="ro-RO" sz="1400" dirty="0">
                    <a:latin typeface="+mj-lt"/>
                  </a:rPr>
                  <a:t>algoritmului secvențial pentru efectuarea unor task-uri de dimensiune n, </a:t>
                </a:r>
                <a14:m>
                  <m:oMath xmlns:m="http://schemas.openxmlformats.org/officeDocument/2006/math">
                    <m:r>
                      <a:rPr lang="ro-RO" sz="1400" i="1" smtClean="0">
                        <a:latin typeface="Cambria Math"/>
                        <a:ea typeface="Cambria Math"/>
                      </a:rPr>
                      <m:t>𝜃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1400" dirty="0">
                    <a:latin typeface="+mj-lt"/>
                  </a:rPr>
                  <a:t>, </a:t>
                </a:r>
                <a:r>
                  <a:rPr lang="ro-RO" sz="1400" dirty="0">
                    <a:latin typeface="+mj-lt"/>
                  </a:rPr>
                  <a:t>și timpul de execuție a versiunii paralele a acelui algoritm</a:t>
                </a:r>
                <a:r>
                  <a:rPr lang="en-US" sz="14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𝜃</m:t>
                    </m:r>
                    <m:d>
                      <m:dPr>
                        <m:ctrlPr>
                          <a:rPr lang="en-US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o-RO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o-RO" sz="1400" b="0" i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lg</m:t>
                            </m:r>
                          </m:fName>
                          <m:e>
                            <m:r>
                              <a:rPr lang="ro-RO" sz="1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ro-RO" sz="1400" dirty="0">
                    <a:latin typeface="+mj-lt"/>
                  </a:rPr>
                  <a:t>, acesta folosind </a:t>
                </a:r>
                <a:r>
                  <a:rPr lang="en-US" sz="1400" dirty="0">
                    <a:latin typeface="+mj-lt"/>
                  </a:rPr>
                  <a:t>n </a:t>
                </a:r>
                <a:r>
                  <a:rPr lang="ro-RO" sz="1400" dirty="0">
                    <a:latin typeface="+mj-lt"/>
                  </a:rPr>
                  <a:t>procesoare, fiecare păstrând un element de </a:t>
                </a:r>
                <a:r>
                  <a:rPr lang="en-US" sz="1400" dirty="0" err="1">
                    <a:latin typeface="+mj-lt"/>
                  </a:rPr>
                  <a:t>dat</a:t>
                </a:r>
                <a:r>
                  <a:rPr lang="ro-RO" sz="1400" dirty="0">
                    <a:latin typeface="+mj-lt"/>
                  </a:rPr>
                  <a:t>e</a:t>
                </a:r>
                <a:r>
                  <a:rPr lang="en-US" sz="1400" dirty="0">
                    <a:latin typeface="+mj-lt"/>
                  </a:rPr>
                  <a:t>. </a:t>
                </a:r>
                <a:r>
                  <a:rPr lang="ro-RO" sz="1400" dirty="0">
                    <a:latin typeface="+mj-lt"/>
                  </a:rPr>
                  <a:t>Costul este așadar</a:t>
                </a:r>
                <a:r>
                  <a:rPr lang="en-US" sz="1400" dirty="0">
                    <a:latin typeface="+mj-lt"/>
                  </a:rPr>
                  <a:t>:</a:t>
                </a:r>
              </a:p>
              <a:p>
                <a:r>
                  <a:rPr lang="en-US" sz="1400" dirty="0">
                    <a:latin typeface="+mj-lt"/>
                  </a:rPr>
                  <a:t> </a:t>
                </a:r>
              </a:p>
              <a:p>
                <a:r>
                  <a:rPr lang="en-US" sz="1400" dirty="0">
                    <a:latin typeface="+mj-lt"/>
                  </a:rPr>
                  <a:t>            </a:t>
                </a:r>
                <a14:m>
                  <m:oMath xmlns:m="http://schemas.openxmlformats.org/officeDocument/2006/math">
                    <m:r>
                      <a:rPr lang="ro-RO" sz="1400" b="0" i="1" smtClean="0">
                        <a:latin typeface="Cambria Math"/>
                      </a:rPr>
                      <m:t>𝑐𝑜𝑠𝑡</m:t>
                    </m:r>
                    <m:r>
                      <a:rPr lang="ro-RO" sz="1400" b="0" i="1" smtClean="0">
                        <a:latin typeface="Cambria Math"/>
                      </a:rPr>
                      <m:t>=</m:t>
                    </m:r>
                    <m:r>
                      <a:rPr lang="ro-RO" sz="1400" b="0" i="1" smtClean="0">
                        <a:latin typeface="Cambria Math"/>
                      </a:rPr>
                      <m:t>𝑛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𝜃</m:t>
                    </m:r>
                    <m:d>
                      <m:dPr>
                        <m:ctrlPr>
                          <a:rPr lang="ro-RO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o-RO" sz="1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o-RO" sz="1400" b="0" i="0" smtClean="0">
                                <a:latin typeface="Cambria Math"/>
                                <a:ea typeface="Cambria Math"/>
                              </a:rPr>
                              <m:t>lg</m:t>
                            </m:r>
                          </m:fName>
                          <m:e>
                            <m:r>
                              <a:rPr lang="ro-RO" sz="14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ro-RO" sz="1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𝜃</m:t>
                    </m:r>
                    <m:d>
                      <m:dPr>
                        <m:ctrlPr>
                          <a:rPr lang="ro-RO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sz="1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  <m:func>
                          <m:funcPr>
                            <m:ctrlPr>
                              <a:rPr lang="ro-RO" sz="1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o-RO" sz="1400" b="0" i="0" smtClean="0">
                                <a:latin typeface="Cambria Math"/>
                                <a:ea typeface="Cambria Math"/>
                              </a:rPr>
                              <m:t>lg</m:t>
                            </m:r>
                          </m:fName>
                          <m:e>
                            <m:r>
                              <a:rPr lang="ro-RO" sz="14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ro-RO" sz="1400" dirty="0">
                  <a:latin typeface="+mj-lt"/>
                </a:endParaRPr>
              </a:p>
              <a:p>
                <a:r>
                  <a:rPr lang="en-US" sz="1400" dirty="0">
                    <a:latin typeface="+mj-lt"/>
                  </a:rPr>
                  <a:t> </a:t>
                </a:r>
              </a:p>
              <a:p>
                <a:r>
                  <a:rPr lang="ro-RO" sz="1400" dirty="0">
                    <a:latin typeface="+mj-lt"/>
                  </a:rPr>
                  <a:t>Costul acesta nu este </a:t>
                </a:r>
                <a:r>
                  <a:rPr lang="en-US" sz="1400" dirty="0">
                    <a:latin typeface="+mj-lt"/>
                  </a:rPr>
                  <a:t>optimal. </a:t>
                </a:r>
                <a:r>
                  <a:rPr lang="ro-RO" sz="1400" dirty="0">
                    <a:latin typeface="+mj-lt"/>
                  </a:rPr>
                  <a:t>Pentru a obține un algoritm de cost optimal, putem fie reduce timpul de execuție la</a:t>
                </a:r>
                <a:r>
                  <a:rPr lang="en-US" sz="14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𝜃</m:t>
                    </m:r>
                    <m:r>
                      <a:rPr lang="ro-RO" sz="1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(1)</m:t>
                    </m:r>
                  </m:oMath>
                </a14:m>
                <a:r>
                  <a:rPr lang="ro-RO" sz="1400" dirty="0">
                    <a:latin typeface="+mj-lt"/>
                  </a:rPr>
                  <a:t>,</a:t>
                </a:r>
                <a:r>
                  <a:rPr lang="en-US" sz="1400" dirty="0">
                    <a:latin typeface="+mj-lt"/>
                  </a:rPr>
                  <a:t> </a:t>
                </a:r>
                <a:r>
                  <a:rPr lang="ro-RO" sz="1400" dirty="0">
                    <a:latin typeface="+mj-lt"/>
                  </a:rPr>
                  <a:t>fie reduce numărul de procesoare </a:t>
                </a:r>
                <a:r>
                  <a:rPr lang="en-US" sz="1400" dirty="0">
                    <a:latin typeface="+mj-lt"/>
                  </a:rPr>
                  <a:t>(</a:t>
                </a:r>
                <a:r>
                  <a:rPr lang="ro-RO" sz="1400" dirty="0">
                    <a:latin typeface="+mj-lt"/>
                  </a:rPr>
                  <a:t>la</a:t>
                </a:r>
                <a:r>
                  <a:rPr lang="en-US" sz="1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ro-RO" sz="1400" b="0" i="1" smtClean="0">
                        <a:latin typeface="Cambria Math"/>
                      </a:rPr>
                      <m:t>𝑛</m:t>
                    </m:r>
                    <m:r>
                      <a:rPr lang="ro-RO" sz="1400" b="0" i="1" smtClean="0">
                        <a:latin typeface="Cambria Math"/>
                      </a:rPr>
                      <m:t>/</m:t>
                    </m:r>
                    <m:func>
                      <m:funcPr>
                        <m:ctrlPr>
                          <a:rPr lang="ro-RO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1400" b="0" i="0" smtClean="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ro-RO" sz="1400" b="0" i="1" smtClean="0"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ro-RO" sz="1400" dirty="0">
                    <a:latin typeface="+mj-lt"/>
                  </a:rPr>
                  <a:t>, astfel încât produsul </a:t>
                </a:r>
                <a14:m>
                  <m:oMath xmlns:m="http://schemas.openxmlformats.org/officeDocument/2006/math">
                    <m:r>
                      <a:rPr lang="ro-RO" sz="1400" i="1">
                        <a:latin typeface="Cambria Math"/>
                      </a:rPr>
                      <m:t>𝑛</m:t>
                    </m:r>
                    <m:r>
                      <a:rPr lang="ro-RO" sz="1400" i="1">
                        <a:latin typeface="Cambria Math"/>
                      </a:rPr>
                      <m:t>/</m:t>
                    </m:r>
                    <m:func>
                      <m:funcPr>
                        <m:ctrlPr>
                          <a:rPr lang="ro-RO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140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ro-RO" sz="1400" i="1"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400" dirty="0">
                    <a:latin typeface="+mj-lt"/>
                  </a:rPr>
                  <a:t> </a:t>
                </a:r>
                <a:r>
                  <a:rPr lang="ro-RO" sz="1400" dirty="0">
                    <a:latin typeface="+mj-lt"/>
                  </a:rPr>
                  <a:t>cu</a:t>
                </a:r>
                <a:r>
                  <a:rPr lang="en-US" sz="1400" dirty="0">
                    <a:latin typeface="+mj-lt"/>
                  </a:rPr>
                  <a:t> </a:t>
                </a:r>
                <a:r>
                  <a:rPr lang="en-US" sz="14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𝜃</m:t>
                    </m:r>
                    <m:d>
                      <m:dPr>
                        <m:ctrlPr>
                          <a:rPr lang="en-US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o-RO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o-RO" sz="1400" b="0" i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lg</m:t>
                            </m:r>
                          </m:fName>
                          <m:e>
                            <m:r>
                              <a:rPr lang="ro-RO" sz="1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1400" dirty="0">
                    <a:latin typeface="+mj-lt"/>
                  </a:rPr>
                  <a:t> </a:t>
                </a:r>
                <a:r>
                  <a:rPr lang="ro-RO" sz="1400" dirty="0">
                    <a:latin typeface="+mj-lt"/>
                  </a:rPr>
                  <a:t>să dea</a:t>
                </a:r>
                <a:r>
                  <a:rPr lang="en-US" sz="14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𝜃</m:t>
                    </m:r>
                    <m:r>
                      <a:rPr lang="ro-RO" sz="1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ro-RO" sz="1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𝑛</m:t>
                    </m:r>
                    <m:r>
                      <a:rPr lang="ro-RO" sz="1400" b="0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1400" dirty="0">
                    <a:latin typeface="+mj-lt"/>
                  </a:rPr>
                  <a:t>).</a:t>
                </a:r>
              </a:p>
              <a:p>
                <a:r>
                  <a:rPr lang="en-US" sz="1400" dirty="0">
                    <a:latin typeface="+mj-lt"/>
                  </a:rPr>
                  <a:t> </a:t>
                </a:r>
              </a:p>
              <a:p>
                <a:r>
                  <a:rPr lang="ro-RO" sz="1400" dirty="0">
                    <a:latin typeface="+mj-lt"/>
                  </a:rPr>
                  <a:t>Să presupunem acum că fiecare procesor deține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o-RO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1400" b="0" i="0" smtClean="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ro-RO" sz="1400" b="0" i="1" smtClean="0"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400" dirty="0">
                    <a:latin typeface="+mj-lt"/>
                  </a:rPr>
                  <a:t> </a:t>
                </a:r>
                <a:r>
                  <a:rPr lang="ro-RO" sz="1400" dirty="0">
                    <a:latin typeface="+mj-lt"/>
                  </a:rPr>
                  <a:t>date</a:t>
                </a:r>
                <a:r>
                  <a:rPr lang="en-US" sz="1400" dirty="0">
                    <a:latin typeface="+mj-lt"/>
                  </a:rPr>
                  <a:t>. </a:t>
                </a:r>
                <a:r>
                  <a:rPr lang="ro-RO" sz="1400" dirty="0">
                    <a:latin typeface="+mj-lt"/>
                  </a:rPr>
                  <a:t>Dacă procesul secvențial este liniar cu numărul de elemente, atunci fiecare dintre cele </a:t>
                </a:r>
                <a14:m>
                  <m:oMath xmlns:m="http://schemas.openxmlformats.org/officeDocument/2006/math">
                    <m:r>
                      <a:rPr lang="ro-RO" sz="1400" i="1">
                        <a:latin typeface="Cambria Math"/>
                      </a:rPr>
                      <m:t>𝑛</m:t>
                    </m:r>
                    <m:r>
                      <a:rPr lang="ro-RO" sz="1400" i="1">
                        <a:latin typeface="Cambria Math"/>
                      </a:rPr>
                      <m:t>/</m:t>
                    </m:r>
                    <m:func>
                      <m:funcPr>
                        <m:ctrlPr>
                          <a:rPr lang="ro-RO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140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ro-RO" sz="1400" i="1"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400" dirty="0">
                    <a:latin typeface="+mj-lt"/>
                  </a:rPr>
                  <a:t> </a:t>
                </a:r>
                <a:r>
                  <a:rPr lang="ro-RO" sz="1400" dirty="0">
                    <a:latin typeface="+mj-lt"/>
                  </a:rPr>
                  <a:t>procesoare va procesa în paralel cele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o-RO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140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ro-RO" sz="1400" i="1"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400" dirty="0">
                    <a:latin typeface="+mj-lt"/>
                  </a:rPr>
                  <a:t> </a:t>
                </a:r>
                <a:r>
                  <a:rPr lang="ro-RO" sz="1400" dirty="0">
                    <a:latin typeface="+mj-lt"/>
                  </a:rPr>
                  <a:t>date locale într-un timp de</a:t>
                </a:r>
                <a:r>
                  <a:rPr lang="en-US" sz="1400" dirty="0">
                    <a:latin typeface="+mj-lt"/>
                  </a:rPr>
                  <a:t> </a:t>
                </a:r>
                <a:r>
                  <a:rPr lang="en-US" sz="14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𝜃</m:t>
                    </m:r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o-RO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o-RO" sz="140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lg</m:t>
                            </m:r>
                          </m:fName>
                          <m:e>
                            <m:r>
                              <a:rPr lang="ro-RO" sz="14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1400" dirty="0">
                    <a:latin typeface="+mj-lt"/>
                  </a:rPr>
                  <a:t>. </a:t>
                </a:r>
                <a:r>
                  <a:rPr lang="ro-RO" sz="1400" dirty="0">
                    <a:latin typeface="+mj-lt"/>
                  </a:rPr>
                  <a:t>Cele </a:t>
                </a:r>
                <a14:m>
                  <m:oMath xmlns:m="http://schemas.openxmlformats.org/officeDocument/2006/math">
                    <m:r>
                      <a:rPr lang="ro-RO" sz="1400" i="1">
                        <a:latin typeface="Cambria Math"/>
                      </a:rPr>
                      <m:t>𝑛</m:t>
                    </m:r>
                    <m:r>
                      <a:rPr lang="ro-RO" sz="1400" i="1">
                        <a:latin typeface="Cambria Math"/>
                      </a:rPr>
                      <m:t>/</m:t>
                    </m:r>
                    <m:func>
                      <m:funcPr>
                        <m:ctrlPr>
                          <a:rPr lang="ro-RO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140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ro-RO" sz="1400" i="1"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400" dirty="0">
                    <a:latin typeface="+mj-lt"/>
                  </a:rPr>
                  <a:t> </a:t>
                </a:r>
                <a:r>
                  <a:rPr lang="ro-RO" sz="1400" dirty="0">
                    <a:latin typeface="+mj-lt"/>
                  </a:rPr>
                  <a:t>procesoare vor efectua algoritmul (</a:t>
                </a:r>
                <a:r>
                  <a:rPr lang="en-US" sz="1400" dirty="0">
                    <a:latin typeface="+mj-lt"/>
                  </a:rPr>
                  <a:t>non-cost optimal) </a:t>
                </a:r>
                <a:r>
                  <a:rPr lang="ro-RO" sz="1400" dirty="0">
                    <a:latin typeface="+mj-lt"/>
                  </a:rPr>
                  <a:t>anterior asupra celor </a:t>
                </a:r>
                <a14:m>
                  <m:oMath xmlns:m="http://schemas.openxmlformats.org/officeDocument/2006/math">
                    <m:r>
                      <a:rPr lang="ro-RO" sz="1400" i="1">
                        <a:latin typeface="Cambria Math"/>
                      </a:rPr>
                      <m:t>𝑛</m:t>
                    </m:r>
                    <m:r>
                      <a:rPr lang="ro-RO" sz="1400" i="1">
                        <a:latin typeface="Cambria Math"/>
                      </a:rPr>
                      <m:t>/</m:t>
                    </m:r>
                    <m:func>
                      <m:funcPr>
                        <m:ctrlPr>
                          <a:rPr lang="ro-RO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140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ro-RO" sz="1400" i="1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ro-RO" sz="1400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1400" dirty="0">
                    <a:latin typeface="+mj-lt"/>
                  </a:rPr>
                  <a:t>rezultate din pasul secvențial î</a:t>
                </a:r>
                <a:r>
                  <a:rPr lang="en-US" sz="1400" dirty="0">
                    <a:latin typeface="+mj-lt"/>
                  </a:rPr>
                  <a:t>n</a:t>
                </a:r>
                <a:r>
                  <a:rPr lang="ro-RO" sz="1400" dirty="0">
                    <a:latin typeface="+mj-lt"/>
                  </a:rPr>
                  <a:t>tr-un timp de</a:t>
                </a:r>
                <a:r>
                  <a:rPr lang="en-US" sz="1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ro-RO" sz="1400" b="0" i="1" smtClean="0">
                        <a:latin typeface="Cambria Math"/>
                      </a:rPr>
                      <m:t>𝑙𝑔</m:t>
                    </m:r>
                    <m:d>
                      <m:dPr>
                        <m:ctrlPr>
                          <a:rPr lang="ro-RO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400" b="0" i="1" smtClean="0">
                            <a:latin typeface="Cambria Math"/>
                          </a:rPr>
                          <m:t>𝑛</m:t>
                        </m:r>
                        <m:r>
                          <a:rPr lang="ro-RO" sz="1400" b="0" i="1" smtClean="0">
                            <a:latin typeface="Cambria Math"/>
                          </a:rPr>
                          <m:t>/</m:t>
                        </m:r>
                        <m:func>
                          <m:funcPr>
                            <m:ctrlPr>
                              <a:rPr lang="ro-RO" sz="1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o-RO" sz="1400" b="0" i="0" smtClean="0">
                                <a:latin typeface="Cambria Math"/>
                              </a:rPr>
                              <m:t>lg</m:t>
                            </m:r>
                          </m:fName>
                          <m:e>
                            <m:r>
                              <a:rPr lang="ro-RO" sz="1400" b="0" i="1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ro-RO" sz="1400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ro-RO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1400" b="0" i="0" smtClean="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ro-RO" sz="1400" b="0" i="1" smtClean="0">
                            <a:latin typeface="Cambria Math"/>
                          </a:rPr>
                          <m:t>𝑛</m:t>
                        </m:r>
                        <m:r>
                          <a:rPr lang="ro-RO" sz="1400" b="0" i="1" smtClean="0">
                            <a:latin typeface="Cambria Math"/>
                          </a:rPr>
                          <m:t>−</m:t>
                        </m:r>
                        <m:r>
                          <a:rPr lang="ro-RO" sz="1400" b="0" i="1" smtClean="0">
                            <a:latin typeface="Cambria Math"/>
                          </a:rPr>
                          <m:t>𝑙𝑔</m:t>
                        </m:r>
                        <m:d>
                          <m:dPr>
                            <m:ctrlPr>
                              <a:rPr lang="ro-RO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ro-RO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ro-RO" sz="1400" b="0" i="0" smtClean="0">
                                    <a:latin typeface="Cambria Math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ro-RO" sz="1400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  <m:r>
                          <a:rPr lang="ro-RO" sz="1400" b="0" i="1" smtClean="0">
                            <a:latin typeface="Cambria Math"/>
                          </a:rPr>
                          <m:t>=</m:t>
                        </m:r>
                        <m:r>
                          <a:rPr lang="ro-RO" sz="1400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  <m:r>
                          <a:rPr lang="ro-RO" sz="1400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func>
                          <m:funcPr>
                            <m:ctrlPr>
                              <a:rPr lang="ro-RO" sz="1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o-RO" sz="1400" b="0" i="0" smtClean="0">
                                <a:latin typeface="Cambria Math"/>
                                <a:ea typeface="Cambria Math"/>
                              </a:rPr>
                              <m:t>lg</m:t>
                            </m:r>
                          </m:fName>
                          <m:e>
                            <m:r>
                              <a:rPr lang="ro-RO" sz="1400" b="0" i="1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a:rPr lang="ro-RO" sz="14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  <m:r>
                              <a:rPr lang="ro-RO" sz="1400" b="0" i="1" smtClean="0">
                                <a:latin typeface="Cambria Math"/>
                                <a:ea typeface="Cambria Math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1400" dirty="0">
                    <a:latin typeface="+mj-lt"/>
                  </a:rPr>
                  <a:t>. </a:t>
                </a:r>
                <a:r>
                  <a:rPr lang="ro-RO" sz="1400" dirty="0">
                    <a:latin typeface="+mj-lt"/>
                  </a:rPr>
                  <a:t>Costul fiecărui pas este </a:t>
                </a:r>
                <a:r>
                  <a:rPr lang="en-US" sz="1400" dirty="0">
                    <a:solidFill>
                      <a:srgbClr val="000000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𝜃</m:t>
                    </m:r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o-RO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o-RO" sz="140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lg</m:t>
                            </m:r>
                          </m:fName>
                          <m:e>
                            <m:r>
                              <a:rPr lang="ro-RO" sz="14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1400" dirty="0">
                    <a:latin typeface="+mj-lt"/>
                  </a:rPr>
                  <a:t>, </a:t>
                </a:r>
                <a:r>
                  <a:rPr lang="ro-RO" sz="1400" dirty="0">
                    <a:latin typeface="+mj-lt"/>
                  </a:rPr>
                  <a:t>dar costul final este </a:t>
                </a:r>
                <a14:m>
                  <m:oMath xmlns:m="http://schemas.openxmlformats.org/officeDocument/2006/math">
                    <m:r>
                      <a:rPr lang="ro-RO" sz="1400" b="0" i="1" smtClean="0">
                        <a:latin typeface="Cambria Math"/>
                      </a:rPr>
                      <m:t>(</m:t>
                    </m:r>
                    <m:r>
                      <a:rPr lang="ro-RO" sz="1400" b="0" i="1" smtClean="0">
                        <a:latin typeface="Cambria Math"/>
                      </a:rPr>
                      <m:t>𝑛</m:t>
                    </m:r>
                    <m:r>
                      <a:rPr lang="ro-RO" sz="1400" b="0" i="1" smtClean="0">
                        <a:latin typeface="Cambria Math"/>
                      </a:rPr>
                      <m:t>/</m:t>
                    </m:r>
                    <m:func>
                      <m:funcPr>
                        <m:ctrlPr>
                          <a:rPr lang="ro-RO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1400" b="0" i="0" smtClean="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ro-RO" sz="1400" b="0" i="1" smtClean="0">
                            <a:latin typeface="Cambria Math"/>
                          </a:rPr>
                          <m:t>𝑛</m:t>
                        </m:r>
                        <m:r>
                          <a:rPr lang="ro-RO" sz="1400" b="0" i="1" smtClean="0">
                            <a:latin typeface="Cambria Math"/>
                          </a:rPr>
                          <m:t>)</m:t>
                        </m:r>
                        <m:r>
                          <a:rPr lang="ro-RO" sz="1400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  <m:r>
                          <a:rPr lang="ro-RO" sz="1400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func>
                          <m:funcPr>
                            <m:ctrlPr>
                              <a:rPr lang="ro-RO" sz="1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o-RO" sz="1400" b="0" i="0" smtClean="0">
                                <a:latin typeface="Cambria Math"/>
                                <a:ea typeface="Cambria Math"/>
                              </a:rPr>
                              <m:t>lg</m:t>
                            </m:r>
                          </m:fName>
                          <m:e>
                            <m:r>
                              <a:rPr lang="ro-RO" sz="14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  <m:r>
                              <a:rPr lang="ro-RO" sz="1400" b="0" i="1" smtClean="0">
                                <a:latin typeface="Cambria Math"/>
                                <a:ea typeface="Cambria Math"/>
                              </a:rPr>
                              <m:t>)=</m:t>
                            </m:r>
                            <m:r>
                              <a:rPr lang="ro-RO" sz="1400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  <m:r>
                              <a:rPr lang="ro-RO" sz="1400" b="0" i="1" smtClean="0">
                                <a:latin typeface="Cambria Math"/>
                                <a:ea typeface="Cambria Math"/>
                              </a:rPr>
                              <m:t>(</m:t>
                            </m:r>
                            <m:r>
                              <a:rPr lang="ro-RO" sz="14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  <m:r>
                              <a:rPr lang="ro-RO" sz="1400" b="0" i="1" smtClean="0">
                                <a:latin typeface="Cambria Math"/>
                                <a:ea typeface="Cambria Math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1400" dirty="0">
                    <a:latin typeface="+mj-lt"/>
                  </a:rPr>
                  <a:t>.</a:t>
                </a:r>
              </a:p>
              <a:p>
                <a:r>
                  <a:rPr lang="en-US" sz="1400" dirty="0">
                    <a:latin typeface="+mj-lt"/>
                  </a:rPr>
                  <a:t> 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08" y="1404825"/>
                <a:ext cx="8856984" cy="4832092"/>
              </a:xfrm>
              <a:prstGeom prst="rect">
                <a:avLst/>
              </a:prstGeom>
              <a:blipFill>
                <a:blip r:embed="rId2"/>
                <a:stretch>
                  <a:fillRect l="-287" t="-262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060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7282</TotalTime>
  <Words>4684</Words>
  <Application>Microsoft Macintosh PowerPoint</Application>
  <PresentationFormat>On-screen Show (4:3)</PresentationFormat>
  <Paragraphs>2053</Paragraphs>
  <Slides>96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5" baseType="lpstr">
      <vt:lpstr>Arial</vt:lpstr>
      <vt:lpstr>Calibri</vt:lpstr>
      <vt:lpstr>Cambria Math</vt:lpstr>
      <vt:lpstr>Courier New</vt:lpstr>
      <vt:lpstr>Tahoma</vt:lpstr>
      <vt:lpstr>Times</vt:lpstr>
      <vt:lpstr>Times New Roman</vt:lpstr>
      <vt:lpstr>Wingdings</vt:lpstr>
      <vt:lpstr>Standarddesign</vt:lpstr>
      <vt:lpstr>Arhitecturi Paralele Abordări probleme paralele</vt:lpstr>
      <vt:lpstr>Paralelism: modele Pipeline</vt:lpstr>
      <vt:lpstr>Pipeline</vt:lpstr>
      <vt:lpstr>Without Pipeline</vt:lpstr>
      <vt:lpstr>Without Pipeline</vt:lpstr>
      <vt:lpstr>Without Pipeline</vt:lpstr>
      <vt:lpstr>Without Pipeline</vt:lpstr>
      <vt:lpstr>Without Pipeline</vt:lpstr>
      <vt:lpstr>Without Pipeline</vt:lpstr>
      <vt:lpstr>Pipeline</vt:lpstr>
      <vt:lpstr>Pipeline</vt:lpstr>
      <vt:lpstr>Pipeline</vt:lpstr>
      <vt:lpstr>Pipeline</vt:lpstr>
      <vt:lpstr>Pipeline</vt:lpstr>
      <vt:lpstr>Pipeline</vt:lpstr>
      <vt:lpstr>Pipeline</vt:lpstr>
      <vt:lpstr>Pipeline</vt:lpstr>
      <vt:lpstr>Pipeline</vt:lpstr>
      <vt:lpstr>Pipeline</vt:lpstr>
      <vt:lpstr>Sortare...</vt:lpstr>
      <vt:lpstr>Sorting</vt:lpstr>
      <vt:lpstr>Sorting with pipeline</vt:lpstr>
      <vt:lpstr>Sorting with pipeline</vt:lpstr>
      <vt:lpstr>Sorting with pipeline</vt:lpstr>
      <vt:lpstr>Sorting with pipeline</vt:lpstr>
      <vt:lpstr>Sorting with pipeline</vt:lpstr>
      <vt:lpstr>Sorting with pipeline</vt:lpstr>
      <vt:lpstr>Sorting with pipeline</vt:lpstr>
      <vt:lpstr>Sorting with pipeline</vt:lpstr>
      <vt:lpstr>Sorting with pipeline</vt:lpstr>
      <vt:lpstr>Sorting with pipeline</vt:lpstr>
      <vt:lpstr>Sorting with pipeline</vt:lpstr>
      <vt:lpstr>Sorting with pipeline</vt:lpstr>
      <vt:lpstr>Sorting with pipeline</vt:lpstr>
      <vt:lpstr>Sorting with pipeline</vt:lpstr>
      <vt:lpstr>Sorting with pipeline</vt:lpstr>
      <vt:lpstr>Sorting with pipeline</vt:lpstr>
      <vt:lpstr>Sorting with pipeline</vt:lpstr>
      <vt:lpstr>Pașii algoritmului de sortare</vt:lpstr>
      <vt:lpstr>Faza a doua</vt:lpstr>
      <vt:lpstr>Metoda 4 faza 2</vt:lpstr>
      <vt:lpstr>Calcule polinomiale...</vt:lpstr>
      <vt:lpstr>Polynomial</vt:lpstr>
      <vt:lpstr>Pipeline</vt:lpstr>
      <vt:lpstr>Polynomial calculation + Pipeline</vt:lpstr>
      <vt:lpstr>Polynomial calculation + Pipeline</vt:lpstr>
      <vt:lpstr>Polynomial calculation + Pipeline</vt:lpstr>
      <vt:lpstr>Polynomial calculation + Pipeline</vt:lpstr>
      <vt:lpstr>Polynomial calculation + Pipeline</vt:lpstr>
      <vt:lpstr>Polynomial calculation + Pipeline</vt:lpstr>
      <vt:lpstr>Polynomial calculation + Pipeline</vt:lpstr>
      <vt:lpstr>Polynomial calculation + Pipeline</vt:lpstr>
      <vt:lpstr>Polynomial calculation + Pipeline</vt:lpstr>
      <vt:lpstr>Polynomial calculation + Pipeline</vt:lpstr>
      <vt:lpstr>Polynomial calculation + Pipeline</vt:lpstr>
      <vt:lpstr>Polynomial calculation + Pipeline</vt:lpstr>
      <vt:lpstr>Polynomial calculation + Pipeline</vt:lpstr>
      <vt:lpstr>Aplicație: problema Damelor </vt:lpstr>
      <vt:lpstr>N Queens Problem</vt:lpstr>
      <vt:lpstr>N Queens Problem</vt:lpstr>
      <vt:lpstr>N Queens Problem</vt:lpstr>
      <vt:lpstr>N Queens Problem</vt:lpstr>
      <vt:lpstr>N Queens Problem</vt:lpstr>
      <vt:lpstr>N Queens Problem - Solution</vt:lpstr>
      <vt:lpstr>N Queens Problem - Solution</vt:lpstr>
      <vt:lpstr>N Queens Problem - Solution</vt:lpstr>
      <vt:lpstr>N Queens Problem - Solution</vt:lpstr>
      <vt:lpstr>N Queens Problem – Parallel Solution</vt:lpstr>
      <vt:lpstr>N Queens Problem – Parallel Solution</vt:lpstr>
      <vt:lpstr>Cautare binara</vt:lpstr>
      <vt:lpstr>Binary Search</vt:lpstr>
      <vt:lpstr>Binary Search</vt:lpstr>
      <vt:lpstr>Binary Search</vt:lpstr>
      <vt:lpstr>Binary Search</vt:lpstr>
      <vt:lpstr>Binary Search</vt:lpstr>
      <vt:lpstr>Parallel Search</vt:lpstr>
      <vt:lpstr>Parallel Search</vt:lpstr>
      <vt:lpstr>Parallel Search</vt:lpstr>
      <vt:lpstr>Parallel Search</vt:lpstr>
      <vt:lpstr>Parallel Search</vt:lpstr>
      <vt:lpstr>Parallel Search – solutia 2 (cu mai putine threaduri)</vt:lpstr>
      <vt:lpstr>Parallel Search – solution 2 (fewer threads)</vt:lpstr>
      <vt:lpstr>Parallel Search</vt:lpstr>
      <vt:lpstr>Parallel Search</vt:lpstr>
      <vt:lpstr>Parallel Search</vt:lpstr>
      <vt:lpstr>Performanta?</vt:lpstr>
      <vt:lpstr>Justificare</vt:lpstr>
      <vt:lpstr>Exemplu 1</vt:lpstr>
      <vt:lpstr>Exemplu 2</vt:lpstr>
      <vt:lpstr>Algoritm </vt:lpstr>
      <vt:lpstr>PowerPoint Presentation</vt:lpstr>
      <vt:lpstr>PowerPoint Presentation</vt:lpstr>
      <vt:lpstr>PowerPoint Presentation</vt:lpstr>
      <vt:lpstr>Observaţii </vt:lpstr>
      <vt:lpstr>Proprietati (dorite) ale algoritmilor paraleli </vt:lpstr>
      <vt:lpstr>Reminder</vt:lpstr>
    </vt:vector>
  </TitlesOfParts>
  <Company>PresentationPoint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florinpop_roadmap_researcher_career</dc:title>
  <dc:creator>PresentationPoint</dc:creator>
  <cp:lastModifiedBy>Radu Ioan CIOBANU (1621)</cp:lastModifiedBy>
  <cp:revision>814</cp:revision>
  <cp:lastPrinted>2005-03-15T07:48:11Z</cp:lastPrinted>
  <dcterms:created xsi:type="dcterms:W3CDTF">2004-11-16T16:03:16Z</dcterms:created>
  <dcterms:modified xsi:type="dcterms:W3CDTF">2022-11-09T13:32:30Z</dcterms:modified>
</cp:coreProperties>
</file>